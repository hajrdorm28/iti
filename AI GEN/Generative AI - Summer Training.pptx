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3"/>
  </p:notesMasterIdLst>
  <p:sldIdLst>
    <p:sldId id="256" r:id="rId5"/>
    <p:sldId id="258" r:id="rId6"/>
    <p:sldId id="259" r:id="rId7"/>
    <p:sldId id="260" r:id="rId8"/>
    <p:sldId id="261" r:id="rId9"/>
    <p:sldId id="262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8" r:id="rId19"/>
    <p:sldId id="279" r:id="rId20"/>
    <p:sldId id="280" r:id="rId21"/>
    <p:sldId id="281" r:id="rId22"/>
    <p:sldId id="282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6" r:id="rId32"/>
    <p:sldId id="297" r:id="rId33"/>
    <p:sldId id="298" r:id="rId34"/>
    <p:sldId id="299" r:id="rId35"/>
    <p:sldId id="309" r:id="rId36"/>
    <p:sldId id="310" r:id="rId37"/>
    <p:sldId id="314" r:id="rId38"/>
    <p:sldId id="318" r:id="rId39"/>
    <p:sldId id="316" r:id="rId40"/>
    <p:sldId id="317" r:id="rId41"/>
    <p:sldId id="1031" r:id="rId42"/>
    <p:sldId id="1008" r:id="rId43"/>
    <p:sldId id="1036" r:id="rId44"/>
    <p:sldId id="319" r:id="rId45"/>
    <p:sldId id="320" r:id="rId46"/>
    <p:sldId id="321" r:id="rId47"/>
    <p:sldId id="322" r:id="rId48"/>
    <p:sldId id="263" r:id="rId49"/>
    <p:sldId id="264" r:id="rId50"/>
    <p:sldId id="324" r:id="rId51"/>
    <p:sldId id="326" r:id="rId52"/>
    <p:sldId id="1029" r:id="rId53"/>
    <p:sldId id="1030" r:id="rId54"/>
    <p:sldId id="1042" r:id="rId55"/>
    <p:sldId id="1037" r:id="rId56"/>
    <p:sldId id="1020" r:id="rId57"/>
    <p:sldId id="1019" r:id="rId58"/>
    <p:sldId id="1041" r:id="rId59"/>
    <p:sldId id="1045" r:id="rId60"/>
    <p:sldId id="1044" r:id="rId61"/>
    <p:sldId id="1047" r:id="rId6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F28A8F-2220-9402-C813-601C264F3D9E}" v="288" dt="2026-07-22T07:39:23.261"/>
    <p1510:client id="{9437ABD5-9CAA-D4E3-02B8-316BCF9D47EF}" v="141" dt="2026-07-21T08:01:30.60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notesMaster" Target="notesMasters/notesMaster1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A7AAE-6DF8-47D8-AC9F-FB57A6C81DAB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92787-DB9B-468F-9A6B-F4EB1203B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42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365F-5551-E80D-B1BB-3B377F66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738B9B-BD6E-9CBA-3095-D9690FE2C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8405C-4F2D-477F-13B4-766E984B1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289D8-D6AE-B79B-C39C-5EBC919D8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53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33159-D792-4EFD-9E1B-BF697320DDF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826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57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27341" y="634640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20">
                <a:moveTo>
                  <a:pt x="0" y="0"/>
                </a:moveTo>
                <a:lnTo>
                  <a:pt x="10516806" y="7124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27341" y="6346939"/>
            <a:ext cx="519430" cy="264795"/>
          </a:xfrm>
          <a:custGeom>
            <a:avLst/>
            <a:gdLst/>
            <a:ahLst/>
            <a:cxnLst/>
            <a:rect l="l" t="t" r="r" b="b"/>
            <a:pathLst>
              <a:path w="519430" h="264795">
                <a:moveTo>
                  <a:pt x="519163" y="0"/>
                </a:moveTo>
                <a:lnTo>
                  <a:pt x="0" y="0"/>
                </a:lnTo>
                <a:lnTo>
                  <a:pt x="0" y="264172"/>
                </a:lnTo>
                <a:lnTo>
                  <a:pt x="519163" y="264172"/>
                </a:lnTo>
                <a:lnTo>
                  <a:pt x="519163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7587" y="412750"/>
            <a:ext cx="10656824" cy="5378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7587" y="1169289"/>
            <a:ext cx="10431780" cy="2734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7587" y="5986842"/>
            <a:ext cx="6017259" cy="576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marianaai.com/" TargetMode="External"/><Relationship Id="rId3" Type="http://schemas.openxmlformats.org/officeDocument/2006/relationships/hyperlink" Target="https://loop-x.co/" TargetMode="External"/><Relationship Id="rId7" Type="http://schemas.openxmlformats.org/officeDocument/2006/relationships/hyperlink" Target="https://nancy-ai.com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velents.com/" TargetMode="External"/><Relationship Id="rId5" Type="http://schemas.openxmlformats.org/officeDocument/2006/relationships/hyperlink" Target="https://www.apriora.ai/" TargetMode="External"/><Relationship Id="rId4" Type="http://schemas.openxmlformats.org/officeDocument/2006/relationships/hyperlink" Target="https://gemelo.ai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docs/models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index/learning-to-reason-with-llms/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chatgpt.com/" TargetMode="External"/><Relationship Id="rId13" Type="http://schemas.openxmlformats.org/officeDocument/2006/relationships/image" Target="../media/image30.jpg"/><Relationship Id="rId3" Type="http://schemas.openxmlformats.org/officeDocument/2006/relationships/image" Target="../media/image23.jpg"/><Relationship Id="rId7" Type="http://schemas.openxmlformats.org/officeDocument/2006/relationships/image" Target="../media/image25.png"/><Relationship Id="rId12" Type="http://schemas.openxmlformats.org/officeDocument/2006/relationships/image" Target="../media/image29.jpg"/><Relationship Id="rId2" Type="http://schemas.openxmlformats.org/officeDocument/2006/relationships/hyperlink" Target="https://poe.com/" TargetMode="Externa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emini.google.com/" TargetMode="External"/><Relationship Id="rId11" Type="http://schemas.openxmlformats.org/officeDocument/2006/relationships/image" Target="../media/image28.jpg"/><Relationship Id="rId5" Type="http://schemas.openxmlformats.org/officeDocument/2006/relationships/image" Target="../media/image24.jpg"/><Relationship Id="rId15" Type="http://schemas.openxmlformats.org/officeDocument/2006/relationships/hyperlink" Target="https://claude.ai/" TargetMode="External"/><Relationship Id="rId10" Type="http://schemas.openxmlformats.org/officeDocument/2006/relationships/image" Target="../media/image27.jpg"/><Relationship Id="rId4" Type="http://schemas.openxmlformats.org/officeDocument/2006/relationships/hyperlink" Target="https://copilot.microsoft.com/" TargetMode="External"/><Relationship Id="rId9" Type="http://schemas.openxmlformats.org/officeDocument/2006/relationships/image" Target="../media/image26.jpg"/><Relationship Id="rId14" Type="http://schemas.openxmlformats.org/officeDocument/2006/relationships/image" Target="../media/image3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openai.com/en/articles/6654000-best-practices-for-prompt-engineering-with-openai-api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inspiredfrommyself.blogspot.com/2011/01/engineering-and-assignments.html" TargetMode="External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docs/api-reference/fine-tuning/create" TargetMode="External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docs/api-reference/embeddings/create" TargetMode="External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google.com/discover/what-are-ai-agents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4069332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4" h="3593465">
                <a:moveTo>
                  <a:pt x="1878670" y="0"/>
                </a:moveTo>
                <a:lnTo>
                  <a:pt x="0" y="0"/>
                </a:lnTo>
                <a:lnTo>
                  <a:pt x="0" y="3593163"/>
                </a:lnTo>
                <a:lnTo>
                  <a:pt x="48469" y="3592551"/>
                </a:lnTo>
                <a:lnTo>
                  <a:pt x="96638" y="3590727"/>
                </a:lnTo>
                <a:lnTo>
                  <a:pt x="144490" y="3587705"/>
                </a:lnTo>
                <a:lnTo>
                  <a:pt x="192012" y="3583499"/>
                </a:lnTo>
                <a:lnTo>
                  <a:pt x="239187" y="3578124"/>
                </a:lnTo>
                <a:lnTo>
                  <a:pt x="286003" y="3571596"/>
                </a:lnTo>
                <a:lnTo>
                  <a:pt x="332443" y="3563928"/>
                </a:lnTo>
                <a:lnTo>
                  <a:pt x="378493" y="3555135"/>
                </a:lnTo>
                <a:lnTo>
                  <a:pt x="424139" y="3545233"/>
                </a:lnTo>
                <a:lnTo>
                  <a:pt x="469365" y="3534236"/>
                </a:lnTo>
                <a:lnTo>
                  <a:pt x="514156" y="3522158"/>
                </a:lnTo>
                <a:lnTo>
                  <a:pt x="558499" y="3509015"/>
                </a:lnTo>
                <a:lnTo>
                  <a:pt x="602377" y="3494820"/>
                </a:lnTo>
                <a:lnTo>
                  <a:pt x="645777" y="3479590"/>
                </a:lnTo>
                <a:lnTo>
                  <a:pt x="688683" y="3463338"/>
                </a:lnTo>
                <a:lnTo>
                  <a:pt x="731081" y="3446079"/>
                </a:lnTo>
                <a:lnTo>
                  <a:pt x="772956" y="3427828"/>
                </a:lnTo>
                <a:lnTo>
                  <a:pt x="814293" y="3408600"/>
                </a:lnTo>
                <a:lnTo>
                  <a:pt x="855077" y="3388409"/>
                </a:lnTo>
                <a:lnTo>
                  <a:pt x="895294" y="3367270"/>
                </a:lnTo>
                <a:lnTo>
                  <a:pt x="934929" y="3345199"/>
                </a:lnTo>
                <a:lnTo>
                  <a:pt x="973967" y="3322208"/>
                </a:lnTo>
                <a:lnTo>
                  <a:pt x="1012393" y="3298315"/>
                </a:lnTo>
                <a:lnTo>
                  <a:pt x="1050193" y="3273532"/>
                </a:lnTo>
                <a:lnTo>
                  <a:pt x="1087351" y="3247875"/>
                </a:lnTo>
                <a:lnTo>
                  <a:pt x="1123853" y="3221358"/>
                </a:lnTo>
                <a:lnTo>
                  <a:pt x="1159684" y="3193996"/>
                </a:lnTo>
                <a:lnTo>
                  <a:pt x="1194829" y="3165805"/>
                </a:lnTo>
                <a:lnTo>
                  <a:pt x="1229274" y="3136798"/>
                </a:lnTo>
                <a:lnTo>
                  <a:pt x="1263004" y="3106990"/>
                </a:lnTo>
                <a:lnTo>
                  <a:pt x="1296004" y="3076397"/>
                </a:lnTo>
                <a:lnTo>
                  <a:pt x="1328259" y="3045032"/>
                </a:lnTo>
                <a:lnTo>
                  <a:pt x="1359754" y="3012911"/>
                </a:lnTo>
                <a:lnTo>
                  <a:pt x="1390475" y="2980048"/>
                </a:lnTo>
                <a:lnTo>
                  <a:pt x="1420406" y="2946458"/>
                </a:lnTo>
                <a:lnTo>
                  <a:pt x="1449534" y="2912156"/>
                </a:lnTo>
                <a:lnTo>
                  <a:pt x="1477843" y="2877156"/>
                </a:lnTo>
                <a:lnTo>
                  <a:pt x="1505318" y="2841474"/>
                </a:lnTo>
                <a:lnTo>
                  <a:pt x="1531945" y="2805123"/>
                </a:lnTo>
                <a:lnTo>
                  <a:pt x="1557709" y="2768119"/>
                </a:lnTo>
                <a:lnTo>
                  <a:pt x="1582595" y="2730476"/>
                </a:lnTo>
                <a:lnTo>
                  <a:pt x="1606588" y="2692209"/>
                </a:lnTo>
                <a:lnTo>
                  <a:pt x="1629674" y="2653333"/>
                </a:lnTo>
                <a:lnTo>
                  <a:pt x="1651838" y="2613862"/>
                </a:lnTo>
                <a:lnTo>
                  <a:pt x="1673064" y="2573812"/>
                </a:lnTo>
                <a:lnTo>
                  <a:pt x="1693339" y="2533197"/>
                </a:lnTo>
                <a:lnTo>
                  <a:pt x="1712647" y="2492031"/>
                </a:lnTo>
                <a:lnTo>
                  <a:pt x="1730974" y="2450329"/>
                </a:lnTo>
                <a:lnTo>
                  <a:pt x="1748305" y="2408107"/>
                </a:lnTo>
                <a:lnTo>
                  <a:pt x="1764624" y="2365379"/>
                </a:lnTo>
                <a:lnTo>
                  <a:pt x="1779918" y="2322159"/>
                </a:lnTo>
                <a:lnTo>
                  <a:pt x="1794172" y="2278462"/>
                </a:lnTo>
                <a:lnTo>
                  <a:pt x="1807370" y="2234304"/>
                </a:lnTo>
                <a:lnTo>
                  <a:pt x="1819498" y="2189698"/>
                </a:lnTo>
                <a:lnTo>
                  <a:pt x="1830541" y="2144659"/>
                </a:lnTo>
                <a:lnTo>
                  <a:pt x="1840484" y="2099203"/>
                </a:lnTo>
                <a:lnTo>
                  <a:pt x="1849314" y="2053344"/>
                </a:lnTo>
                <a:lnTo>
                  <a:pt x="1857013" y="2007096"/>
                </a:lnTo>
                <a:lnTo>
                  <a:pt x="1863569" y="1960474"/>
                </a:lnTo>
                <a:lnTo>
                  <a:pt x="1868966" y="1913494"/>
                </a:lnTo>
                <a:lnTo>
                  <a:pt x="1873189" y="1866170"/>
                </a:lnTo>
                <a:lnTo>
                  <a:pt x="1876224" y="1818515"/>
                </a:lnTo>
                <a:lnTo>
                  <a:pt x="1878056" y="1770547"/>
                </a:lnTo>
                <a:lnTo>
                  <a:pt x="1878670" y="1722278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12056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4" h="3593465">
                <a:moveTo>
                  <a:pt x="1878670" y="0"/>
                </a:moveTo>
                <a:lnTo>
                  <a:pt x="0" y="0"/>
                </a:lnTo>
                <a:lnTo>
                  <a:pt x="0" y="3593163"/>
                </a:lnTo>
                <a:lnTo>
                  <a:pt x="48469" y="3592551"/>
                </a:lnTo>
                <a:lnTo>
                  <a:pt x="96638" y="3590727"/>
                </a:lnTo>
                <a:lnTo>
                  <a:pt x="144490" y="3587705"/>
                </a:lnTo>
                <a:lnTo>
                  <a:pt x="192012" y="3583499"/>
                </a:lnTo>
                <a:lnTo>
                  <a:pt x="239187" y="3578124"/>
                </a:lnTo>
                <a:lnTo>
                  <a:pt x="286003" y="3571596"/>
                </a:lnTo>
                <a:lnTo>
                  <a:pt x="332443" y="3563928"/>
                </a:lnTo>
                <a:lnTo>
                  <a:pt x="378493" y="3555135"/>
                </a:lnTo>
                <a:lnTo>
                  <a:pt x="424139" y="3545233"/>
                </a:lnTo>
                <a:lnTo>
                  <a:pt x="469365" y="3534236"/>
                </a:lnTo>
                <a:lnTo>
                  <a:pt x="514156" y="3522158"/>
                </a:lnTo>
                <a:lnTo>
                  <a:pt x="558499" y="3509015"/>
                </a:lnTo>
                <a:lnTo>
                  <a:pt x="602377" y="3494820"/>
                </a:lnTo>
                <a:lnTo>
                  <a:pt x="645777" y="3479590"/>
                </a:lnTo>
                <a:lnTo>
                  <a:pt x="688683" y="3463338"/>
                </a:lnTo>
                <a:lnTo>
                  <a:pt x="731081" y="3446079"/>
                </a:lnTo>
                <a:lnTo>
                  <a:pt x="772956" y="3427828"/>
                </a:lnTo>
                <a:lnTo>
                  <a:pt x="814293" y="3408600"/>
                </a:lnTo>
                <a:lnTo>
                  <a:pt x="855077" y="3388409"/>
                </a:lnTo>
                <a:lnTo>
                  <a:pt x="895294" y="3367270"/>
                </a:lnTo>
                <a:lnTo>
                  <a:pt x="934929" y="3345199"/>
                </a:lnTo>
                <a:lnTo>
                  <a:pt x="973967" y="3322208"/>
                </a:lnTo>
                <a:lnTo>
                  <a:pt x="1012393" y="3298315"/>
                </a:lnTo>
                <a:lnTo>
                  <a:pt x="1050193" y="3273532"/>
                </a:lnTo>
                <a:lnTo>
                  <a:pt x="1087351" y="3247875"/>
                </a:lnTo>
                <a:lnTo>
                  <a:pt x="1123853" y="3221358"/>
                </a:lnTo>
                <a:lnTo>
                  <a:pt x="1159684" y="3193996"/>
                </a:lnTo>
                <a:lnTo>
                  <a:pt x="1194829" y="3165805"/>
                </a:lnTo>
                <a:lnTo>
                  <a:pt x="1229274" y="3136798"/>
                </a:lnTo>
                <a:lnTo>
                  <a:pt x="1263004" y="3106990"/>
                </a:lnTo>
                <a:lnTo>
                  <a:pt x="1296004" y="3076397"/>
                </a:lnTo>
                <a:lnTo>
                  <a:pt x="1328259" y="3045032"/>
                </a:lnTo>
                <a:lnTo>
                  <a:pt x="1359754" y="3012911"/>
                </a:lnTo>
                <a:lnTo>
                  <a:pt x="1390475" y="2980048"/>
                </a:lnTo>
                <a:lnTo>
                  <a:pt x="1420406" y="2946458"/>
                </a:lnTo>
                <a:lnTo>
                  <a:pt x="1449534" y="2912156"/>
                </a:lnTo>
                <a:lnTo>
                  <a:pt x="1477843" y="2877156"/>
                </a:lnTo>
                <a:lnTo>
                  <a:pt x="1505318" y="2841474"/>
                </a:lnTo>
                <a:lnTo>
                  <a:pt x="1531945" y="2805123"/>
                </a:lnTo>
                <a:lnTo>
                  <a:pt x="1557709" y="2768119"/>
                </a:lnTo>
                <a:lnTo>
                  <a:pt x="1582595" y="2730476"/>
                </a:lnTo>
                <a:lnTo>
                  <a:pt x="1606588" y="2692209"/>
                </a:lnTo>
                <a:lnTo>
                  <a:pt x="1629674" y="2653333"/>
                </a:lnTo>
                <a:lnTo>
                  <a:pt x="1651838" y="2613862"/>
                </a:lnTo>
                <a:lnTo>
                  <a:pt x="1673064" y="2573812"/>
                </a:lnTo>
                <a:lnTo>
                  <a:pt x="1693339" y="2533197"/>
                </a:lnTo>
                <a:lnTo>
                  <a:pt x="1712647" y="2492031"/>
                </a:lnTo>
                <a:lnTo>
                  <a:pt x="1730974" y="2450329"/>
                </a:lnTo>
                <a:lnTo>
                  <a:pt x="1748305" y="2408107"/>
                </a:lnTo>
                <a:lnTo>
                  <a:pt x="1764624" y="2365379"/>
                </a:lnTo>
                <a:lnTo>
                  <a:pt x="1779918" y="2322159"/>
                </a:lnTo>
                <a:lnTo>
                  <a:pt x="1794172" y="2278462"/>
                </a:lnTo>
                <a:lnTo>
                  <a:pt x="1807370" y="2234304"/>
                </a:lnTo>
                <a:lnTo>
                  <a:pt x="1819498" y="2189698"/>
                </a:lnTo>
                <a:lnTo>
                  <a:pt x="1830541" y="2144659"/>
                </a:lnTo>
                <a:lnTo>
                  <a:pt x="1840484" y="2099203"/>
                </a:lnTo>
                <a:lnTo>
                  <a:pt x="1849314" y="2053344"/>
                </a:lnTo>
                <a:lnTo>
                  <a:pt x="1857013" y="2007096"/>
                </a:lnTo>
                <a:lnTo>
                  <a:pt x="1863569" y="1960474"/>
                </a:lnTo>
                <a:lnTo>
                  <a:pt x="1868966" y="1913494"/>
                </a:lnTo>
                <a:lnTo>
                  <a:pt x="1873189" y="1866170"/>
                </a:lnTo>
                <a:lnTo>
                  <a:pt x="1876224" y="1818515"/>
                </a:lnTo>
                <a:lnTo>
                  <a:pt x="1878056" y="1770547"/>
                </a:lnTo>
                <a:lnTo>
                  <a:pt x="1878670" y="1722278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663064" cy="3593465"/>
          </a:xfrm>
          <a:custGeom>
            <a:avLst/>
            <a:gdLst/>
            <a:ahLst/>
            <a:cxnLst/>
            <a:rect l="l" t="t" r="r" b="b"/>
            <a:pathLst>
              <a:path w="1663064" h="3593465">
                <a:moveTo>
                  <a:pt x="1663000" y="0"/>
                </a:moveTo>
                <a:lnTo>
                  <a:pt x="0" y="0"/>
                </a:lnTo>
                <a:lnTo>
                  <a:pt x="0" y="2592147"/>
                </a:lnTo>
                <a:lnTo>
                  <a:pt x="36360" y="2658046"/>
                </a:lnTo>
                <a:lnTo>
                  <a:pt x="60637" y="2698640"/>
                </a:lnTo>
                <a:lnTo>
                  <a:pt x="85904" y="2738562"/>
                </a:lnTo>
                <a:lnTo>
                  <a:pt x="112143" y="2777796"/>
                </a:lnTo>
                <a:lnTo>
                  <a:pt x="139339" y="2816325"/>
                </a:lnTo>
                <a:lnTo>
                  <a:pt x="167475" y="2854132"/>
                </a:lnTo>
                <a:lnTo>
                  <a:pt x="196532" y="2891200"/>
                </a:lnTo>
                <a:lnTo>
                  <a:pt x="226495" y="2927513"/>
                </a:lnTo>
                <a:lnTo>
                  <a:pt x="257346" y="2963054"/>
                </a:lnTo>
                <a:lnTo>
                  <a:pt x="289069" y="2997806"/>
                </a:lnTo>
                <a:lnTo>
                  <a:pt x="321646" y="3031753"/>
                </a:lnTo>
                <a:lnTo>
                  <a:pt x="355061" y="3064877"/>
                </a:lnTo>
                <a:lnTo>
                  <a:pt x="389297" y="3097162"/>
                </a:lnTo>
                <a:lnTo>
                  <a:pt x="424336" y="3128591"/>
                </a:lnTo>
                <a:lnTo>
                  <a:pt x="460163" y="3159148"/>
                </a:lnTo>
                <a:lnTo>
                  <a:pt x="496759" y="3188815"/>
                </a:lnTo>
                <a:lnTo>
                  <a:pt x="534108" y="3217577"/>
                </a:lnTo>
                <a:lnTo>
                  <a:pt x="572193" y="3245415"/>
                </a:lnTo>
                <a:lnTo>
                  <a:pt x="610997" y="3272314"/>
                </a:lnTo>
                <a:lnTo>
                  <a:pt x="650503" y="3298257"/>
                </a:lnTo>
                <a:lnTo>
                  <a:pt x="690694" y="3323226"/>
                </a:lnTo>
                <a:lnTo>
                  <a:pt x="731554" y="3347206"/>
                </a:lnTo>
                <a:lnTo>
                  <a:pt x="773065" y="3370179"/>
                </a:lnTo>
                <a:lnTo>
                  <a:pt x="815210" y="3392129"/>
                </a:lnTo>
                <a:lnTo>
                  <a:pt x="857973" y="3413039"/>
                </a:lnTo>
                <a:lnTo>
                  <a:pt x="901337" y="3432893"/>
                </a:lnTo>
                <a:lnTo>
                  <a:pt x="945284" y="3451673"/>
                </a:lnTo>
                <a:lnTo>
                  <a:pt x="989797" y="3469362"/>
                </a:lnTo>
                <a:lnTo>
                  <a:pt x="1034860" y="3485945"/>
                </a:lnTo>
                <a:lnTo>
                  <a:pt x="1080456" y="3501403"/>
                </a:lnTo>
                <a:lnTo>
                  <a:pt x="1126568" y="3515722"/>
                </a:lnTo>
                <a:lnTo>
                  <a:pt x="1173179" y="3528883"/>
                </a:lnTo>
                <a:lnTo>
                  <a:pt x="1220272" y="3540870"/>
                </a:lnTo>
                <a:lnTo>
                  <a:pt x="1267829" y="3551666"/>
                </a:lnTo>
                <a:lnTo>
                  <a:pt x="1315835" y="3561255"/>
                </a:lnTo>
                <a:lnTo>
                  <a:pt x="1364272" y="3569620"/>
                </a:lnTo>
                <a:lnTo>
                  <a:pt x="1413123" y="3576744"/>
                </a:lnTo>
                <a:lnTo>
                  <a:pt x="1462372" y="3582610"/>
                </a:lnTo>
                <a:lnTo>
                  <a:pt x="1512001" y="3587202"/>
                </a:lnTo>
                <a:lnTo>
                  <a:pt x="1561993" y="3590502"/>
                </a:lnTo>
                <a:lnTo>
                  <a:pt x="1612332" y="3592495"/>
                </a:lnTo>
                <a:lnTo>
                  <a:pt x="1663000" y="3593163"/>
                </a:lnTo>
                <a:lnTo>
                  <a:pt x="166300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24163" y="0"/>
            <a:ext cx="1668145" cy="3593465"/>
          </a:xfrm>
          <a:custGeom>
            <a:avLst/>
            <a:gdLst/>
            <a:ahLst/>
            <a:cxnLst/>
            <a:rect l="l" t="t" r="r" b="b"/>
            <a:pathLst>
              <a:path w="1668145" h="3593465">
                <a:moveTo>
                  <a:pt x="1667837" y="0"/>
                </a:moveTo>
                <a:lnTo>
                  <a:pt x="0" y="0"/>
                </a:lnTo>
                <a:lnTo>
                  <a:pt x="0" y="3593163"/>
                </a:lnTo>
                <a:lnTo>
                  <a:pt x="50663" y="3592495"/>
                </a:lnTo>
                <a:lnTo>
                  <a:pt x="100998" y="3590502"/>
                </a:lnTo>
                <a:lnTo>
                  <a:pt x="150986" y="3587202"/>
                </a:lnTo>
                <a:lnTo>
                  <a:pt x="200611" y="3582610"/>
                </a:lnTo>
                <a:lnTo>
                  <a:pt x="249856" y="3576744"/>
                </a:lnTo>
                <a:lnTo>
                  <a:pt x="298704" y="3569620"/>
                </a:lnTo>
                <a:lnTo>
                  <a:pt x="347138" y="3561255"/>
                </a:lnTo>
                <a:lnTo>
                  <a:pt x="395141" y="3551666"/>
                </a:lnTo>
                <a:lnTo>
                  <a:pt x="442696" y="3540870"/>
                </a:lnTo>
                <a:lnTo>
                  <a:pt x="489787" y="3528883"/>
                </a:lnTo>
                <a:lnTo>
                  <a:pt x="536396" y="3515722"/>
                </a:lnTo>
                <a:lnTo>
                  <a:pt x="582505" y="3501403"/>
                </a:lnTo>
                <a:lnTo>
                  <a:pt x="628100" y="3485945"/>
                </a:lnTo>
                <a:lnTo>
                  <a:pt x="673161" y="3469362"/>
                </a:lnTo>
                <a:lnTo>
                  <a:pt x="717674" y="3451673"/>
                </a:lnTo>
                <a:lnTo>
                  <a:pt x="761619" y="3432893"/>
                </a:lnTo>
                <a:lnTo>
                  <a:pt x="804981" y="3413039"/>
                </a:lnTo>
                <a:lnTo>
                  <a:pt x="847743" y="3392129"/>
                </a:lnTo>
                <a:lnTo>
                  <a:pt x="889888" y="3370179"/>
                </a:lnTo>
                <a:lnTo>
                  <a:pt x="931398" y="3347206"/>
                </a:lnTo>
                <a:lnTo>
                  <a:pt x="972257" y="3323226"/>
                </a:lnTo>
                <a:lnTo>
                  <a:pt x="1012448" y="3298257"/>
                </a:lnTo>
                <a:lnTo>
                  <a:pt x="1051953" y="3272314"/>
                </a:lnTo>
                <a:lnTo>
                  <a:pt x="1090757" y="3245415"/>
                </a:lnTo>
                <a:lnTo>
                  <a:pt x="1128841" y="3217577"/>
                </a:lnTo>
                <a:lnTo>
                  <a:pt x="1166190" y="3188815"/>
                </a:lnTo>
                <a:lnTo>
                  <a:pt x="1202786" y="3159148"/>
                </a:lnTo>
                <a:lnTo>
                  <a:pt x="1238612" y="3128591"/>
                </a:lnTo>
                <a:lnTo>
                  <a:pt x="1273651" y="3097162"/>
                </a:lnTo>
                <a:lnTo>
                  <a:pt x="1307886" y="3064877"/>
                </a:lnTo>
                <a:lnTo>
                  <a:pt x="1341300" y="3031753"/>
                </a:lnTo>
                <a:lnTo>
                  <a:pt x="1373877" y="2997806"/>
                </a:lnTo>
                <a:lnTo>
                  <a:pt x="1405599" y="2963054"/>
                </a:lnTo>
                <a:lnTo>
                  <a:pt x="1436450" y="2927513"/>
                </a:lnTo>
                <a:lnTo>
                  <a:pt x="1466412" y="2891200"/>
                </a:lnTo>
                <a:lnTo>
                  <a:pt x="1495469" y="2854132"/>
                </a:lnTo>
                <a:lnTo>
                  <a:pt x="1523604" y="2816325"/>
                </a:lnTo>
                <a:lnTo>
                  <a:pt x="1550799" y="2777796"/>
                </a:lnTo>
                <a:lnTo>
                  <a:pt x="1577037" y="2738562"/>
                </a:lnTo>
                <a:lnTo>
                  <a:pt x="1602303" y="2698640"/>
                </a:lnTo>
                <a:lnTo>
                  <a:pt x="1626578" y="2658046"/>
                </a:lnTo>
                <a:lnTo>
                  <a:pt x="1649847" y="2616797"/>
                </a:lnTo>
                <a:lnTo>
                  <a:pt x="1667837" y="2582921"/>
                </a:lnTo>
                <a:lnTo>
                  <a:pt x="1667837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74829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5" h="3593465">
                <a:moveTo>
                  <a:pt x="1878670" y="0"/>
                </a:moveTo>
                <a:lnTo>
                  <a:pt x="0" y="0"/>
                </a:lnTo>
                <a:lnTo>
                  <a:pt x="0" y="1722278"/>
                </a:lnTo>
                <a:lnTo>
                  <a:pt x="613" y="1770547"/>
                </a:lnTo>
                <a:lnTo>
                  <a:pt x="2445" y="1818515"/>
                </a:lnTo>
                <a:lnTo>
                  <a:pt x="5480" y="1866170"/>
                </a:lnTo>
                <a:lnTo>
                  <a:pt x="9704" y="1913494"/>
                </a:lnTo>
                <a:lnTo>
                  <a:pt x="15101" y="1960474"/>
                </a:lnTo>
                <a:lnTo>
                  <a:pt x="21656" y="2007096"/>
                </a:lnTo>
                <a:lnTo>
                  <a:pt x="29356" y="2053344"/>
                </a:lnTo>
                <a:lnTo>
                  <a:pt x="38185" y="2099203"/>
                </a:lnTo>
                <a:lnTo>
                  <a:pt x="48129" y="2144659"/>
                </a:lnTo>
                <a:lnTo>
                  <a:pt x="59172" y="2189698"/>
                </a:lnTo>
                <a:lnTo>
                  <a:pt x="71300" y="2234304"/>
                </a:lnTo>
                <a:lnTo>
                  <a:pt x="84498" y="2278462"/>
                </a:lnTo>
                <a:lnTo>
                  <a:pt x="98751" y="2322159"/>
                </a:lnTo>
                <a:lnTo>
                  <a:pt x="114045" y="2365379"/>
                </a:lnTo>
                <a:lnTo>
                  <a:pt x="130365" y="2408107"/>
                </a:lnTo>
                <a:lnTo>
                  <a:pt x="147695" y="2450329"/>
                </a:lnTo>
                <a:lnTo>
                  <a:pt x="166022" y="2492031"/>
                </a:lnTo>
                <a:lnTo>
                  <a:pt x="185330" y="2533197"/>
                </a:lnTo>
                <a:lnTo>
                  <a:pt x="205605" y="2573812"/>
                </a:lnTo>
                <a:lnTo>
                  <a:pt x="226832" y="2613862"/>
                </a:lnTo>
                <a:lnTo>
                  <a:pt x="248995" y="2653333"/>
                </a:lnTo>
                <a:lnTo>
                  <a:pt x="272081" y="2692209"/>
                </a:lnTo>
                <a:lnTo>
                  <a:pt x="296075" y="2730476"/>
                </a:lnTo>
                <a:lnTo>
                  <a:pt x="320961" y="2768119"/>
                </a:lnTo>
                <a:lnTo>
                  <a:pt x="346725" y="2805123"/>
                </a:lnTo>
                <a:lnTo>
                  <a:pt x="373352" y="2841474"/>
                </a:lnTo>
                <a:lnTo>
                  <a:pt x="400827" y="2877156"/>
                </a:lnTo>
                <a:lnTo>
                  <a:pt x="429136" y="2912156"/>
                </a:lnTo>
                <a:lnTo>
                  <a:pt x="458263" y="2946458"/>
                </a:lnTo>
                <a:lnTo>
                  <a:pt x="488195" y="2980048"/>
                </a:lnTo>
                <a:lnTo>
                  <a:pt x="518916" y="3012911"/>
                </a:lnTo>
                <a:lnTo>
                  <a:pt x="550411" y="3045032"/>
                </a:lnTo>
                <a:lnTo>
                  <a:pt x="582666" y="3076397"/>
                </a:lnTo>
                <a:lnTo>
                  <a:pt x="615666" y="3106990"/>
                </a:lnTo>
                <a:lnTo>
                  <a:pt x="649395" y="3136798"/>
                </a:lnTo>
                <a:lnTo>
                  <a:pt x="683840" y="3165805"/>
                </a:lnTo>
                <a:lnTo>
                  <a:pt x="718986" y="3193996"/>
                </a:lnTo>
                <a:lnTo>
                  <a:pt x="754817" y="3221358"/>
                </a:lnTo>
                <a:lnTo>
                  <a:pt x="791319" y="3247875"/>
                </a:lnTo>
                <a:lnTo>
                  <a:pt x="828477" y="3273532"/>
                </a:lnTo>
                <a:lnTo>
                  <a:pt x="866276" y="3298315"/>
                </a:lnTo>
                <a:lnTo>
                  <a:pt x="904703" y="3322208"/>
                </a:lnTo>
                <a:lnTo>
                  <a:pt x="943740" y="3345199"/>
                </a:lnTo>
                <a:lnTo>
                  <a:pt x="983375" y="3367270"/>
                </a:lnTo>
                <a:lnTo>
                  <a:pt x="1023592" y="3388409"/>
                </a:lnTo>
                <a:lnTo>
                  <a:pt x="1064377" y="3408600"/>
                </a:lnTo>
                <a:lnTo>
                  <a:pt x="1105714" y="3427828"/>
                </a:lnTo>
                <a:lnTo>
                  <a:pt x="1147589" y="3446079"/>
                </a:lnTo>
                <a:lnTo>
                  <a:pt x="1189987" y="3463338"/>
                </a:lnTo>
                <a:lnTo>
                  <a:pt x="1232893" y="3479590"/>
                </a:lnTo>
                <a:lnTo>
                  <a:pt x="1276293" y="3494820"/>
                </a:lnTo>
                <a:lnTo>
                  <a:pt x="1320171" y="3509015"/>
                </a:lnTo>
                <a:lnTo>
                  <a:pt x="1364513" y="3522158"/>
                </a:lnTo>
                <a:lnTo>
                  <a:pt x="1409305" y="3534236"/>
                </a:lnTo>
                <a:lnTo>
                  <a:pt x="1454531" y="3545233"/>
                </a:lnTo>
                <a:lnTo>
                  <a:pt x="1500176" y="3555135"/>
                </a:lnTo>
                <a:lnTo>
                  <a:pt x="1546226" y="3563928"/>
                </a:lnTo>
                <a:lnTo>
                  <a:pt x="1592667" y="3571596"/>
                </a:lnTo>
                <a:lnTo>
                  <a:pt x="1639482" y="3578124"/>
                </a:lnTo>
                <a:lnTo>
                  <a:pt x="1686658" y="3583499"/>
                </a:lnTo>
                <a:lnTo>
                  <a:pt x="1734180" y="3587705"/>
                </a:lnTo>
                <a:lnTo>
                  <a:pt x="1782032" y="3590727"/>
                </a:lnTo>
                <a:lnTo>
                  <a:pt x="1830200" y="3592551"/>
                </a:lnTo>
                <a:lnTo>
                  <a:pt x="1878670" y="3593163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023739" y="0"/>
            <a:ext cx="3094355" cy="3593465"/>
            <a:chOff x="5023739" y="0"/>
            <a:chExt cx="3094355" cy="3593465"/>
          </a:xfrm>
        </p:grpSpPr>
        <p:sp>
          <p:nvSpPr>
            <p:cNvPr id="9" name="object 9"/>
            <p:cNvSpPr/>
            <p:nvPr/>
          </p:nvSpPr>
          <p:spPr>
            <a:xfrm>
              <a:off x="6239083" y="0"/>
              <a:ext cx="1878964" cy="3593465"/>
            </a:xfrm>
            <a:custGeom>
              <a:avLst/>
              <a:gdLst/>
              <a:ahLst/>
              <a:cxnLst/>
              <a:rect l="l" t="t" r="r" b="b"/>
              <a:pathLst>
                <a:path w="1878965" h="3593465">
                  <a:moveTo>
                    <a:pt x="1878670" y="0"/>
                  </a:moveTo>
                  <a:lnTo>
                    <a:pt x="0" y="0"/>
                  </a:lnTo>
                  <a:lnTo>
                    <a:pt x="0" y="1722278"/>
                  </a:lnTo>
                  <a:lnTo>
                    <a:pt x="613" y="1770547"/>
                  </a:lnTo>
                  <a:lnTo>
                    <a:pt x="2445" y="1818515"/>
                  </a:lnTo>
                  <a:lnTo>
                    <a:pt x="5480" y="1866170"/>
                  </a:lnTo>
                  <a:lnTo>
                    <a:pt x="9704" y="1913494"/>
                  </a:lnTo>
                  <a:lnTo>
                    <a:pt x="15101" y="1960474"/>
                  </a:lnTo>
                  <a:lnTo>
                    <a:pt x="21656" y="2007096"/>
                  </a:lnTo>
                  <a:lnTo>
                    <a:pt x="29356" y="2053344"/>
                  </a:lnTo>
                  <a:lnTo>
                    <a:pt x="38185" y="2099203"/>
                  </a:lnTo>
                  <a:lnTo>
                    <a:pt x="48129" y="2144659"/>
                  </a:lnTo>
                  <a:lnTo>
                    <a:pt x="59172" y="2189698"/>
                  </a:lnTo>
                  <a:lnTo>
                    <a:pt x="71300" y="2234304"/>
                  </a:lnTo>
                  <a:lnTo>
                    <a:pt x="84498" y="2278462"/>
                  </a:lnTo>
                  <a:lnTo>
                    <a:pt x="98751" y="2322159"/>
                  </a:lnTo>
                  <a:lnTo>
                    <a:pt x="114045" y="2365379"/>
                  </a:lnTo>
                  <a:lnTo>
                    <a:pt x="130365" y="2408107"/>
                  </a:lnTo>
                  <a:lnTo>
                    <a:pt x="147695" y="2450329"/>
                  </a:lnTo>
                  <a:lnTo>
                    <a:pt x="166022" y="2492031"/>
                  </a:lnTo>
                  <a:lnTo>
                    <a:pt x="185330" y="2533197"/>
                  </a:lnTo>
                  <a:lnTo>
                    <a:pt x="205605" y="2573812"/>
                  </a:lnTo>
                  <a:lnTo>
                    <a:pt x="226832" y="2613862"/>
                  </a:lnTo>
                  <a:lnTo>
                    <a:pt x="248995" y="2653333"/>
                  </a:lnTo>
                  <a:lnTo>
                    <a:pt x="272081" y="2692209"/>
                  </a:lnTo>
                  <a:lnTo>
                    <a:pt x="296075" y="2730476"/>
                  </a:lnTo>
                  <a:lnTo>
                    <a:pt x="320961" y="2768119"/>
                  </a:lnTo>
                  <a:lnTo>
                    <a:pt x="346725" y="2805123"/>
                  </a:lnTo>
                  <a:lnTo>
                    <a:pt x="373352" y="2841474"/>
                  </a:lnTo>
                  <a:lnTo>
                    <a:pt x="400827" y="2877156"/>
                  </a:lnTo>
                  <a:lnTo>
                    <a:pt x="429136" y="2912156"/>
                  </a:lnTo>
                  <a:lnTo>
                    <a:pt x="458263" y="2946458"/>
                  </a:lnTo>
                  <a:lnTo>
                    <a:pt x="488195" y="2980048"/>
                  </a:lnTo>
                  <a:lnTo>
                    <a:pt x="518916" y="3012911"/>
                  </a:lnTo>
                  <a:lnTo>
                    <a:pt x="550411" y="3045032"/>
                  </a:lnTo>
                  <a:lnTo>
                    <a:pt x="582666" y="3076397"/>
                  </a:lnTo>
                  <a:lnTo>
                    <a:pt x="615666" y="3106990"/>
                  </a:lnTo>
                  <a:lnTo>
                    <a:pt x="649395" y="3136798"/>
                  </a:lnTo>
                  <a:lnTo>
                    <a:pt x="683840" y="3165805"/>
                  </a:lnTo>
                  <a:lnTo>
                    <a:pt x="718986" y="3193996"/>
                  </a:lnTo>
                  <a:lnTo>
                    <a:pt x="754817" y="3221358"/>
                  </a:lnTo>
                  <a:lnTo>
                    <a:pt x="791319" y="3247875"/>
                  </a:lnTo>
                  <a:lnTo>
                    <a:pt x="828477" y="3273532"/>
                  </a:lnTo>
                  <a:lnTo>
                    <a:pt x="866276" y="3298315"/>
                  </a:lnTo>
                  <a:lnTo>
                    <a:pt x="904703" y="3322208"/>
                  </a:lnTo>
                  <a:lnTo>
                    <a:pt x="943740" y="3345199"/>
                  </a:lnTo>
                  <a:lnTo>
                    <a:pt x="983375" y="3367270"/>
                  </a:lnTo>
                  <a:lnTo>
                    <a:pt x="1023592" y="3388409"/>
                  </a:lnTo>
                  <a:lnTo>
                    <a:pt x="1064377" y="3408600"/>
                  </a:lnTo>
                  <a:lnTo>
                    <a:pt x="1105714" y="3427828"/>
                  </a:lnTo>
                  <a:lnTo>
                    <a:pt x="1147589" y="3446079"/>
                  </a:lnTo>
                  <a:lnTo>
                    <a:pt x="1189987" y="3463338"/>
                  </a:lnTo>
                  <a:lnTo>
                    <a:pt x="1232893" y="3479590"/>
                  </a:lnTo>
                  <a:lnTo>
                    <a:pt x="1276293" y="3494820"/>
                  </a:lnTo>
                  <a:lnTo>
                    <a:pt x="1320171" y="3509015"/>
                  </a:lnTo>
                  <a:lnTo>
                    <a:pt x="1364513" y="3522158"/>
                  </a:lnTo>
                  <a:lnTo>
                    <a:pt x="1409305" y="3534236"/>
                  </a:lnTo>
                  <a:lnTo>
                    <a:pt x="1454531" y="3545233"/>
                  </a:lnTo>
                  <a:lnTo>
                    <a:pt x="1500176" y="3555135"/>
                  </a:lnTo>
                  <a:lnTo>
                    <a:pt x="1546226" y="3563928"/>
                  </a:lnTo>
                  <a:lnTo>
                    <a:pt x="1592667" y="3571596"/>
                  </a:lnTo>
                  <a:lnTo>
                    <a:pt x="1639482" y="3578124"/>
                  </a:lnTo>
                  <a:lnTo>
                    <a:pt x="1686658" y="3583499"/>
                  </a:lnTo>
                  <a:lnTo>
                    <a:pt x="1734180" y="3587705"/>
                  </a:lnTo>
                  <a:lnTo>
                    <a:pt x="1782032" y="3590727"/>
                  </a:lnTo>
                  <a:lnTo>
                    <a:pt x="1830200" y="3592551"/>
                  </a:lnTo>
                  <a:lnTo>
                    <a:pt x="1878670" y="3593163"/>
                  </a:lnTo>
                  <a:lnTo>
                    <a:pt x="1878670" y="0"/>
                  </a:lnTo>
                  <a:close/>
                </a:path>
              </a:pathLst>
            </a:custGeom>
            <a:solidFill>
              <a:srgbClr val="B123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3739" y="844003"/>
              <a:ext cx="2144649" cy="1266736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664504"/>
            <a:ext cx="12191999" cy="90370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66800" y="2514600"/>
            <a:ext cx="9615674" cy="153311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 indent="758825" algn="ctr">
              <a:lnSpc>
                <a:spcPts val="5180"/>
              </a:lnSpc>
              <a:spcBef>
                <a:spcPts val="755"/>
              </a:spcBef>
            </a:pPr>
            <a:r>
              <a:rPr lang="en-US" sz="4800" b="1">
                <a:solidFill>
                  <a:srgbClr val="FFFFFF"/>
                </a:solidFill>
                <a:latin typeface="Arial"/>
                <a:cs typeface="Arial"/>
              </a:rPr>
              <a:t>Intro to Generative</a:t>
            </a:r>
            <a:r>
              <a:rPr lang="en-US" sz="4800" b="1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800" b="1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lang="en-US" sz="4800" b="1" spc="-1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8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endParaRPr lang="en-US" sz="4800" b="1" spc="-13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 indent="758825" algn="ctr">
              <a:lnSpc>
                <a:spcPts val="5180"/>
              </a:lnSpc>
              <a:spcBef>
                <a:spcPts val="755"/>
              </a:spcBef>
            </a:pPr>
            <a:r>
              <a:rPr lang="en-US" sz="4800" b="1" spc="-13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lang="en-US" sz="4800" b="1">
                <a:solidFill>
                  <a:srgbClr val="FFFFFF"/>
                </a:solidFill>
                <a:latin typeface="Arial"/>
                <a:cs typeface="Arial"/>
              </a:rPr>
              <a:t>rompt</a:t>
            </a:r>
            <a:r>
              <a:rPr lang="en-US" sz="4800" b="1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800" b="1" spc="-10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endParaRPr lang="en-US" sz="4800">
              <a:latin typeface="Arial"/>
              <a:cs typeface="Arial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F40D020-F051-7E5F-A046-A5EA321D6FA9}"/>
              </a:ext>
            </a:extLst>
          </p:cNvPr>
          <p:cNvSpPr txBox="1"/>
          <p:nvPr/>
        </p:nvSpPr>
        <p:spPr>
          <a:xfrm>
            <a:off x="-203200" y="5274580"/>
            <a:ext cx="3731180" cy="28982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374650" algn="ctr">
              <a:lnSpc>
                <a:spcPct val="100000"/>
              </a:lnSpc>
              <a:spcBef>
                <a:spcPts val="100"/>
              </a:spcBef>
            </a:pPr>
            <a:r>
              <a:rPr lang="en-US" b="1" spc="-20" dirty="0">
                <a:solidFill>
                  <a:schemeClr val="bg1"/>
                </a:solidFill>
                <a:latin typeface="Calibri"/>
                <a:cs typeface="Calibri"/>
              </a:rPr>
              <a:t>Presented by : Omar Abdallah</a:t>
            </a:r>
            <a:endParaRPr sz="18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648E34E8-A82E-45F3-90E9-79C6B2371489}"/>
              </a:ext>
            </a:extLst>
          </p:cNvPr>
          <p:cNvSpPr txBox="1"/>
          <p:nvPr/>
        </p:nvSpPr>
        <p:spPr>
          <a:xfrm>
            <a:off x="5948296" y="5229802"/>
            <a:ext cx="6125547" cy="28982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374650" algn="ctr">
              <a:lnSpc>
                <a:spcPct val="100000"/>
              </a:lnSpc>
              <a:spcBef>
                <a:spcPts val="100"/>
              </a:spcBef>
            </a:pPr>
            <a:r>
              <a:rPr lang="en-US" b="1" spc="-20" dirty="0">
                <a:solidFill>
                  <a:schemeClr val="bg1"/>
                </a:solidFill>
                <a:latin typeface="Calibri"/>
                <a:cs typeface="Calibri"/>
              </a:rPr>
              <a:t>www.linkedin.com/in/omar-abdallah-abdelrahman/</a:t>
            </a:r>
            <a:endParaRPr sz="18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94129" y="2435478"/>
            <a:ext cx="8602980" cy="174053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913255" marR="5080" indent="-1901189">
              <a:lnSpc>
                <a:spcPts val="6300"/>
              </a:lnSpc>
              <a:spcBef>
                <a:spcPts val="1060"/>
              </a:spcBef>
            </a:pP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Why</a:t>
            </a:r>
            <a:r>
              <a:rPr sz="6000" b="0" spc="-7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do</a:t>
            </a:r>
            <a:r>
              <a:rPr sz="6000" b="0" spc="-7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we</a:t>
            </a:r>
            <a:r>
              <a:rPr sz="6000" b="0" spc="-7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need</a:t>
            </a:r>
            <a:r>
              <a:rPr sz="6000" b="0" spc="-8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to</a:t>
            </a:r>
            <a:r>
              <a:rPr sz="6000" b="0" spc="-7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 spc="-20">
                <a:solidFill>
                  <a:srgbClr val="000000"/>
                </a:solidFill>
                <a:latin typeface="Segoe UI"/>
                <a:cs typeface="Segoe UI"/>
              </a:rPr>
              <a:t>know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about</a:t>
            </a:r>
            <a:r>
              <a:rPr sz="6000" b="0" spc="-2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Gen </a:t>
            </a:r>
            <a:r>
              <a:rPr sz="6000" b="0" spc="-25">
                <a:solidFill>
                  <a:srgbClr val="000000"/>
                </a:solidFill>
                <a:latin typeface="Segoe UI"/>
                <a:cs typeface="Segoe UI"/>
              </a:rPr>
              <a:t>AI?</a:t>
            </a:r>
            <a:endParaRPr sz="60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78208" y="6464680"/>
            <a:ext cx="1028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>
                <a:solidFill>
                  <a:srgbClr val="7E7E7E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4221" y="162890"/>
            <a:ext cx="408051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0" spc="-45">
                <a:solidFill>
                  <a:srgbClr val="000000"/>
                </a:solidFill>
                <a:latin typeface="Calibri Light"/>
                <a:cs typeface="Calibri Light"/>
              </a:rPr>
              <a:t>History</a:t>
            </a:r>
            <a:r>
              <a:rPr sz="6600" b="0" spc="-27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66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sz="6600" b="0" spc="-195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6600" b="0" spc="-25">
                <a:solidFill>
                  <a:srgbClr val="000000"/>
                </a:solidFill>
                <a:latin typeface="Calibri Light"/>
                <a:cs typeface="Calibri Light"/>
              </a:rPr>
              <a:t>AI</a:t>
            </a:r>
            <a:endParaRPr sz="66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3600" y="1580388"/>
            <a:ext cx="4767834" cy="268325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9798" y="1513318"/>
            <a:ext cx="11962130" cy="5344795"/>
            <a:chOff x="19798" y="1513318"/>
            <a:chExt cx="11962130" cy="53447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88327" y="4339007"/>
              <a:ext cx="4793107" cy="251898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98" y="1513318"/>
              <a:ext cx="7134632" cy="530888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171935" y="6464680"/>
            <a:ext cx="1028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25"/>
              <a:t>What’s</a:t>
            </a:r>
            <a:r>
              <a:rPr sz="2400" spc="-125"/>
              <a:t> </a:t>
            </a:r>
            <a:r>
              <a:rPr sz="2400"/>
              <a:t>Generative</a:t>
            </a:r>
            <a:r>
              <a:rPr sz="2400" spc="-125"/>
              <a:t> </a:t>
            </a:r>
            <a:r>
              <a:rPr sz="2400" spc="-25"/>
              <a:t>AI?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23671" y="1178179"/>
            <a:ext cx="10546080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Generative</a:t>
            </a:r>
            <a:r>
              <a:rPr sz="1650" b="1" spc="2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AI:</a:t>
            </a:r>
            <a:r>
              <a:rPr sz="1650" b="1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type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/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subset</a:t>
            </a:r>
            <a:r>
              <a:rPr sz="1650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artificial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intelligence</a:t>
            </a:r>
            <a:r>
              <a:rPr sz="1650" spc="2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system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2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produce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various</a:t>
            </a:r>
            <a:r>
              <a:rPr sz="1650" spc="3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types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content,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including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text,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imagery,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audio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synthetic</a:t>
            </a:r>
            <a:r>
              <a:rPr sz="16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650">
              <a:latin typeface="Segoe UI"/>
              <a:cs typeface="Segoe UI"/>
            </a:endParaRPr>
          </a:p>
          <a:p>
            <a:pPr marL="12700" marR="5080">
              <a:lnSpc>
                <a:spcPct val="101800"/>
              </a:lnSpc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Generative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learn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patterns</a:t>
            </a:r>
            <a:r>
              <a:rPr sz="16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structure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input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training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then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generate</a:t>
            </a:r>
            <a:r>
              <a:rPr sz="16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>
                <a:solidFill>
                  <a:srgbClr val="333333"/>
                </a:solidFill>
                <a:latin typeface="Segoe UI"/>
                <a:cs typeface="Segoe UI"/>
              </a:rPr>
              <a:t>data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has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similar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characteristics.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2571" y="2318511"/>
            <a:ext cx="3314446" cy="30054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4893" y="2615712"/>
            <a:ext cx="6554089" cy="244538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4</a:t>
            </a:fld>
            <a:endParaRPr spc="-50"/>
          </a:p>
        </p:txBody>
      </p:sp>
      <p:sp>
        <p:nvSpPr>
          <p:cNvPr id="7" name="object 7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Who</a:t>
            </a:r>
            <a:r>
              <a:rPr sz="2400" spc="-35"/>
              <a:t> </a:t>
            </a:r>
            <a:r>
              <a:rPr sz="2400"/>
              <a:t>should</a:t>
            </a:r>
            <a:r>
              <a:rPr sz="2400" spc="-30"/>
              <a:t> </a:t>
            </a:r>
            <a:r>
              <a:rPr sz="2400"/>
              <a:t>learn</a:t>
            </a:r>
            <a:r>
              <a:rPr sz="2400" spc="-40"/>
              <a:t> </a:t>
            </a:r>
            <a:r>
              <a:rPr sz="2400"/>
              <a:t>about</a:t>
            </a:r>
            <a:r>
              <a:rPr sz="2400" spc="-35"/>
              <a:t> </a:t>
            </a:r>
            <a:r>
              <a:rPr sz="2400"/>
              <a:t>Gen</a:t>
            </a:r>
            <a:r>
              <a:rPr sz="2400" spc="-20"/>
              <a:t> </a:t>
            </a:r>
            <a:r>
              <a:rPr sz="2400" spc="-25"/>
              <a:t>AI?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903528" y="970787"/>
            <a:ext cx="7538084" cy="496506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299085" algn="l"/>
              </a:tabLst>
            </a:pP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b="1" spc="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/</a:t>
            </a:r>
            <a:r>
              <a:rPr sz="1800" b="1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Machine</a:t>
            </a:r>
            <a:r>
              <a:rPr sz="1800" b="1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Learning</a:t>
            </a:r>
            <a:r>
              <a:rPr sz="1800" b="1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 spc="-10">
                <a:solidFill>
                  <a:srgbClr val="333333"/>
                </a:solidFill>
                <a:latin typeface="Arial"/>
                <a:cs typeface="Arial"/>
              </a:rPr>
              <a:t>Developers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756285" marR="174625" lvl="1" indent="-287020">
              <a:lnSpc>
                <a:spcPct val="150000"/>
              </a:lnSpc>
              <a:spcBef>
                <a:spcPts val="5"/>
              </a:spcBef>
              <a:buChar char="•"/>
              <a:tabLst>
                <a:tab pos="756285" algn="l"/>
              </a:tabLst>
            </a:pP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Design</a:t>
            </a:r>
            <a:r>
              <a:rPr sz="1800" spc="-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refine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 Generative</a:t>
            </a:r>
            <a:r>
              <a:rPr sz="1800" spc="-1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models to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create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more</a:t>
            </a:r>
            <a:r>
              <a:rPr sz="1800" spc="-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intelligent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180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efficient</a:t>
            </a:r>
            <a:r>
              <a:rPr sz="1800" spc="-9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AI-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driven</a:t>
            </a:r>
            <a:r>
              <a:rPr sz="180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solutions.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80"/>
              </a:spcBef>
              <a:buClr>
                <a:srgbClr val="333333"/>
              </a:buClr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Software</a:t>
            </a:r>
            <a:r>
              <a:rPr sz="1800" b="1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 spc="-10">
                <a:solidFill>
                  <a:srgbClr val="333333"/>
                </a:solidFill>
                <a:latin typeface="Arial"/>
                <a:cs typeface="Arial"/>
              </a:rPr>
              <a:t>Developers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Char char="•"/>
              <a:tabLst>
                <a:tab pos="756285" algn="l"/>
              </a:tabLst>
            </a:pP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Utilize</a:t>
            </a:r>
            <a:r>
              <a:rPr sz="1800" spc="-1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tools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enhance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productivity</a:t>
            </a:r>
            <a:r>
              <a:rPr sz="18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development</a:t>
            </a:r>
            <a:r>
              <a:rPr sz="180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tasks.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Char char="•"/>
              <a:tabLst>
                <a:tab pos="756285" algn="l"/>
              </a:tabLst>
            </a:pP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Leverage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Generative</a:t>
            </a:r>
            <a:r>
              <a:rPr sz="1800" spc="-1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spc="-114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APIs</a:t>
            </a:r>
            <a:r>
              <a:rPr sz="18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800" spc="-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build</a:t>
            </a:r>
            <a:r>
              <a:rPr sz="1800" spc="-9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AI-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powered</a:t>
            </a:r>
            <a:r>
              <a:rPr sz="1800" spc="4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applications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80"/>
              </a:spcBef>
              <a:buClr>
                <a:srgbClr val="333333"/>
              </a:buClr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800" b="1" spc="-10">
                <a:solidFill>
                  <a:srgbClr val="C00000"/>
                </a:solidFill>
                <a:latin typeface="Arial"/>
                <a:cs typeface="Arial"/>
              </a:rPr>
              <a:t>Everyone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756285" marR="5080" lvl="1" indent="-287020">
              <a:lnSpc>
                <a:spcPct val="150000"/>
              </a:lnSpc>
              <a:spcBef>
                <a:spcPts val="5"/>
              </a:spcBef>
              <a:buChar char="•"/>
              <a:tabLst>
                <a:tab pos="756285" algn="l"/>
              </a:tabLst>
            </a:pP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1800" spc="-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today’s</a:t>
            </a:r>
            <a:r>
              <a:rPr sz="1800" spc="-9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AI-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centric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world,</a:t>
            </a:r>
            <a:r>
              <a:rPr sz="1800" spc="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it’s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crucial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individuals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across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all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professions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grasp the</a:t>
            </a:r>
            <a:r>
              <a:rPr sz="1800" spc="-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basics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Generative</a:t>
            </a:r>
            <a:r>
              <a:rPr sz="1800" spc="-9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incorporate</a:t>
            </a:r>
            <a:r>
              <a:rPr sz="1800" spc="-9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AI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tools</a:t>
            </a:r>
            <a:r>
              <a:rPr sz="1800" spc="-4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into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their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workflows</a:t>
            </a:r>
            <a:r>
              <a:rPr sz="1800" spc="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boost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productivity.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8103" y="1251458"/>
            <a:ext cx="3126231" cy="31262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5</a:t>
            </a:fld>
            <a:endParaRPr spc="-50"/>
          </a:p>
        </p:txBody>
      </p:sp>
      <p:sp>
        <p:nvSpPr>
          <p:cNvPr id="6" name="object 6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0051" y="1013586"/>
            <a:ext cx="10558387" cy="5598148"/>
            <a:chOff x="820051" y="1013586"/>
            <a:chExt cx="10558387" cy="5598148"/>
          </a:xfrm>
        </p:grpSpPr>
        <p:sp>
          <p:nvSpPr>
            <p:cNvPr id="3" name="object 3"/>
            <p:cNvSpPr/>
            <p:nvPr/>
          </p:nvSpPr>
          <p:spPr>
            <a:xfrm>
              <a:off x="827341" y="634640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20">
                  <a:moveTo>
                    <a:pt x="0" y="0"/>
                  </a:moveTo>
                  <a:lnTo>
                    <a:pt x="10516806" y="7124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341" y="6346939"/>
              <a:ext cx="519430" cy="264795"/>
            </a:xfrm>
            <a:custGeom>
              <a:avLst/>
              <a:gdLst/>
              <a:ahLst/>
              <a:cxnLst/>
              <a:rect l="l" t="t" r="r" b="b"/>
              <a:pathLst>
                <a:path w="519430" h="264795">
                  <a:moveTo>
                    <a:pt x="519163" y="0"/>
                  </a:moveTo>
                  <a:lnTo>
                    <a:pt x="0" y="0"/>
                  </a:lnTo>
                  <a:lnTo>
                    <a:pt x="0" y="264172"/>
                  </a:lnTo>
                  <a:lnTo>
                    <a:pt x="519163" y="264172"/>
                  </a:lnTo>
                  <a:lnTo>
                    <a:pt x="5191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7341" y="101358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19">
                  <a:moveTo>
                    <a:pt x="0" y="0"/>
                  </a:moveTo>
                  <a:lnTo>
                    <a:pt x="10516806" y="7112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0051" y="1049769"/>
              <a:ext cx="5286629" cy="528662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2443" y="1076705"/>
              <a:ext cx="4720801" cy="21048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586093" y="1070355"/>
              <a:ext cx="4792345" cy="2117725"/>
            </a:xfrm>
            <a:custGeom>
              <a:avLst/>
              <a:gdLst/>
              <a:ahLst/>
              <a:cxnLst/>
              <a:rect l="l" t="t" r="r" b="b"/>
              <a:pathLst>
                <a:path w="4792345" h="2117725">
                  <a:moveTo>
                    <a:pt x="0" y="2117598"/>
                  </a:moveTo>
                  <a:lnTo>
                    <a:pt x="4792218" y="2117598"/>
                  </a:lnTo>
                  <a:lnTo>
                    <a:pt x="4792218" y="0"/>
                  </a:lnTo>
                  <a:lnTo>
                    <a:pt x="0" y="0"/>
                  </a:lnTo>
                  <a:lnTo>
                    <a:pt x="0" y="2117598"/>
                  </a:lnTo>
                  <a:close/>
                </a:path>
              </a:pathLst>
            </a:custGeom>
            <a:ln w="126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08799" y="3348990"/>
              <a:ext cx="4463161" cy="305181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Will</a:t>
            </a:r>
            <a:r>
              <a:rPr sz="2400" spc="-35"/>
              <a:t> </a:t>
            </a:r>
            <a:r>
              <a:rPr sz="2400"/>
              <a:t>AI</a:t>
            </a:r>
            <a:r>
              <a:rPr sz="2400" spc="-45"/>
              <a:t> </a:t>
            </a:r>
            <a:r>
              <a:rPr sz="2400"/>
              <a:t>Replace</a:t>
            </a:r>
            <a:r>
              <a:rPr sz="2400" spc="-45"/>
              <a:t> </a:t>
            </a:r>
            <a:r>
              <a:rPr sz="2400"/>
              <a:t>Jobs</a:t>
            </a:r>
            <a:r>
              <a:rPr sz="2400" spc="-40"/>
              <a:t> </a:t>
            </a:r>
            <a:r>
              <a:rPr sz="2400"/>
              <a:t>/</a:t>
            </a:r>
            <a:r>
              <a:rPr sz="2400" spc="-50"/>
              <a:t> </a:t>
            </a:r>
            <a:r>
              <a:rPr sz="2400" spc="-10"/>
              <a:t>employees?</a:t>
            </a:r>
            <a:endParaRPr sz="24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6</a:t>
            </a:fld>
            <a:endParaRPr spc="-50"/>
          </a:p>
        </p:txBody>
      </p:sp>
      <p:sp>
        <p:nvSpPr>
          <p:cNvPr id="12" name="object 12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298" y="365137"/>
            <a:ext cx="9361170" cy="681355"/>
          </a:xfrm>
          <a:custGeom>
            <a:avLst/>
            <a:gdLst/>
            <a:ahLst/>
            <a:cxnLst/>
            <a:rect l="l" t="t" r="r" b="b"/>
            <a:pathLst>
              <a:path w="9361170" h="681355">
                <a:moveTo>
                  <a:pt x="9360954" y="318960"/>
                </a:moveTo>
                <a:lnTo>
                  <a:pt x="9357347" y="267335"/>
                </a:lnTo>
                <a:lnTo>
                  <a:pt x="9346895" y="218325"/>
                </a:lnTo>
                <a:lnTo>
                  <a:pt x="9330169" y="172580"/>
                </a:lnTo>
                <a:lnTo>
                  <a:pt x="9307703" y="130784"/>
                </a:lnTo>
                <a:lnTo>
                  <a:pt x="9280080" y="93599"/>
                </a:lnTo>
                <a:lnTo>
                  <a:pt x="9247848" y="61671"/>
                </a:lnTo>
                <a:lnTo>
                  <a:pt x="9211577" y="35687"/>
                </a:lnTo>
                <a:lnTo>
                  <a:pt x="9171813" y="16306"/>
                </a:lnTo>
                <a:lnTo>
                  <a:pt x="9129116" y="4191"/>
                </a:lnTo>
                <a:lnTo>
                  <a:pt x="9084056" y="0"/>
                </a:lnTo>
                <a:lnTo>
                  <a:pt x="0" y="0"/>
                </a:lnTo>
                <a:lnTo>
                  <a:pt x="0" y="681164"/>
                </a:lnTo>
                <a:lnTo>
                  <a:pt x="9084056" y="681164"/>
                </a:lnTo>
                <a:lnTo>
                  <a:pt x="9129116" y="676973"/>
                </a:lnTo>
                <a:lnTo>
                  <a:pt x="9171813" y="664845"/>
                </a:lnTo>
                <a:lnTo>
                  <a:pt x="9211577" y="645401"/>
                </a:lnTo>
                <a:lnTo>
                  <a:pt x="9247848" y="619315"/>
                </a:lnTo>
                <a:lnTo>
                  <a:pt x="9280080" y="587235"/>
                </a:lnTo>
                <a:lnTo>
                  <a:pt x="9307703" y="549795"/>
                </a:lnTo>
                <a:lnTo>
                  <a:pt x="9330169" y="507657"/>
                </a:lnTo>
                <a:lnTo>
                  <a:pt x="9346895" y="461467"/>
                </a:lnTo>
                <a:lnTo>
                  <a:pt x="9357347" y="411861"/>
                </a:lnTo>
                <a:lnTo>
                  <a:pt x="9360954" y="359498"/>
                </a:lnTo>
                <a:lnTo>
                  <a:pt x="9360954" y="31896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" y="6261607"/>
            <a:ext cx="12187111" cy="59421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405036" y="367867"/>
            <a:ext cx="2787015" cy="643890"/>
          </a:xfrm>
          <a:custGeom>
            <a:avLst/>
            <a:gdLst/>
            <a:ahLst/>
            <a:cxnLst/>
            <a:rect l="l" t="t" r="r" b="b"/>
            <a:pathLst>
              <a:path w="2787015" h="643890">
                <a:moveTo>
                  <a:pt x="154724" y="337947"/>
                </a:moveTo>
                <a:lnTo>
                  <a:pt x="0" y="337947"/>
                </a:lnTo>
                <a:lnTo>
                  <a:pt x="0" y="643458"/>
                </a:lnTo>
                <a:lnTo>
                  <a:pt x="48399" y="635736"/>
                </a:lnTo>
                <a:lnTo>
                  <a:pt x="90817" y="614121"/>
                </a:lnTo>
                <a:lnTo>
                  <a:pt x="124498" y="580974"/>
                </a:lnTo>
                <a:lnTo>
                  <a:pt x="146710" y="538594"/>
                </a:lnTo>
                <a:lnTo>
                  <a:pt x="154724" y="489356"/>
                </a:lnTo>
                <a:lnTo>
                  <a:pt x="154724" y="337947"/>
                </a:lnTo>
                <a:close/>
              </a:path>
              <a:path w="2787015" h="643890">
                <a:moveTo>
                  <a:pt x="154724" y="8115"/>
                </a:moveTo>
                <a:lnTo>
                  <a:pt x="0" y="8115"/>
                </a:lnTo>
                <a:lnTo>
                  <a:pt x="0" y="313613"/>
                </a:lnTo>
                <a:lnTo>
                  <a:pt x="48399" y="305892"/>
                </a:lnTo>
                <a:lnTo>
                  <a:pt x="90817" y="284289"/>
                </a:lnTo>
                <a:lnTo>
                  <a:pt x="124498" y="251129"/>
                </a:lnTo>
                <a:lnTo>
                  <a:pt x="146710" y="208762"/>
                </a:lnTo>
                <a:lnTo>
                  <a:pt x="154724" y="159512"/>
                </a:lnTo>
                <a:lnTo>
                  <a:pt x="154724" y="8115"/>
                </a:lnTo>
                <a:close/>
              </a:path>
              <a:path w="2787015" h="643890">
                <a:moveTo>
                  <a:pt x="333883" y="337947"/>
                </a:moveTo>
                <a:lnTo>
                  <a:pt x="179158" y="337947"/>
                </a:lnTo>
                <a:lnTo>
                  <a:pt x="179158" y="643458"/>
                </a:lnTo>
                <a:lnTo>
                  <a:pt x="227558" y="635736"/>
                </a:lnTo>
                <a:lnTo>
                  <a:pt x="269976" y="614121"/>
                </a:lnTo>
                <a:lnTo>
                  <a:pt x="303657" y="580974"/>
                </a:lnTo>
                <a:lnTo>
                  <a:pt x="325869" y="538594"/>
                </a:lnTo>
                <a:lnTo>
                  <a:pt x="333883" y="489356"/>
                </a:lnTo>
                <a:lnTo>
                  <a:pt x="333883" y="337947"/>
                </a:lnTo>
                <a:close/>
              </a:path>
              <a:path w="2787015" h="643890">
                <a:moveTo>
                  <a:pt x="333883" y="8115"/>
                </a:moveTo>
                <a:lnTo>
                  <a:pt x="179158" y="8115"/>
                </a:lnTo>
                <a:lnTo>
                  <a:pt x="179158" y="159512"/>
                </a:lnTo>
                <a:lnTo>
                  <a:pt x="186918" y="208762"/>
                </a:lnTo>
                <a:lnTo>
                  <a:pt x="208610" y="251129"/>
                </a:lnTo>
                <a:lnTo>
                  <a:pt x="241896" y="284289"/>
                </a:lnTo>
                <a:lnTo>
                  <a:pt x="284429" y="305892"/>
                </a:lnTo>
                <a:lnTo>
                  <a:pt x="333883" y="313613"/>
                </a:lnTo>
                <a:lnTo>
                  <a:pt x="333883" y="8115"/>
                </a:lnTo>
                <a:close/>
              </a:path>
              <a:path w="2787015" h="643890">
                <a:moveTo>
                  <a:pt x="510324" y="162217"/>
                </a:moveTo>
                <a:lnTo>
                  <a:pt x="502577" y="114007"/>
                </a:lnTo>
                <a:lnTo>
                  <a:pt x="480885" y="71767"/>
                </a:lnTo>
                <a:lnTo>
                  <a:pt x="447586" y="38214"/>
                </a:lnTo>
                <a:lnTo>
                  <a:pt x="405041" y="16090"/>
                </a:lnTo>
                <a:lnTo>
                  <a:pt x="355600" y="8115"/>
                </a:lnTo>
                <a:lnTo>
                  <a:pt x="355600" y="313613"/>
                </a:lnTo>
                <a:lnTo>
                  <a:pt x="510324" y="313613"/>
                </a:lnTo>
                <a:lnTo>
                  <a:pt x="510324" y="162217"/>
                </a:lnTo>
                <a:close/>
              </a:path>
              <a:path w="2787015" h="643890">
                <a:moveTo>
                  <a:pt x="510336" y="643458"/>
                </a:moveTo>
                <a:lnTo>
                  <a:pt x="510324" y="337947"/>
                </a:lnTo>
                <a:lnTo>
                  <a:pt x="461924" y="345935"/>
                </a:lnTo>
                <a:lnTo>
                  <a:pt x="419519" y="368058"/>
                </a:lnTo>
                <a:lnTo>
                  <a:pt x="385826" y="401599"/>
                </a:lnTo>
                <a:lnTo>
                  <a:pt x="363613" y="443839"/>
                </a:lnTo>
                <a:lnTo>
                  <a:pt x="355600" y="492048"/>
                </a:lnTo>
                <a:lnTo>
                  <a:pt x="355600" y="643458"/>
                </a:lnTo>
                <a:lnTo>
                  <a:pt x="510336" y="643458"/>
                </a:lnTo>
                <a:close/>
              </a:path>
              <a:path w="2787015" h="643890">
                <a:moveTo>
                  <a:pt x="686777" y="492048"/>
                </a:moveTo>
                <a:lnTo>
                  <a:pt x="678764" y="443839"/>
                </a:lnTo>
                <a:lnTo>
                  <a:pt x="656539" y="401599"/>
                </a:lnTo>
                <a:lnTo>
                  <a:pt x="622858" y="368058"/>
                </a:lnTo>
                <a:lnTo>
                  <a:pt x="580453" y="345935"/>
                </a:lnTo>
                <a:lnTo>
                  <a:pt x="532041" y="337947"/>
                </a:lnTo>
                <a:lnTo>
                  <a:pt x="532041" y="643458"/>
                </a:lnTo>
                <a:lnTo>
                  <a:pt x="686777" y="643458"/>
                </a:lnTo>
                <a:lnTo>
                  <a:pt x="686777" y="492048"/>
                </a:lnTo>
                <a:close/>
              </a:path>
              <a:path w="2787015" h="643890">
                <a:moveTo>
                  <a:pt x="686777" y="313613"/>
                </a:moveTo>
                <a:lnTo>
                  <a:pt x="686765" y="8115"/>
                </a:lnTo>
                <a:lnTo>
                  <a:pt x="637324" y="16090"/>
                </a:lnTo>
                <a:lnTo>
                  <a:pt x="594779" y="38214"/>
                </a:lnTo>
                <a:lnTo>
                  <a:pt x="561492" y="71767"/>
                </a:lnTo>
                <a:lnTo>
                  <a:pt x="539800" y="114007"/>
                </a:lnTo>
                <a:lnTo>
                  <a:pt x="532041" y="162217"/>
                </a:lnTo>
                <a:lnTo>
                  <a:pt x="532041" y="313613"/>
                </a:lnTo>
                <a:lnTo>
                  <a:pt x="686777" y="313613"/>
                </a:lnTo>
                <a:close/>
              </a:path>
              <a:path w="2787015" h="643890">
                <a:moveTo>
                  <a:pt x="860501" y="492048"/>
                </a:moveTo>
                <a:lnTo>
                  <a:pt x="852754" y="443839"/>
                </a:lnTo>
                <a:lnTo>
                  <a:pt x="831049" y="401599"/>
                </a:lnTo>
                <a:lnTo>
                  <a:pt x="797763" y="368058"/>
                </a:lnTo>
                <a:lnTo>
                  <a:pt x="755218" y="345935"/>
                </a:lnTo>
                <a:lnTo>
                  <a:pt x="705777" y="337947"/>
                </a:lnTo>
                <a:lnTo>
                  <a:pt x="705777" y="643458"/>
                </a:lnTo>
                <a:lnTo>
                  <a:pt x="860501" y="643458"/>
                </a:lnTo>
                <a:lnTo>
                  <a:pt x="860501" y="492048"/>
                </a:lnTo>
                <a:close/>
              </a:path>
              <a:path w="2787015" h="643890">
                <a:moveTo>
                  <a:pt x="863219" y="8115"/>
                </a:moveTo>
                <a:lnTo>
                  <a:pt x="708482" y="8115"/>
                </a:lnTo>
                <a:lnTo>
                  <a:pt x="708482" y="313613"/>
                </a:lnTo>
                <a:lnTo>
                  <a:pt x="756894" y="305892"/>
                </a:lnTo>
                <a:lnTo>
                  <a:pt x="799299" y="284289"/>
                </a:lnTo>
                <a:lnTo>
                  <a:pt x="832980" y="251129"/>
                </a:lnTo>
                <a:lnTo>
                  <a:pt x="855205" y="208762"/>
                </a:lnTo>
                <a:lnTo>
                  <a:pt x="863219" y="159512"/>
                </a:lnTo>
                <a:lnTo>
                  <a:pt x="863219" y="8115"/>
                </a:lnTo>
                <a:close/>
              </a:path>
              <a:path w="2787015" h="643890">
                <a:moveTo>
                  <a:pt x="1036980" y="337947"/>
                </a:moveTo>
                <a:lnTo>
                  <a:pt x="882218" y="337947"/>
                </a:lnTo>
                <a:lnTo>
                  <a:pt x="882218" y="489356"/>
                </a:lnTo>
                <a:lnTo>
                  <a:pt x="890231" y="538594"/>
                </a:lnTo>
                <a:lnTo>
                  <a:pt x="912444" y="580974"/>
                </a:lnTo>
                <a:lnTo>
                  <a:pt x="946124" y="614121"/>
                </a:lnTo>
                <a:lnTo>
                  <a:pt x="988555" y="635736"/>
                </a:lnTo>
                <a:lnTo>
                  <a:pt x="1036980" y="643458"/>
                </a:lnTo>
                <a:lnTo>
                  <a:pt x="1036980" y="337947"/>
                </a:lnTo>
                <a:close/>
              </a:path>
              <a:path w="2787015" h="643890">
                <a:moveTo>
                  <a:pt x="1036980" y="162217"/>
                </a:moveTo>
                <a:lnTo>
                  <a:pt x="1029220" y="114007"/>
                </a:lnTo>
                <a:lnTo>
                  <a:pt x="1007529" y="71767"/>
                </a:lnTo>
                <a:lnTo>
                  <a:pt x="974217" y="38214"/>
                </a:lnTo>
                <a:lnTo>
                  <a:pt x="931672" y="16090"/>
                </a:lnTo>
                <a:lnTo>
                  <a:pt x="882218" y="8115"/>
                </a:lnTo>
                <a:lnTo>
                  <a:pt x="882218" y="313613"/>
                </a:lnTo>
                <a:lnTo>
                  <a:pt x="1036980" y="313613"/>
                </a:lnTo>
                <a:lnTo>
                  <a:pt x="1036980" y="162217"/>
                </a:lnTo>
                <a:close/>
              </a:path>
              <a:path w="2787015" h="643890">
                <a:moveTo>
                  <a:pt x="1213434" y="337947"/>
                </a:moveTo>
                <a:lnTo>
                  <a:pt x="1058697" y="337947"/>
                </a:lnTo>
                <a:lnTo>
                  <a:pt x="1058697" y="643458"/>
                </a:lnTo>
                <a:lnTo>
                  <a:pt x="1107084" y="635736"/>
                </a:lnTo>
                <a:lnTo>
                  <a:pt x="1149489" y="614121"/>
                </a:lnTo>
                <a:lnTo>
                  <a:pt x="1183182" y="580974"/>
                </a:lnTo>
                <a:lnTo>
                  <a:pt x="1205407" y="538594"/>
                </a:lnTo>
                <a:lnTo>
                  <a:pt x="1213434" y="489356"/>
                </a:lnTo>
                <a:lnTo>
                  <a:pt x="1213434" y="337947"/>
                </a:lnTo>
                <a:close/>
              </a:path>
              <a:path w="2787015" h="643890">
                <a:moveTo>
                  <a:pt x="1213434" y="8115"/>
                </a:moveTo>
                <a:lnTo>
                  <a:pt x="1058697" y="8115"/>
                </a:lnTo>
                <a:lnTo>
                  <a:pt x="1058697" y="159512"/>
                </a:lnTo>
                <a:lnTo>
                  <a:pt x="1066444" y="208762"/>
                </a:lnTo>
                <a:lnTo>
                  <a:pt x="1088123" y="251129"/>
                </a:lnTo>
                <a:lnTo>
                  <a:pt x="1121397" y="284289"/>
                </a:lnTo>
                <a:lnTo>
                  <a:pt x="1163955" y="305892"/>
                </a:lnTo>
                <a:lnTo>
                  <a:pt x="1213434" y="313613"/>
                </a:lnTo>
                <a:lnTo>
                  <a:pt x="1213434" y="8115"/>
                </a:lnTo>
                <a:close/>
              </a:path>
              <a:path w="2787015" h="643890">
                <a:moveTo>
                  <a:pt x="1389786" y="337947"/>
                </a:moveTo>
                <a:lnTo>
                  <a:pt x="1235138" y="337947"/>
                </a:lnTo>
                <a:lnTo>
                  <a:pt x="1235138" y="643458"/>
                </a:lnTo>
                <a:lnTo>
                  <a:pt x="1283525" y="635736"/>
                </a:lnTo>
                <a:lnTo>
                  <a:pt x="1325905" y="614121"/>
                </a:lnTo>
                <a:lnTo>
                  <a:pt x="1359573" y="580974"/>
                </a:lnTo>
                <a:lnTo>
                  <a:pt x="1381785" y="538594"/>
                </a:lnTo>
                <a:lnTo>
                  <a:pt x="1389786" y="489356"/>
                </a:lnTo>
                <a:lnTo>
                  <a:pt x="1389786" y="337947"/>
                </a:lnTo>
                <a:close/>
              </a:path>
              <a:path w="2787015" h="643890">
                <a:moveTo>
                  <a:pt x="1389786" y="8115"/>
                </a:moveTo>
                <a:lnTo>
                  <a:pt x="1235138" y="8115"/>
                </a:lnTo>
                <a:lnTo>
                  <a:pt x="1235138" y="313613"/>
                </a:lnTo>
                <a:lnTo>
                  <a:pt x="1283525" y="305892"/>
                </a:lnTo>
                <a:lnTo>
                  <a:pt x="1325905" y="284289"/>
                </a:lnTo>
                <a:lnTo>
                  <a:pt x="1359573" y="251129"/>
                </a:lnTo>
                <a:lnTo>
                  <a:pt x="1381785" y="208762"/>
                </a:lnTo>
                <a:lnTo>
                  <a:pt x="1389786" y="159512"/>
                </a:lnTo>
                <a:lnTo>
                  <a:pt x="1389786" y="8115"/>
                </a:lnTo>
                <a:close/>
              </a:path>
              <a:path w="2787015" h="643890">
                <a:moveTo>
                  <a:pt x="1568983" y="337947"/>
                </a:moveTo>
                <a:lnTo>
                  <a:pt x="1520596" y="345935"/>
                </a:lnTo>
                <a:lnTo>
                  <a:pt x="1478191" y="368058"/>
                </a:lnTo>
                <a:lnTo>
                  <a:pt x="1444498" y="401599"/>
                </a:lnTo>
                <a:lnTo>
                  <a:pt x="1422273" y="443839"/>
                </a:lnTo>
                <a:lnTo>
                  <a:pt x="1414246" y="492048"/>
                </a:lnTo>
                <a:lnTo>
                  <a:pt x="1414246" y="643458"/>
                </a:lnTo>
                <a:lnTo>
                  <a:pt x="1568983" y="643458"/>
                </a:lnTo>
                <a:lnTo>
                  <a:pt x="1568983" y="337947"/>
                </a:lnTo>
                <a:close/>
              </a:path>
              <a:path w="2787015" h="643890">
                <a:moveTo>
                  <a:pt x="1568983" y="162217"/>
                </a:moveTo>
                <a:lnTo>
                  <a:pt x="1561236" y="114007"/>
                </a:lnTo>
                <a:lnTo>
                  <a:pt x="1539532" y="71767"/>
                </a:lnTo>
                <a:lnTo>
                  <a:pt x="1506232" y="38214"/>
                </a:lnTo>
                <a:lnTo>
                  <a:pt x="1463687" y="16090"/>
                </a:lnTo>
                <a:lnTo>
                  <a:pt x="1414246" y="8115"/>
                </a:lnTo>
                <a:lnTo>
                  <a:pt x="1414246" y="313613"/>
                </a:lnTo>
                <a:lnTo>
                  <a:pt x="1568983" y="313613"/>
                </a:lnTo>
                <a:lnTo>
                  <a:pt x="1568983" y="162217"/>
                </a:lnTo>
                <a:close/>
              </a:path>
              <a:path w="2787015" h="643890">
                <a:moveTo>
                  <a:pt x="1750847" y="337947"/>
                </a:moveTo>
                <a:lnTo>
                  <a:pt x="1596110" y="337947"/>
                </a:lnTo>
                <a:lnTo>
                  <a:pt x="1596110" y="643458"/>
                </a:lnTo>
                <a:lnTo>
                  <a:pt x="1644535" y="635736"/>
                </a:lnTo>
                <a:lnTo>
                  <a:pt x="1686941" y="614121"/>
                </a:lnTo>
                <a:lnTo>
                  <a:pt x="1720621" y="580974"/>
                </a:lnTo>
                <a:lnTo>
                  <a:pt x="1742833" y="538594"/>
                </a:lnTo>
                <a:lnTo>
                  <a:pt x="1750847" y="489356"/>
                </a:lnTo>
                <a:lnTo>
                  <a:pt x="1750847" y="337947"/>
                </a:lnTo>
                <a:close/>
              </a:path>
              <a:path w="2787015" h="643890">
                <a:moveTo>
                  <a:pt x="1750847" y="8115"/>
                </a:moveTo>
                <a:lnTo>
                  <a:pt x="1596110" y="8115"/>
                </a:lnTo>
                <a:lnTo>
                  <a:pt x="1596110" y="159512"/>
                </a:lnTo>
                <a:lnTo>
                  <a:pt x="1603857" y="208762"/>
                </a:lnTo>
                <a:lnTo>
                  <a:pt x="1625561" y="251129"/>
                </a:lnTo>
                <a:lnTo>
                  <a:pt x="1658861" y="284289"/>
                </a:lnTo>
                <a:lnTo>
                  <a:pt x="1701406" y="305892"/>
                </a:lnTo>
                <a:lnTo>
                  <a:pt x="1750847" y="313613"/>
                </a:lnTo>
                <a:lnTo>
                  <a:pt x="1750847" y="8115"/>
                </a:lnTo>
                <a:close/>
              </a:path>
              <a:path w="2787015" h="643890">
                <a:moveTo>
                  <a:pt x="1927288" y="151409"/>
                </a:moveTo>
                <a:lnTo>
                  <a:pt x="1919287" y="103466"/>
                </a:lnTo>
                <a:lnTo>
                  <a:pt x="1897075" y="61899"/>
                </a:lnTo>
                <a:lnTo>
                  <a:pt x="1863394" y="29159"/>
                </a:lnTo>
                <a:lnTo>
                  <a:pt x="1820976" y="7696"/>
                </a:lnTo>
                <a:lnTo>
                  <a:pt x="1772551" y="0"/>
                </a:lnTo>
                <a:lnTo>
                  <a:pt x="1772551" y="302806"/>
                </a:lnTo>
                <a:lnTo>
                  <a:pt x="1927288" y="302806"/>
                </a:lnTo>
                <a:lnTo>
                  <a:pt x="1927288" y="151409"/>
                </a:lnTo>
                <a:close/>
              </a:path>
              <a:path w="2787015" h="643890">
                <a:moveTo>
                  <a:pt x="1927301" y="643458"/>
                </a:moveTo>
                <a:lnTo>
                  <a:pt x="1927288" y="337947"/>
                </a:lnTo>
                <a:lnTo>
                  <a:pt x="1878901" y="345935"/>
                </a:lnTo>
                <a:lnTo>
                  <a:pt x="1836496" y="368058"/>
                </a:lnTo>
                <a:lnTo>
                  <a:pt x="1802803" y="401599"/>
                </a:lnTo>
                <a:lnTo>
                  <a:pt x="1780578" y="443839"/>
                </a:lnTo>
                <a:lnTo>
                  <a:pt x="1772551" y="492048"/>
                </a:lnTo>
                <a:lnTo>
                  <a:pt x="1772551" y="643458"/>
                </a:lnTo>
                <a:lnTo>
                  <a:pt x="1927301" y="643458"/>
                </a:lnTo>
                <a:close/>
              </a:path>
              <a:path w="2787015" h="643890">
                <a:moveTo>
                  <a:pt x="2103742" y="492048"/>
                </a:moveTo>
                <a:lnTo>
                  <a:pt x="2095741" y="443839"/>
                </a:lnTo>
                <a:lnTo>
                  <a:pt x="2073529" y="401599"/>
                </a:lnTo>
                <a:lnTo>
                  <a:pt x="2039848" y="368058"/>
                </a:lnTo>
                <a:lnTo>
                  <a:pt x="1997430" y="345935"/>
                </a:lnTo>
                <a:lnTo>
                  <a:pt x="1949005" y="337947"/>
                </a:lnTo>
                <a:lnTo>
                  <a:pt x="1949005" y="643458"/>
                </a:lnTo>
                <a:lnTo>
                  <a:pt x="2103742" y="643458"/>
                </a:lnTo>
                <a:lnTo>
                  <a:pt x="2103742" y="492048"/>
                </a:lnTo>
                <a:close/>
              </a:path>
              <a:path w="2787015" h="643890">
                <a:moveTo>
                  <a:pt x="2103742" y="0"/>
                </a:moveTo>
                <a:lnTo>
                  <a:pt x="2054301" y="7696"/>
                </a:lnTo>
                <a:lnTo>
                  <a:pt x="2011756" y="29159"/>
                </a:lnTo>
                <a:lnTo>
                  <a:pt x="1978456" y="61899"/>
                </a:lnTo>
                <a:lnTo>
                  <a:pt x="1956765" y="103466"/>
                </a:lnTo>
                <a:lnTo>
                  <a:pt x="1949005" y="151409"/>
                </a:lnTo>
                <a:lnTo>
                  <a:pt x="1949005" y="302806"/>
                </a:lnTo>
                <a:lnTo>
                  <a:pt x="2103742" y="302806"/>
                </a:lnTo>
                <a:lnTo>
                  <a:pt x="2103742" y="0"/>
                </a:lnTo>
                <a:close/>
              </a:path>
              <a:path w="2787015" h="643890">
                <a:moveTo>
                  <a:pt x="2277453" y="492048"/>
                </a:moveTo>
                <a:lnTo>
                  <a:pt x="2269439" y="443839"/>
                </a:lnTo>
                <a:lnTo>
                  <a:pt x="2247227" y="401599"/>
                </a:lnTo>
                <a:lnTo>
                  <a:pt x="2213546" y="368058"/>
                </a:lnTo>
                <a:lnTo>
                  <a:pt x="2171128" y="345935"/>
                </a:lnTo>
                <a:lnTo>
                  <a:pt x="2122703" y="337947"/>
                </a:lnTo>
                <a:lnTo>
                  <a:pt x="2122716" y="643458"/>
                </a:lnTo>
                <a:lnTo>
                  <a:pt x="2277453" y="643458"/>
                </a:lnTo>
                <a:lnTo>
                  <a:pt x="2277453" y="492048"/>
                </a:lnTo>
                <a:close/>
              </a:path>
              <a:path w="2787015" h="643890">
                <a:moveTo>
                  <a:pt x="2280196" y="0"/>
                </a:moveTo>
                <a:lnTo>
                  <a:pt x="2125459" y="0"/>
                </a:lnTo>
                <a:lnTo>
                  <a:pt x="2125459" y="302806"/>
                </a:lnTo>
                <a:lnTo>
                  <a:pt x="2173884" y="295097"/>
                </a:lnTo>
                <a:lnTo>
                  <a:pt x="2216302" y="273646"/>
                </a:lnTo>
                <a:lnTo>
                  <a:pt x="2249970" y="240906"/>
                </a:lnTo>
                <a:lnTo>
                  <a:pt x="2272182" y="199339"/>
                </a:lnTo>
                <a:lnTo>
                  <a:pt x="2280196" y="151409"/>
                </a:lnTo>
                <a:lnTo>
                  <a:pt x="2280196" y="0"/>
                </a:lnTo>
                <a:close/>
              </a:path>
              <a:path w="2787015" h="643890">
                <a:moveTo>
                  <a:pt x="2453894" y="337947"/>
                </a:moveTo>
                <a:lnTo>
                  <a:pt x="2299157" y="337947"/>
                </a:lnTo>
                <a:lnTo>
                  <a:pt x="2299157" y="489356"/>
                </a:lnTo>
                <a:lnTo>
                  <a:pt x="2307183" y="538594"/>
                </a:lnTo>
                <a:lnTo>
                  <a:pt x="2329408" y="580974"/>
                </a:lnTo>
                <a:lnTo>
                  <a:pt x="2363101" y="614121"/>
                </a:lnTo>
                <a:lnTo>
                  <a:pt x="2405507" y="635736"/>
                </a:lnTo>
                <a:lnTo>
                  <a:pt x="2453894" y="643458"/>
                </a:lnTo>
                <a:lnTo>
                  <a:pt x="2453894" y="337947"/>
                </a:lnTo>
                <a:close/>
              </a:path>
              <a:path w="2787015" h="643890">
                <a:moveTo>
                  <a:pt x="2453894" y="151409"/>
                </a:moveTo>
                <a:lnTo>
                  <a:pt x="2445893" y="103466"/>
                </a:lnTo>
                <a:lnTo>
                  <a:pt x="2423680" y="61899"/>
                </a:lnTo>
                <a:lnTo>
                  <a:pt x="2390000" y="29159"/>
                </a:lnTo>
                <a:lnTo>
                  <a:pt x="2347582" y="7696"/>
                </a:lnTo>
                <a:lnTo>
                  <a:pt x="2299157" y="0"/>
                </a:lnTo>
                <a:lnTo>
                  <a:pt x="2299157" y="302806"/>
                </a:lnTo>
                <a:lnTo>
                  <a:pt x="2453894" y="302806"/>
                </a:lnTo>
                <a:lnTo>
                  <a:pt x="2453894" y="151409"/>
                </a:lnTo>
                <a:close/>
              </a:path>
              <a:path w="2787015" h="643890">
                <a:moveTo>
                  <a:pt x="2630347" y="337947"/>
                </a:moveTo>
                <a:lnTo>
                  <a:pt x="2475611" y="337947"/>
                </a:lnTo>
                <a:lnTo>
                  <a:pt x="2475611" y="643458"/>
                </a:lnTo>
                <a:lnTo>
                  <a:pt x="2524036" y="635736"/>
                </a:lnTo>
                <a:lnTo>
                  <a:pt x="2566454" y="614121"/>
                </a:lnTo>
                <a:lnTo>
                  <a:pt x="2600134" y="580974"/>
                </a:lnTo>
                <a:lnTo>
                  <a:pt x="2622334" y="538594"/>
                </a:lnTo>
                <a:lnTo>
                  <a:pt x="2630347" y="489356"/>
                </a:lnTo>
                <a:lnTo>
                  <a:pt x="2630347" y="337947"/>
                </a:lnTo>
                <a:close/>
              </a:path>
              <a:path w="2787015" h="643890">
                <a:moveTo>
                  <a:pt x="2630347" y="0"/>
                </a:moveTo>
                <a:lnTo>
                  <a:pt x="2475611" y="0"/>
                </a:lnTo>
                <a:lnTo>
                  <a:pt x="2475611" y="151409"/>
                </a:lnTo>
                <a:lnTo>
                  <a:pt x="2483370" y="199339"/>
                </a:lnTo>
                <a:lnTo>
                  <a:pt x="2505062" y="240906"/>
                </a:lnTo>
                <a:lnTo>
                  <a:pt x="2538361" y="273646"/>
                </a:lnTo>
                <a:lnTo>
                  <a:pt x="2580906" y="295097"/>
                </a:lnTo>
                <a:lnTo>
                  <a:pt x="2630347" y="302806"/>
                </a:lnTo>
                <a:lnTo>
                  <a:pt x="2630347" y="0"/>
                </a:lnTo>
                <a:close/>
              </a:path>
              <a:path w="2787015" h="643890">
                <a:moveTo>
                  <a:pt x="2786951" y="337947"/>
                </a:moveTo>
                <a:lnTo>
                  <a:pt x="2652064" y="337947"/>
                </a:lnTo>
                <a:lnTo>
                  <a:pt x="2652064" y="643458"/>
                </a:lnTo>
                <a:lnTo>
                  <a:pt x="2700490" y="635736"/>
                </a:lnTo>
                <a:lnTo>
                  <a:pt x="2742895" y="614121"/>
                </a:lnTo>
                <a:lnTo>
                  <a:pt x="2776575" y="580974"/>
                </a:lnTo>
                <a:lnTo>
                  <a:pt x="2786951" y="561174"/>
                </a:lnTo>
                <a:lnTo>
                  <a:pt x="2786951" y="337947"/>
                </a:lnTo>
                <a:close/>
              </a:path>
              <a:path w="2787015" h="643890">
                <a:moveTo>
                  <a:pt x="2786951" y="0"/>
                </a:moveTo>
                <a:lnTo>
                  <a:pt x="2652064" y="0"/>
                </a:lnTo>
                <a:lnTo>
                  <a:pt x="2652064" y="302806"/>
                </a:lnTo>
                <a:lnTo>
                  <a:pt x="2700490" y="295097"/>
                </a:lnTo>
                <a:lnTo>
                  <a:pt x="2742895" y="273646"/>
                </a:lnTo>
                <a:lnTo>
                  <a:pt x="2776575" y="240906"/>
                </a:lnTo>
                <a:lnTo>
                  <a:pt x="2786951" y="221475"/>
                </a:lnTo>
                <a:lnTo>
                  <a:pt x="2786951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0"/>
              </a:spcBef>
            </a:pPr>
            <a:r>
              <a:rPr sz="3600" spc="-275">
                <a:solidFill>
                  <a:srgbClr val="FFFFFF"/>
                </a:solidFill>
                <a:latin typeface="Trebuchet MS"/>
                <a:cs typeface="Trebuchet MS"/>
              </a:rPr>
              <a:t>Gen-</a:t>
            </a:r>
            <a:r>
              <a:rPr sz="3600" spc="-85">
                <a:solidFill>
                  <a:srgbClr val="FFFFFF"/>
                </a:solidFill>
                <a:latin typeface="Trebuchet MS"/>
                <a:cs typeface="Trebuchet MS"/>
              </a:rPr>
              <a:t>AI</a:t>
            </a:r>
            <a:r>
              <a:rPr sz="3600" spc="-2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35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sz="3600" spc="-2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29">
                <a:solidFill>
                  <a:srgbClr val="FFFFFF"/>
                </a:solidFill>
                <a:latin typeface="Trebuchet MS"/>
                <a:cs typeface="Trebuchet MS"/>
              </a:rPr>
              <a:t>startups</a:t>
            </a:r>
            <a:r>
              <a:rPr sz="3600" spc="-2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31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3600" spc="-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80">
                <a:solidFill>
                  <a:srgbClr val="FFFFFF"/>
                </a:solidFill>
                <a:latin typeface="Trebuchet MS"/>
                <a:cs typeface="Trebuchet MS"/>
              </a:rPr>
              <a:t>real</a:t>
            </a:r>
            <a:r>
              <a:rPr sz="3600" spc="-2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75">
                <a:solidFill>
                  <a:srgbClr val="FFFFFF"/>
                </a:solidFill>
                <a:latin typeface="Trebuchet MS"/>
                <a:cs typeface="Trebuchet MS"/>
              </a:rPr>
              <a:t>products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114" y="997142"/>
            <a:ext cx="5826760" cy="2452370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25"/>
              </a:spcBef>
              <a:buFont typeface="Arial"/>
              <a:buChar char="•"/>
              <a:tabLst>
                <a:tab pos="469265" algn="l"/>
              </a:tabLst>
            </a:pPr>
            <a:r>
              <a:rPr sz="2000" b="1">
                <a:latin typeface="Segoe UI"/>
                <a:cs typeface="Segoe UI"/>
              </a:rPr>
              <a:t>Use</a:t>
            </a:r>
            <a:r>
              <a:rPr sz="2000" b="1" spc="-30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cases</a:t>
            </a:r>
            <a:r>
              <a:rPr sz="2000" b="1" spc="-30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for</a:t>
            </a:r>
            <a:r>
              <a:rPr sz="2000" b="1" spc="-25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real</a:t>
            </a:r>
            <a:r>
              <a:rPr sz="2000" b="1" spc="-15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products</a:t>
            </a:r>
            <a:r>
              <a:rPr sz="2000" b="1" spc="-25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using</a:t>
            </a:r>
            <a:r>
              <a:rPr sz="2000" b="1" spc="-20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Gen</a:t>
            </a:r>
            <a:r>
              <a:rPr sz="2000" b="1" spc="-25">
                <a:latin typeface="Segoe UI"/>
                <a:cs typeface="Segoe UI"/>
              </a:rPr>
              <a:t> AI:</a:t>
            </a:r>
            <a:endParaRPr sz="2000">
              <a:latin typeface="Segoe UI"/>
              <a:cs typeface="Segoe UI"/>
            </a:endParaRPr>
          </a:p>
          <a:p>
            <a:pPr marL="926465" lvl="1" indent="-456565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926465" algn="l"/>
              </a:tabLst>
            </a:pPr>
            <a:r>
              <a:rPr sz="1400" spc="-10">
                <a:latin typeface="Calibri"/>
                <a:cs typeface="Calibri"/>
              </a:rPr>
              <a:t>Loop-</a:t>
            </a:r>
            <a:r>
              <a:rPr sz="1400">
                <a:latin typeface="Calibri"/>
                <a:cs typeface="Calibri"/>
              </a:rPr>
              <a:t>x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(AI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Agents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for</a:t>
            </a:r>
            <a:r>
              <a:rPr sz="1400" spc="-4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different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roles):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https://loop-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x.co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926465" algn="l"/>
              </a:tabLst>
            </a:pPr>
            <a:r>
              <a:rPr sz="1400">
                <a:latin typeface="Calibri"/>
                <a:cs typeface="Calibri"/>
              </a:rPr>
              <a:t>Gemelo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ai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(Twin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AI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creator):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https://gemelo.ai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926465" algn="l"/>
              </a:tabLst>
            </a:pPr>
            <a:r>
              <a:rPr sz="1400">
                <a:latin typeface="Calibri"/>
                <a:cs typeface="Calibri"/>
              </a:rPr>
              <a:t>Apriora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AI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(Recruitment </a:t>
            </a:r>
            <a:r>
              <a:rPr sz="1400">
                <a:latin typeface="Calibri"/>
                <a:cs typeface="Calibri"/>
              </a:rPr>
              <a:t>and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Interviews):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https://www.apriora.ai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926465" algn="l"/>
              </a:tabLst>
            </a:pPr>
            <a:r>
              <a:rPr sz="1400" spc="-10">
                <a:latin typeface="Calibri"/>
                <a:cs typeface="Calibri"/>
              </a:rPr>
              <a:t>Velents</a:t>
            </a:r>
            <a:r>
              <a:rPr sz="1400">
                <a:latin typeface="Calibri"/>
                <a:cs typeface="Calibri"/>
              </a:rPr>
              <a:t> AI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(Recruitment </a:t>
            </a:r>
            <a:r>
              <a:rPr sz="1400">
                <a:latin typeface="Calibri"/>
                <a:cs typeface="Calibri"/>
              </a:rPr>
              <a:t>and </a:t>
            </a:r>
            <a:r>
              <a:rPr sz="1400" spc="-10">
                <a:latin typeface="Calibri"/>
                <a:cs typeface="Calibri"/>
              </a:rPr>
              <a:t>Interviews): </a:t>
            </a:r>
            <a:r>
              <a:rPr sz="1400">
                <a:latin typeface="Calibri"/>
                <a:cs typeface="Calibri"/>
              </a:rPr>
              <a:t>: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https://www.velents.com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926465" algn="l"/>
              </a:tabLst>
            </a:pPr>
            <a:r>
              <a:rPr sz="1400">
                <a:latin typeface="Calibri"/>
                <a:cs typeface="Calibri"/>
              </a:rPr>
              <a:t>Nancy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AI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(Recruitment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and </a:t>
            </a:r>
            <a:r>
              <a:rPr sz="1400" spc="-10">
                <a:latin typeface="Calibri"/>
                <a:cs typeface="Calibri"/>
              </a:rPr>
              <a:t>Interviews):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: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https://nancy-ai.com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926465" algn="l"/>
              </a:tabLst>
            </a:pPr>
            <a:r>
              <a:rPr sz="1400">
                <a:latin typeface="Calibri"/>
                <a:cs typeface="Calibri"/>
              </a:rPr>
              <a:t>Mariana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AI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(Medical):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https://marianaai.com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634640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20">
                <a:moveTo>
                  <a:pt x="0" y="0"/>
                </a:moveTo>
                <a:lnTo>
                  <a:pt x="10516806" y="7124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How</a:t>
            </a:r>
            <a:r>
              <a:rPr sz="2400" spc="-25"/>
              <a:t> </a:t>
            </a:r>
            <a:r>
              <a:rPr sz="2400"/>
              <a:t>to</a:t>
            </a:r>
            <a:r>
              <a:rPr sz="2400" spc="-20"/>
              <a:t> </a:t>
            </a:r>
            <a:r>
              <a:rPr sz="2400"/>
              <a:t>use</a:t>
            </a:r>
            <a:r>
              <a:rPr sz="2400" spc="-25"/>
              <a:t> </a:t>
            </a:r>
            <a:r>
              <a:rPr sz="2400"/>
              <a:t>the</a:t>
            </a:r>
            <a:r>
              <a:rPr sz="2400" spc="-20"/>
              <a:t> </a:t>
            </a:r>
            <a:r>
              <a:rPr sz="2400"/>
              <a:t>AI</a:t>
            </a:r>
            <a:r>
              <a:rPr sz="2400" spc="-15"/>
              <a:t> </a:t>
            </a:r>
            <a:r>
              <a:rPr sz="2400"/>
              <a:t>tools</a:t>
            </a:r>
            <a:r>
              <a:rPr sz="2400" spc="-15"/>
              <a:t> </a:t>
            </a:r>
            <a:r>
              <a:rPr sz="2400" spc="-10"/>
              <a:t>responsibly?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827341" y="6346939"/>
            <a:ext cx="519430" cy="26479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1050" spc="-25">
                <a:solidFill>
                  <a:srgbClr val="FFFFFF"/>
                </a:solidFill>
                <a:latin typeface="Segoe UI"/>
                <a:cs typeface="Segoe UI"/>
              </a:rPr>
              <a:t>12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5594" y="1560721"/>
            <a:ext cx="228897" cy="2335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5594" y="1972201"/>
            <a:ext cx="233475" cy="23354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3528" y="970787"/>
            <a:ext cx="9500870" cy="167258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299085" algn="l"/>
              </a:tabLst>
            </a:pP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As</a:t>
            </a:r>
            <a:r>
              <a:rPr sz="1800" b="1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1800" b="1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 spc="-10">
                <a:solidFill>
                  <a:srgbClr val="333333"/>
                </a:solidFill>
                <a:latin typeface="Arial"/>
                <a:cs typeface="Arial"/>
              </a:rPr>
              <a:t>Student/Learner:</a:t>
            </a:r>
            <a:endParaRPr sz="1800">
              <a:latin typeface="Arial"/>
              <a:cs typeface="Arial"/>
            </a:endParaRPr>
          </a:p>
          <a:p>
            <a:pPr marL="1128395" lvl="1" indent="-658495">
              <a:lnSpc>
                <a:spcPct val="100000"/>
              </a:lnSpc>
              <a:spcBef>
                <a:spcPts val="1085"/>
              </a:spcBef>
              <a:buFont typeface="Arial"/>
              <a:buChar char="•"/>
              <a:tabLst>
                <a:tab pos="1128395" algn="l"/>
              </a:tabLst>
            </a:pP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Use</a:t>
            </a:r>
            <a:r>
              <a:rPr sz="1800" b="1" spc="-10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AI for:</a:t>
            </a:r>
            <a:r>
              <a:rPr sz="1800" b="1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Asking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explanations,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self-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testing,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researching,</a:t>
            </a:r>
            <a:r>
              <a:rPr sz="18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similar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activities.</a:t>
            </a:r>
            <a:endParaRPr sz="1800">
              <a:latin typeface="Arial"/>
              <a:cs typeface="Arial"/>
            </a:endParaRPr>
          </a:p>
          <a:p>
            <a:pPr marL="1128395" lvl="1" indent="-65849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1128395" algn="l"/>
              </a:tabLst>
            </a:pP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Don't</a:t>
            </a:r>
            <a:r>
              <a:rPr sz="1800" b="1" spc="-6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use</a:t>
            </a:r>
            <a:r>
              <a:rPr sz="1800" b="1" spc="-9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b="1" spc="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for:</a:t>
            </a:r>
            <a:r>
              <a:rPr sz="1800" b="1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Assignments,</a:t>
            </a:r>
            <a:r>
              <a:rPr sz="18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projects,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tasks,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or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topics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you're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still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learning.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756285" algn="l"/>
              </a:tabLst>
            </a:pP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Build</a:t>
            </a:r>
            <a:r>
              <a:rPr sz="18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8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skills</a:t>
            </a:r>
            <a:r>
              <a:rPr sz="18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work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effectively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both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8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without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AI.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3528" y="3440684"/>
            <a:ext cx="7660005" cy="208343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299085" algn="l"/>
              </a:tabLst>
            </a:pP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1800" b="1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1800" b="1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Job</a:t>
            </a:r>
            <a:r>
              <a:rPr sz="1800" b="1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or</a:t>
            </a:r>
            <a:r>
              <a:rPr sz="1800" b="1" spc="-10">
                <a:solidFill>
                  <a:srgbClr val="333333"/>
                </a:solidFill>
                <a:latin typeface="Arial"/>
                <a:cs typeface="Arial"/>
              </a:rPr>
              <a:t> Freelancing: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756285" algn="l"/>
              </a:tabLst>
            </a:pP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Check</a:t>
            </a: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first</a:t>
            </a:r>
            <a:r>
              <a:rPr sz="18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if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tool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usage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permitted</a:t>
            </a:r>
            <a:r>
              <a:rPr sz="18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which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allowed.</a:t>
            </a:r>
            <a:endParaRPr sz="1800">
              <a:latin typeface="Segoe UI"/>
              <a:cs typeface="Segoe UI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756285" algn="l"/>
              </a:tabLst>
            </a:pP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8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boost</a:t>
            </a:r>
            <a:r>
              <a:rPr sz="18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productivity</a:t>
            </a:r>
            <a:r>
              <a:rPr sz="18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improve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work.</a:t>
            </a:r>
            <a:endParaRPr sz="1800">
              <a:latin typeface="Segoe UI"/>
              <a:cs typeface="Segoe UI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756285" algn="l"/>
              </a:tabLst>
            </a:pP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Always</a:t>
            </a:r>
            <a:r>
              <a:rPr sz="1800" b="1" spc="-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review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AI-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generated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content</a:t>
            </a:r>
            <a:r>
              <a:rPr sz="18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carefully.</a:t>
            </a:r>
            <a:endParaRPr sz="1800">
              <a:latin typeface="Segoe UI"/>
              <a:cs typeface="Segoe UI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756285" algn="l"/>
              </a:tabLst>
            </a:pPr>
            <a:r>
              <a:rPr sz="1800" b="1" spc="-10">
                <a:solidFill>
                  <a:srgbClr val="333333"/>
                </a:solidFill>
                <a:latin typeface="Segoe UI"/>
                <a:cs typeface="Segoe UI"/>
              </a:rPr>
              <a:t>Don't</a:t>
            </a:r>
            <a:r>
              <a:rPr sz="18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rely</a:t>
            </a:r>
            <a:r>
              <a:rPr sz="1800" b="1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b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have</a:t>
            </a:r>
            <a:r>
              <a:rPr sz="18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no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prior</a:t>
            </a:r>
            <a:r>
              <a:rPr sz="18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knowledge</a:t>
            </a:r>
            <a:r>
              <a:rPr sz="18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of.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77364" y="2824098"/>
            <a:ext cx="86353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Introducing</a:t>
            </a:r>
            <a:r>
              <a:rPr sz="6000" b="0" spc="-25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Generative</a:t>
            </a:r>
            <a:r>
              <a:rPr sz="6000" b="0" spc="-25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 spc="-25">
                <a:solidFill>
                  <a:srgbClr val="000000"/>
                </a:solidFill>
                <a:latin typeface="Segoe UI"/>
                <a:cs typeface="Segoe UI"/>
              </a:rPr>
              <a:t>AI</a:t>
            </a:r>
            <a:endParaRPr sz="60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25"/>
              <a:t>What’s</a:t>
            </a:r>
            <a:r>
              <a:rPr sz="2400" spc="-125"/>
              <a:t> </a:t>
            </a:r>
            <a:r>
              <a:rPr sz="2400"/>
              <a:t>Generative</a:t>
            </a:r>
            <a:r>
              <a:rPr sz="2400" spc="-125"/>
              <a:t> </a:t>
            </a:r>
            <a:r>
              <a:rPr sz="2400" spc="-25"/>
              <a:t>AI?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23671" y="1178179"/>
            <a:ext cx="10546080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Generative</a:t>
            </a:r>
            <a:r>
              <a:rPr sz="1650" b="1" spc="2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AI:</a:t>
            </a:r>
            <a:r>
              <a:rPr sz="1650" b="1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type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/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subset</a:t>
            </a:r>
            <a:r>
              <a:rPr sz="1650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artificial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intelligence</a:t>
            </a:r>
            <a:r>
              <a:rPr sz="1650" spc="2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system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2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produce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various</a:t>
            </a:r>
            <a:r>
              <a:rPr sz="1650" spc="3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types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content,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including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text,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imagery,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audio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synthetic</a:t>
            </a:r>
            <a:r>
              <a:rPr sz="16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650">
              <a:latin typeface="Segoe UI"/>
              <a:cs typeface="Segoe UI"/>
            </a:endParaRPr>
          </a:p>
          <a:p>
            <a:pPr marL="12700" marR="5080">
              <a:lnSpc>
                <a:spcPct val="101800"/>
              </a:lnSpc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Generative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learn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patterns</a:t>
            </a:r>
            <a:r>
              <a:rPr sz="16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structure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input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training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then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generate</a:t>
            </a:r>
            <a:r>
              <a:rPr sz="16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>
                <a:solidFill>
                  <a:srgbClr val="333333"/>
                </a:solidFill>
                <a:latin typeface="Segoe UI"/>
                <a:cs typeface="Segoe UI"/>
              </a:rPr>
              <a:t>data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has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similar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characteristics.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1603" y="2276868"/>
            <a:ext cx="3955414" cy="35867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4893" y="2615712"/>
            <a:ext cx="6554089" cy="244538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8321" y="6356949"/>
            <a:ext cx="172085" cy="20637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50" spc="-25">
                <a:solidFill>
                  <a:srgbClr val="FFFFFF"/>
                </a:solidFill>
                <a:latin typeface="Segoe UI"/>
                <a:cs typeface="Segoe UI"/>
              </a:rPr>
              <a:t>14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3916" y="315683"/>
            <a:ext cx="11670030" cy="6126480"/>
            <a:chOff x="293916" y="315683"/>
            <a:chExt cx="11670030" cy="61264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916" y="315683"/>
              <a:ext cx="11669522" cy="61264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599" y="5638800"/>
              <a:ext cx="587832" cy="3196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AI</a:t>
            </a:r>
            <a:r>
              <a:rPr sz="2400" spc="-25"/>
              <a:t> </a:t>
            </a:r>
            <a:r>
              <a:rPr sz="2400" spc="-10"/>
              <a:t>terms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12</a:t>
            </a:fld>
            <a:endParaRPr spc="-25"/>
          </a:p>
        </p:txBody>
      </p:sp>
      <p:sp>
        <p:nvSpPr>
          <p:cNvPr id="5" name="object 5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6673" y="1015365"/>
            <a:ext cx="11203305" cy="4100481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>
                <a:latin typeface="Calibri"/>
                <a:cs typeface="Calibri"/>
              </a:rPr>
              <a:t>A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Large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Language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Model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(LLM):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advanced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AI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system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trained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understand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generate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human-like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text.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learns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from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massive</a:t>
            </a:r>
            <a:endParaRPr sz="16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</a:pPr>
            <a:r>
              <a:rPr sz="1600">
                <a:latin typeface="Calibri"/>
                <a:cs typeface="Calibri"/>
              </a:rPr>
              <a:t>amounts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text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data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can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answer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questions,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write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content,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assist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conversations.</a:t>
            </a:r>
            <a:endParaRPr sz="1600">
              <a:latin typeface="Calibri"/>
              <a:cs typeface="Calibri"/>
            </a:endParaRPr>
          </a:p>
          <a:p>
            <a:pPr marL="240665" marR="296545" indent="-228600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>
                <a:latin typeface="Calibri"/>
                <a:cs typeface="Calibri"/>
              </a:rPr>
              <a:t>AI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model: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system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trained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recognize </a:t>
            </a:r>
            <a:r>
              <a:rPr sz="1600">
                <a:latin typeface="Calibri"/>
                <a:cs typeface="Calibri"/>
              </a:rPr>
              <a:t>patterns,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make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predictions,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automate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tasks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data.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learns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from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examples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improves </a:t>
            </a:r>
            <a:r>
              <a:rPr sz="1600">
                <a:latin typeface="Calibri"/>
                <a:cs typeface="Calibri"/>
              </a:rPr>
              <a:t>its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performance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over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time..</a:t>
            </a:r>
            <a:endParaRPr sz="1600">
              <a:latin typeface="Calibri"/>
              <a:cs typeface="Calibri"/>
            </a:endParaRPr>
          </a:p>
          <a:p>
            <a:pPr marL="240665" marR="177165" indent="-228600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>
                <a:solidFill>
                  <a:srgbClr val="333333"/>
                </a:solidFill>
                <a:latin typeface="Calibri"/>
                <a:cs typeface="Calibri"/>
              </a:rPr>
              <a:t>Multimodal</a:t>
            </a:r>
            <a:r>
              <a:rPr sz="16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333333"/>
                </a:solidFill>
                <a:latin typeface="Calibri"/>
                <a:cs typeface="Calibri"/>
              </a:rPr>
              <a:t>models:</a:t>
            </a:r>
            <a:r>
              <a:rPr sz="16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6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process</a:t>
            </a:r>
            <a:r>
              <a:rPr sz="16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6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wide</a:t>
            </a:r>
            <a:r>
              <a:rPr sz="16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variety</a:t>
            </a:r>
            <a:r>
              <a:rPr sz="16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6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inputs,</a:t>
            </a:r>
            <a:r>
              <a:rPr sz="16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including</a:t>
            </a:r>
            <a:r>
              <a:rPr sz="16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33333"/>
                </a:solidFill>
                <a:latin typeface="Calibri"/>
                <a:cs typeface="Calibri"/>
              </a:rPr>
              <a:t>text,</a:t>
            </a:r>
            <a:r>
              <a:rPr sz="16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images,</a:t>
            </a:r>
            <a:r>
              <a:rPr sz="16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6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audio,</a:t>
            </a:r>
            <a:r>
              <a:rPr sz="16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6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prompts</a:t>
            </a:r>
            <a:r>
              <a:rPr sz="16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6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33333"/>
                </a:solidFill>
                <a:latin typeface="Calibri"/>
                <a:cs typeface="Calibri"/>
              </a:rPr>
              <a:t>convert</a:t>
            </a:r>
            <a:r>
              <a:rPr sz="16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those</a:t>
            </a:r>
            <a:r>
              <a:rPr sz="16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33333"/>
                </a:solidFill>
                <a:latin typeface="Calibri"/>
                <a:cs typeface="Calibri"/>
              </a:rPr>
              <a:t>prompts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into</a:t>
            </a:r>
            <a:r>
              <a:rPr sz="160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various</a:t>
            </a:r>
            <a:r>
              <a:rPr sz="16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outputs,</a:t>
            </a:r>
            <a:r>
              <a:rPr sz="16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sz="16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just</a:t>
            </a:r>
            <a:r>
              <a:rPr sz="16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source</a:t>
            </a:r>
            <a:r>
              <a:rPr sz="16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33333"/>
                </a:solidFill>
                <a:latin typeface="Calibri"/>
                <a:cs typeface="Calibri"/>
              </a:rPr>
              <a:t>type.</a:t>
            </a:r>
            <a:endParaRPr sz="1600">
              <a:latin typeface="Calibri"/>
              <a:cs typeface="Calibri"/>
            </a:endParaRPr>
          </a:p>
          <a:p>
            <a:pPr marL="240665" marR="29845" indent="-228600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 spc="-10">
                <a:latin typeface="Calibri"/>
                <a:cs typeface="Calibri"/>
              </a:rPr>
              <a:t>Pre-trained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>
                <a:latin typeface="Calibri"/>
                <a:cs typeface="Calibri"/>
              </a:rPr>
              <a:t>Generative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AI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Models: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Previously,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AI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applications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were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predominantly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accessible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developers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machine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learning </a:t>
            </a:r>
            <a:r>
              <a:rPr sz="1600">
                <a:latin typeface="Calibri"/>
                <a:cs typeface="Calibri"/>
              </a:rPr>
              <a:t>experts.</a:t>
            </a:r>
            <a:r>
              <a:rPr sz="1600" spc="-25">
                <a:latin typeface="Calibri"/>
                <a:cs typeface="Calibri"/>
              </a:rPr>
              <a:t> However,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emergence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Generative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Models,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utilization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has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extended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end-users.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Developers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can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now </a:t>
            </a:r>
            <a:r>
              <a:rPr sz="1600">
                <a:latin typeface="Calibri"/>
                <a:cs typeface="Calibri"/>
              </a:rPr>
              <a:t>easily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employ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Models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without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necessity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create,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train,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host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models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from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scratch,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thanks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availability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pre-trained models.</a:t>
            </a:r>
            <a:endParaRPr sz="1600">
              <a:latin typeface="Calibri"/>
              <a:cs typeface="Calibri"/>
            </a:endParaRPr>
          </a:p>
          <a:p>
            <a:pPr marL="240665" marR="156210" indent="-22860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 spc="-10">
                <a:latin typeface="Calibri"/>
                <a:cs typeface="Calibri"/>
              </a:rPr>
              <a:t>Reasoning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Model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type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system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designed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simulate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human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logical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thinking.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processes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information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through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set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rules </a:t>
            </a:r>
            <a:r>
              <a:rPr sz="1600">
                <a:latin typeface="Calibri"/>
                <a:cs typeface="Calibri"/>
              </a:rPr>
              <a:t>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logic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draw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conclusions,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solve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problems,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make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decisions.</a:t>
            </a:r>
            <a:endParaRPr sz="1600">
              <a:latin typeface="Calibri"/>
              <a:cs typeface="Calibri"/>
            </a:endParaRPr>
          </a:p>
          <a:p>
            <a:pPr marL="240665" marR="267970" indent="-228600">
              <a:lnSpc>
                <a:spcPct val="100000"/>
              </a:lnSpc>
              <a:spcBef>
                <a:spcPts val="985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 spc="-20">
                <a:latin typeface="Calibri"/>
                <a:cs typeface="Calibri"/>
              </a:rPr>
              <a:t>Transformer</a:t>
            </a:r>
            <a:r>
              <a:rPr sz="1600" b="1" spc="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deep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learning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architecture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developed </a:t>
            </a:r>
            <a:r>
              <a:rPr sz="1600">
                <a:latin typeface="Calibri"/>
                <a:cs typeface="Calibri"/>
              </a:rPr>
              <a:t>by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researchers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Google,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that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learns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context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thus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meaning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by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tracking relationships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sequential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data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like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words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sentence.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AI</a:t>
            </a:r>
            <a:r>
              <a:rPr sz="2400" spc="-20"/>
              <a:t> </a:t>
            </a:r>
            <a:r>
              <a:rPr sz="2400"/>
              <a:t>terms</a:t>
            </a:r>
            <a:r>
              <a:rPr sz="2400" spc="-20"/>
              <a:t> </a:t>
            </a:r>
            <a:r>
              <a:rPr sz="2400" spc="-10"/>
              <a:t>(Cont.)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13</a:t>
            </a:fld>
            <a:endParaRPr spc="-25"/>
          </a:p>
        </p:txBody>
      </p:sp>
      <p:sp>
        <p:nvSpPr>
          <p:cNvPr id="5" name="object 5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6673" y="1021460"/>
            <a:ext cx="11226800" cy="3806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>
                <a:latin typeface="Segoe UI"/>
                <a:cs typeface="Segoe UI"/>
              </a:rPr>
              <a:t>Prompt:</a:t>
            </a:r>
            <a:r>
              <a:rPr sz="1800" b="1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is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text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input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given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to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an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AI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model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to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elicit</a:t>
            </a:r>
            <a:r>
              <a:rPr sz="1800" spc="-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specific response</a:t>
            </a:r>
            <a:r>
              <a:rPr sz="1800" spc="-6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or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output,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guiding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the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model's</a:t>
            </a:r>
            <a:endParaRPr sz="1800">
              <a:latin typeface="Segoe UI"/>
              <a:cs typeface="Segoe UI"/>
            </a:endParaRPr>
          </a:p>
          <a:p>
            <a:pPr marL="240665">
              <a:lnSpc>
                <a:spcPct val="100000"/>
              </a:lnSpc>
            </a:pPr>
            <a:r>
              <a:rPr sz="1800">
                <a:latin typeface="Segoe UI"/>
                <a:cs typeface="Segoe UI"/>
              </a:rPr>
              <a:t>generation</a:t>
            </a:r>
            <a:r>
              <a:rPr sz="1800" spc="-5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process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or</a:t>
            </a:r>
            <a:r>
              <a:rPr sz="1800" spc="-50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decision-making.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770"/>
              </a:spcBef>
            </a:pPr>
            <a:endParaRPr sz="1800">
              <a:latin typeface="Segoe UI"/>
              <a:cs typeface="Segoe UI"/>
            </a:endParaRPr>
          </a:p>
          <a:p>
            <a:pPr marL="240665" marR="45720" indent="-228600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800" b="1">
                <a:latin typeface="Segoe UI"/>
                <a:cs typeface="Segoe UI"/>
              </a:rPr>
              <a:t>Completion:</a:t>
            </a:r>
            <a:r>
              <a:rPr sz="1800" b="1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is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the</a:t>
            </a:r>
            <a:r>
              <a:rPr sz="1800" spc="-5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output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or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response</a:t>
            </a:r>
            <a:r>
              <a:rPr sz="1800" spc="-6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generated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by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an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AI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model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based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on</a:t>
            </a:r>
            <a:r>
              <a:rPr sz="1800" spc="-5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given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prompt,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representing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 spc="-25">
                <a:latin typeface="Segoe UI"/>
                <a:cs typeface="Segoe UI"/>
              </a:rPr>
              <a:t>the </a:t>
            </a:r>
            <a:r>
              <a:rPr sz="1800">
                <a:latin typeface="Segoe UI"/>
                <a:cs typeface="Segoe UI"/>
              </a:rPr>
              <a:t>model's</a:t>
            </a:r>
            <a:r>
              <a:rPr sz="1800" spc="-5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attempt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to</a:t>
            </a:r>
            <a:r>
              <a:rPr sz="1800" spc="-5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complete,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 spc="-20">
                <a:latin typeface="Segoe UI"/>
                <a:cs typeface="Segoe UI"/>
              </a:rPr>
              <a:t>answer,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or</a:t>
            </a:r>
            <a:r>
              <a:rPr sz="1800" spc="-6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extend</a:t>
            </a:r>
            <a:r>
              <a:rPr sz="1800" spc="-6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the</a:t>
            </a:r>
            <a:r>
              <a:rPr sz="1800" spc="-6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input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it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received.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760"/>
              </a:spcBef>
              <a:buFont typeface="Arial"/>
              <a:buChar char="•"/>
            </a:pPr>
            <a:endParaRPr sz="1800">
              <a:latin typeface="Segoe UI"/>
              <a:cs typeface="Segoe UI"/>
            </a:endParaRPr>
          </a:p>
          <a:p>
            <a:pPr marL="240665" marR="431165" indent="-228600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800" b="1" spc="-20">
                <a:latin typeface="Segoe UI"/>
                <a:cs typeface="Segoe UI"/>
              </a:rPr>
              <a:t>Tokens:</a:t>
            </a:r>
            <a:r>
              <a:rPr sz="1800" b="1" spc="-6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For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text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tokens</a:t>
            </a:r>
            <a:r>
              <a:rPr sz="1800" spc="-5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Azure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OpenAI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processes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text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by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breaking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it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down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into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tokens.</a:t>
            </a:r>
            <a:r>
              <a:rPr sz="1800" spc="-6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For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example:</a:t>
            </a:r>
            <a:r>
              <a:rPr sz="1800" spc="-125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1,000 </a:t>
            </a:r>
            <a:r>
              <a:rPr sz="1800">
                <a:latin typeface="Segoe UI"/>
                <a:cs typeface="Segoe UI"/>
              </a:rPr>
              <a:t>tokens</a:t>
            </a:r>
            <a:r>
              <a:rPr sz="1800" spc="-7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is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about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750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words.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770"/>
              </a:spcBef>
              <a:buFont typeface="Arial"/>
              <a:buChar char="•"/>
            </a:pPr>
            <a:endParaRPr sz="1800">
              <a:latin typeface="Segoe UI"/>
              <a:cs typeface="Segoe UI"/>
            </a:endParaRPr>
          </a:p>
          <a:p>
            <a:pPr marL="240665" marR="5080" indent="-228600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800" b="1">
                <a:latin typeface="Segoe UI"/>
                <a:cs typeface="Segoe UI"/>
              </a:rPr>
              <a:t>Prompt</a:t>
            </a:r>
            <a:r>
              <a:rPr sz="1800" b="1" spc="-35">
                <a:latin typeface="Segoe UI"/>
                <a:cs typeface="Segoe UI"/>
              </a:rPr>
              <a:t> </a:t>
            </a:r>
            <a:r>
              <a:rPr sz="1800" b="1">
                <a:latin typeface="Segoe UI"/>
                <a:cs typeface="Segoe UI"/>
              </a:rPr>
              <a:t>engineering</a:t>
            </a:r>
            <a:r>
              <a:rPr sz="1800" b="1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is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the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process</a:t>
            </a:r>
            <a:r>
              <a:rPr sz="1800" spc="-1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of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structuring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an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instruction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that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can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be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interpreted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and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understood</a:t>
            </a:r>
            <a:r>
              <a:rPr sz="1800" spc="-5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by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 spc="-50">
                <a:latin typeface="Segoe UI"/>
                <a:cs typeface="Segoe UI"/>
              </a:rPr>
              <a:t>a </a:t>
            </a:r>
            <a:r>
              <a:rPr sz="1800">
                <a:latin typeface="Segoe UI"/>
                <a:cs typeface="Segoe UI"/>
              </a:rPr>
              <a:t>generative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AI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model.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prompt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is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natural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language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text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describing</a:t>
            </a:r>
            <a:r>
              <a:rPr sz="1800" spc="-1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the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task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that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an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AI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should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perform.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AI</a:t>
            </a:r>
            <a:r>
              <a:rPr sz="2400" spc="-20"/>
              <a:t> </a:t>
            </a:r>
            <a:r>
              <a:rPr sz="2400"/>
              <a:t>terms</a:t>
            </a:r>
            <a:r>
              <a:rPr sz="2400" spc="-20"/>
              <a:t> </a:t>
            </a:r>
            <a:r>
              <a:rPr sz="2400" spc="-10"/>
              <a:t>(Cont.)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14</a:t>
            </a:fld>
            <a:endParaRPr spc="-25"/>
          </a:p>
        </p:txBody>
      </p:sp>
      <p:sp>
        <p:nvSpPr>
          <p:cNvPr id="5" name="object 5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6673" y="1021460"/>
            <a:ext cx="11029315" cy="220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b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Agent</a:t>
            </a:r>
            <a:r>
              <a:rPr sz="18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system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perceive</a:t>
            </a:r>
            <a:r>
              <a:rPr sz="18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8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environment,</a:t>
            </a: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process</a:t>
            </a:r>
            <a:r>
              <a:rPr sz="18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information,</a:t>
            </a:r>
            <a:r>
              <a:rPr sz="18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make</a:t>
            </a:r>
            <a:r>
              <a:rPr sz="18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decisions,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take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actions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achieve</a:t>
            </a:r>
            <a:r>
              <a:rPr sz="18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goals.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agents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8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operate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autonomously</a:t>
            </a:r>
            <a:r>
              <a:rPr sz="18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interact</a:t>
            </a:r>
            <a:r>
              <a:rPr sz="18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8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users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other systems.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770"/>
              </a:spcBef>
              <a:buClr>
                <a:srgbClr val="333333"/>
              </a:buClr>
              <a:buFont typeface="Arial"/>
              <a:buChar char="•"/>
            </a:pPr>
            <a:endParaRPr sz="1800">
              <a:latin typeface="Segoe UI"/>
              <a:cs typeface="Segoe UI"/>
            </a:endParaRPr>
          </a:p>
          <a:p>
            <a:pPr marL="240665" marR="282575" indent="-228600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Retrieval-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Augmented</a:t>
            </a:r>
            <a:r>
              <a:rPr sz="18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18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(RAG)</a:t>
            </a:r>
            <a:r>
              <a:rPr sz="18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technique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combines</a:t>
            </a:r>
            <a:r>
              <a:rPr sz="18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8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retrieval</a:t>
            </a:r>
            <a:r>
              <a:rPr sz="18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with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text</a:t>
            </a: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produce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accurate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up-to-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date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responses.</a:t>
            </a:r>
            <a:r>
              <a:rPr sz="18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allows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spc="-10">
                <a:solidFill>
                  <a:srgbClr val="333333"/>
                </a:solidFill>
                <a:latin typeface="Segoe UI"/>
                <a:cs typeface="Segoe UI"/>
              </a:rPr>
              <a:t>retrieve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documents</a:t>
            </a:r>
            <a:r>
              <a:rPr sz="18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facts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external</a:t>
            </a:r>
            <a:r>
              <a:rPr sz="18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sources</a:t>
            </a:r>
            <a:r>
              <a:rPr sz="18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before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generating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8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136773" y="2824098"/>
            <a:ext cx="59194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Models</a:t>
            </a:r>
            <a:r>
              <a:rPr sz="6000" b="0" spc="-18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and</a:t>
            </a:r>
            <a:r>
              <a:rPr sz="6000" b="0" spc="-16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 spc="-520">
                <a:solidFill>
                  <a:srgbClr val="000000"/>
                </a:solidFill>
                <a:latin typeface="Segoe UI"/>
                <a:cs typeface="Segoe UI"/>
              </a:rPr>
              <a:t>T</a:t>
            </a:r>
            <a:r>
              <a:rPr sz="6000" b="0" spc="70">
                <a:solidFill>
                  <a:srgbClr val="000000"/>
                </a:solidFill>
                <a:latin typeface="Segoe UI"/>
                <a:cs typeface="Segoe UI"/>
              </a:rPr>
              <a:t>ools</a:t>
            </a:r>
            <a:endParaRPr sz="60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23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7600" y="2220544"/>
            <a:ext cx="2998470" cy="193738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 marR="5080">
              <a:lnSpc>
                <a:spcPts val="7130"/>
              </a:lnSpc>
              <a:spcBef>
                <a:spcPts val="990"/>
              </a:spcBef>
            </a:pPr>
            <a:r>
              <a:rPr sz="6600" spc="-10"/>
              <a:t>OpenAI Models</a:t>
            </a:r>
            <a:endParaRPr sz="6600"/>
          </a:p>
        </p:txBody>
      </p:sp>
      <p:grpSp>
        <p:nvGrpSpPr>
          <p:cNvPr id="3" name="object 3"/>
          <p:cNvGrpSpPr/>
          <p:nvPr/>
        </p:nvGrpSpPr>
        <p:grpSpPr>
          <a:xfrm>
            <a:off x="624027" y="4374546"/>
            <a:ext cx="3293745" cy="85090"/>
            <a:chOff x="624027" y="4374546"/>
            <a:chExt cx="3293745" cy="85090"/>
          </a:xfrm>
        </p:grpSpPr>
        <p:sp>
          <p:nvSpPr>
            <p:cNvPr id="4" name="object 4"/>
            <p:cNvSpPr/>
            <p:nvPr/>
          </p:nvSpPr>
          <p:spPr>
            <a:xfrm>
              <a:off x="643280" y="4398458"/>
              <a:ext cx="3255645" cy="40005"/>
            </a:xfrm>
            <a:custGeom>
              <a:avLst/>
              <a:gdLst/>
              <a:ahLst/>
              <a:cxnLst/>
              <a:rect l="l" t="t" r="r" b="b"/>
              <a:pathLst>
                <a:path w="3255645" h="40004">
                  <a:moveTo>
                    <a:pt x="951850" y="34"/>
                  </a:moveTo>
                  <a:lnTo>
                    <a:pt x="910602" y="0"/>
                  </a:lnTo>
                  <a:lnTo>
                    <a:pt x="870692" y="738"/>
                  </a:lnTo>
                  <a:lnTo>
                    <a:pt x="830042" y="2102"/>
                  </a:lnTo>
                  <a:lnTo>
                    <a:pt x="682863" y="8467"/>
                  </a:lnTo>
                  <a:lnTo>
                    <a:pt x="558238" y="13013"/>
                  </a:lnTo>
                  <a:lnTo>
                    <a:pt x="409531" y="18954"/>
                  </a:lnTo>
                  <a:lnTo>
                    <a:pt x="365933" y="20377"/>
                  </a:lnTo>
                  <a:lnTo>
                    <a:pt x="322976" y="21332"/>
                  </a:lnTo>
                  <a:lnTo>
                    <a:pt x="279256" y="21704"/>
                  </a:lnTo>
                  <a:lnTo>
                    <a:pt x="233367" y="21381"/>
                  </a:lnTo>
                  <a:lnTo>
                    <a:pt x="183903" y="20248"/>
                  </a:lnTo>
                  <a:lnTo>
                    <a:pt x="129457" y="18192"/>
                  </a:lnTo>
                  <a:lnTo>
                    <a:pt x="68625" y="15098"/>
                  </a:lnTo>
                  <a:lnTo>
                    <a:pt x="0" y="10854"/>
                  </a:lnTo>
                  <a:lnTo>
                    <a:pt x="368" y="17712"/>
                  </a:lnTo>
                  <a:lnTo>
                    <a:pt x="838" y="20379"/>
                  </a:lnTo>
                  <a:lnTo>
                    <a:pt x="0" y="29142"/>
                  </a:lnTo>
                  <a:lnTo>
                    <a:pt x="45458" y="28859"/>
                  </a:lnTo>
                  <a:lnTo>
                    <a:pt x="90440" y="28948"/>
                  </a:lnTo>
                  <a:lnTo>
                    <a:pt x="135398" y="29319"/>
                  </a:lnTo>
                  <a:lnTo>
                    <a:pt x="375736" y="32326"/>
                  </a:lnTo>
                  <a:lnTo>
                    <a:pt x="430092" y="32538"/>
                  </a:lnTo>
                  <a:lnTo>
                    <a:pt x="487604" y="32415"/>
                  </a:lnTo>
                  <a:lnTo>
                    <a:pt x="548725" y="31866"/>
                  </a:lnTo>
                  <a:lnTo>
                    <a:pt x="613911" y="30805"/>
                  </a:lnTo>
                  <a:lnTo>
                    <a:pt x="752500" y="27631"/>
                  </a:lnTo>
                  <a:lnTo>
                    <a:pt x="815466" y="26975"/>
                  </a:lnTo>
                  <a:lnTo>
                    <a:pt x="873273" y="27009"/>
                  </a:lnTo>
                  <a:lnTo>
                    <a:pt x="926680" y="27569"/>
                  </a:lnTo>
                  <a:lnTo>
                    <a:pt x="976446" y="28490"/>
                  </a:lnTo>
                  <a:lnTo>
                    <a:pt x="1111493" y="31778"/>
                  </a:lnTo>
                  <a:lnTo>
                    <a:pt x="1154289" y="32501"/>
                  </a:lnTo>
                  <a:lnTo>
                    <a:pt x="1197240" y="32763"/>
                  </a:lnTo>
                  <a:lnTo>
                    <a:pt x="1241105" y="32400"/>
                  </a:lnTo>
                  <a:lnTo>
                    <a:pt x="1286645" y="31248"/>
                  </a:lnTo>
                  <a:lnTo>
                    <a:pt x="1389114" y="26534"/>
                  </a:lnTo>
                  <a:lnTo>
                    <a:pt x="1437021" y="24855"/>
                  </a:lnTo>
                  <a:lnTo>
                    <a:pt x="1480254" y="23969"/>
                  </a:lnTo>
                  <a:lnTo>
                    <a:pt x="1520731" y="23740"/>
                  </a:lnTo>
                  <a:lnTo>
                    <a:pt x="1560369" y="24033"/>
                  </a:lnTo>
                  <a:lnTo>
                    <a:pt x="1748882" y="27705"/>
                  </a:lnTo>
                  <a:lnTo>
                    <a:pt x="1813086" y="28570"/>
                  </a:lnTo>
                  <a:lnTo>
                    <a:pt x="1887956" y="29142"/>
                  </a:lnTo>
                  <a:lnTo>
                    <a:pt x="1950953" y="29032"/>
                  </a:lnTo>
                  <a:lnTo>
                    <a:pt x="2012795" y="28269"/>
                  </a:lnTo>
                  <a:lnTo>
                    <a:pt x="2073316" y="27021"/>
                  </a:lnTo>
                  <a:lnTo>
                    <a:pt x="2132349" y="25454"/>
                  </a:lnTo>
                  <a:lnTo>
                    <a:pt x="2298849" y="20522"/>
                  </a:lnTo>
                  <a:lnTo>
                    <a:pt x="2350260" y="19358"/>
                  </a:lnTo>
                  <a:lnTo>
                    <a:pt x="2399348" y="18714"/>
                  </a:lnTo>
                  <a:lnTo>
                    <a:pt x="2445947" y="18756"/>
                  </a:lnTo>
                  <a:lnTo>
                    <a:pt x="2489889" y="19653"/>
                  </a:lnTo>
                  <a:lnTo>
                    <a:pt x="2531009" y="21571"/>
                  </a:lnTo>
                  <a:lnTo>
                    <a:pt x="2569137" y="24678"/>
                  </a:lnTo>
                  <a:lnTo>
                    <a:pt x="2604109" y="29142"/>
                  </a:lnTo>
                  <a:lnTo>
                    <a:pt x="2643462" y="33860"/>
                  </a:lnTo>
                  <a:lnTo>
                    <a:pt x="2688930" y="37017"/>
                  </a:lnTo>
                  <a:lnTo>
                    <a:pt x="2739333" y="38824"/>
                  </a:lnTo>
                  <a:lnTo>
                    <a:pt x="2793490" y="39493"/>
                  </a:lnTo>
                  <a:lnTo>
                    <a:pt x="2850221" y="39235"/>
                  </a:lnTo>
                  <a:lnTo>
                    <a:pt x="2908347" y="38261"/>
                  </a:lnTo>
                  <a:lnTo>
                    <a:pt x="2966686" y="36783"/>
                  </a:lnTo>
                  <a:lnTo>
                    <a:pt x="3178573" y="30046"/>
                  </a:lnTo>
                  <a:lnTo>
                    <a:pt x="3220276" y="29213"/>
                  </a:lnTo>
                  <a:lnTo>
                    <a:pt x="3255111" y="29142"/>
                  </a:lnTo>
                  <a:lnTo>
                    <a:pt x="3255492" y="20252"/>
                  </a:lnTo>
                  <a:lnTo>
                    <a:pt x="3254857" y="15299"/>
                  </a:lnTo>
                  <a:lnTo>
                    <a:pt x="3255111" y="10854"/>
                  </a:lnTo>
                  <a:lnTo>
                    <a:pt x="3201431" y="15877"/>
                  </a:lnTo>
                  <a:lnTo>
                    <a:pt x="3146572" y="18987"/>
                  </a:lnTo>
                  <a:lnTo>
                    <a:pt x="3090931" y="20461"/>
                  </a:lnTo>
                  <a:lnTo>
                    <a:pt x="3034903" y="20575"/>
                  </a:lnTo>
                  <a:lnTo>
                    <a:pt x="2978886" y="19603"/>
                  </a:lnTo>
                  <a:lnTo>
                    <a:pt x="2923275" y="17822"/>
                  </a:lnTo>
                  <a:lnTo>
                    <a:pt x="2868467" y="15507"/>
                  </a:lnTo>
                  <a:lnTo>
                    <a:pt x="2712821" y="8117"/>
                  </a:lnTo>
                  <a:lnTo>
                    <a:pt x="2665186" y="6423"/>
                  </a:lnTo>
                  <a:lnTo>
                    <a:pt x="2620335" y="5575"/>
                  </a:lnTo>
                  <a:lnTo>
                    <a:pt x="2578663" y="5847"/>
                  </a:lnTo>
                  <a:lnTo>
                    <a:pt x="2540568" y="7515"/>
                  </a:lnTo>
                  <a:lnTo>
                    <a:pt x="2463404" y="15123"/>
                  </a:lnTo>
                  <a:lnTo>
                    <a:pt x="2415044" y="17539"/>
                  </a:lnTo>
                  <a:lnTo>
                    <a:pt x="2362498" y="18427"/>
                  </a:lnTo>
                  <a:lnTo>
                    <a:pt x="2306896" y="18107"/>
                  </a:lnTo>
                  <a:lnTo>
                    <a:pt x="2249372" y="16904"/>
                  </a:lnTo>
                  <a:lnTo>
                    <a:pt x="2191057" y="15140"/>
                  </a:lnTo>
                  <a:lnTo>
                    <a:pt x="2076584" y="11221"/>
                  </a:lnTo>
                  <a:lnTo>
                    <a:pt x="2022689" y="9711"/>
                  </a:lnTo>
                  <a:lnTo>
                    <a:pt x="1972532" y="8931"/>
                  </a:lnTo>
                  <a:lnTo>
                    <a:pt x="1927243" y="9205"/>
                  </a:lnTo>
                  <a:lnTo>
                    <a:pt x="1887956" y="10854"/>
                  </a:lnTo>
                  <a:lnTo>
                    <a:pt x="1854779" y="12937"/>
                  </a:lnTo>
                  <a:lnTo>
                    <a:pt x="1817095" y="14953"/>
                  </a:lnTo>
                  <a:lnTo>
                    <a:pt x="1775340" y="16838"/>
                  </a:lnTo>
                  <a:lnTo>
                    <a:pt x="1729950" y="18530"/>
                  </a:lnTo>
                  <a:lnTo>
                    <a:pt x="1681358" y="19964"/>
                  </a:lnTo>
                  <a:lnTo>
                    <a:pt x="1630001" y="21078"/>
                  </a:lnTo>
                  <a:lnTo>
                    <a:pt x="1576314" y="21808"/>
                  </a:lnTo>
                  <a:lnTo>
                    <a:pt x="1520731" y="22091"/>
                  </a:lnTo>
                  <a:lnTo>
                    <a:pt x="1463689" y="21863"/>
                  </a:lnTo>
                  <a:lnTo>
                    <a:pt x="1405621" y="21062"/>
                  </a:lnTo>
                  <a:lnTo>
                    <a:pt x="1346963" y="19624"/>
                  </a:lnTo>
                  <a:lnTo>
                    <a:pt x="1288151" y="17486"/>
                  </a:lnTo>
                  <a:lnTo>
                    <a:pt x="1229619" y="14583"/>
                  </a:lnTo>
                  <a:lnTo>
                    <a:pt x="1104413" y="6251"/>
                  </a:lnTo>
                  <a:lnTo>
                    <a:pt x="1046677" y="3012"/>
                  </a:lnTo>
                  <a:lnTo>
                    <a:pt x="996515" y="989"/>
                  </a:lnTo>
                  <a:lnTo>
                    <a:pt x="951850" y="34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3077" y="4393596"/>
              <a:ext cx="3255645" cy="46990"/>
            </a:xfrm>
            <a:custGeom>
              <a:avLst/>
              <a:gdLst/>
              <a:ahLst/>
              <a:cxnLst/>
              <a:rect l="l" t="t" r="r" b="b"/>
              <a:pathLst>
                <a:path w="3255645" h="46989">
                  <a:moveTo>
                    <a:pt x="203" y="15716"/>
                  </a:moveTo>
                  <a:lnTo>
                    <a:pt x="59841" y="10671"/>
                  </a:lnTo>
                  <a:lnTo>
                    <a:pt x="118551" y="6632"/>
                  </a:lnTo>
                  <a:lnTo>
                    <a:pt x="176169" y="3571"/>
                  </a:lnTo>
                  <a:lnTo>
                    <a:pt x="232532" y="1464"/>
                  </a:lnTo>
                  <a:lnTo>
                    <a:pt x="287476" y="282"/>
                  </a:lnTo>
                  <a:lnTo>
                    <a:pt x="340839" y="0"/>
                  </a:lnTo>
                  <a:lnTo>
                    <a:pt x="392457" y="590"/>
                  </a:lnTo>
                  <a:lnTo>
                    <a:pt x="442167" y="2028"/>
                  </a:lnTo>
                  <a:lnTo>
                    <a:pt x="489807" y="4286"/>
                  </a:lnTo>
                  <a:lnTo>
                    <a:pt x="535212" y="7337"/>
                  </a:lnTo>
                  <a:lnTo>
                    <a:pt x="578220" y="11156"/>
                  </a:lnTo>
                  <a:lnTo>
                    <a:pt x="618667" y="15716"/>
                  </a:lnTo>
                  <a:lnTo>
                    <a:pt x="655567" y="19595"/>
                  </a:lnTo>
                  <a:lnTo>
                    <a:pt x="694145" y="22301"/>
                  </a:lnTo>
                  <a:lnTo>
                    <a:pt x="734543" y="23977"/>
                  </a:lnTo>
                  <a:lnTo>
                    <a:pt x="776902" y="24768"/>
                  </a:lnTo>
                  <a:lnTo>
                    <a:pt x="821363" y="24817"/>
                  </a:lnTo>
                  <a:lnTo>
                    <a:pt x="868067" y="24267"/>
                  </a:lnTo>
                  <a:lnTo>
                    <a:pt x="917156" y="23262"/>
                  </a:lnTo>
                  <a:lnTo>
                    <a:pt x="968771" y="21945"/>
                  </a:lnTo>
                  <a:lnTo>
                    <a:pt x="1023052" y="20460"/>
                  </a:lnTo>
                  <a:lnTo>
                    <a:pt x="1080141" y="18952"/>
                  </a:lnTo>
                  <a:lnTo>
                    <a:pt x="1140180" y="17562"/>
                  </a:lnTo>
                  <a:lnTo>
                    <a:pt x="1203309" y="16436"/>
                  </a:lnTo>
                  <a:lnTo>
                    <a:pt x="1269669" y="15716"/>
                  </a:lnTo>
                  <a:lnTo>
                    <a:pt x="1335545" y="15489"/>
                  </a:lnTo>
                  <a:lnTo>
                    <a:pt x="1397446" y="15678"/>
                  </a:lnTo>
                  <a:lnTo>
                    <a:pt x="1455852" y="16179"/>
                  </a:lnTo>
                  <a:lnTo>
                    <a:pt x="1511244" y="16889"/>
                  </a:lnTo>
                  <a:lnTo>
                    <a:pt x="1564101" y="17707"/>
                  </a:lnTo>
                  <a:lnTo>
                    <a:pt x="1614903" y="18527"/>
                  </a:lnTo>
                  <a:lnTo>
                    <a:pt x="1664131" y="19248"/>
                  </a:lnTo>
                  <a:lnTo>
                    <a:pt x="1712264" y="19767"/>
                  </a:lnTo>
                  <a:lnTo>
                    <a:pt x="1759782" y="19980"/>
                  </a:lnTo>
                  <a:lnTo>
                    <a:pt x="1807166" y="19784"/>
                  </a:lnTo>
                  <a:lnTo>
                    <a:pt x="1854895" y="19077"/>
                  </a:lnTo>
                  <a:lnTo>
                    <a:pt x="1903450" y="17755"/>
                  </a:lnTo>
                  <a:lnTo>
                    <a:pt x="1953310" y="15716"/>
                  </a:lnTo>
                  <a:lnTo>
                    <a:pt x="2004981" y="13847"/>
                  </a:lnTo>
                  <a:lnTo>
                    <a:pt x="2058413" y="13030"/>
                  </a:lnTo>
                  <a:lnTo>
                    <a:pt x="2113167" y="13062"/>
                  </a:lnTo>
                  <a:lnTo>
                    <a:pt x="2168804" y="13743"/>
                  </a:lnTo>
                  <a:lnTo>
                    <a:pt x="2224885" y="14869"/>
                  </a:lnTo>
                  <a:lnTo>
                    <a:pt x="2280971" y="16240"/>
                  </a:lnTo>
                  <a:lnTo>
                    <a:pt x="2336623" y="17653"/>
                  </a:lnTo>
                  <a:lnTo>
                    <a:pt x="2391401" y="18907"/>
                  </a:lnTo>
                  <a:lnTo>
                    <a:pt x="2444867" y="19799"/>
                  </a:lnTo>
                  <a:lnTo>
                    <a:pt x="2496581" y="20128"/>
                  </a:lnTo>
                  <a:lnTo>
                    <a:pt x="2546105" y="19691"/>
                  </a:lnTo>
                  <a:lnTo>
                    <a:pt x="2592999" y="18288"/>
                  </a:lnTo>
                  <a:lnTo>
                    <a:pt x="2636824" y="15716"/>
                  </a:lnTo>
                  <a:lnTo>
                    <a:pt x="2684804" y="12856"/>
                  </a:lnTo>
                  <a:lnTo>
                    <a:pt x="2736763" y="11191"/>
                  </a:lnTo>
                  <a:lnTo>
                    <a:pt x="2791703" y="10519"/>
                  </a:lnTo>
                  <a:lnTo>
                    <a:pt x="2848623" y="10636"/>
                  </a:lnTo>
                  <a:lnTo>
                    <a:pt x="2906523" y="11340"/>
                  </a:lnTo>
                  <a:lnTo>
                    <a:pt x="2964405" y="12430"/>
                  </a:lnTo>
                  <a:lnTo>
                    <a:pt x="3021268" y="13702"/>
                  </a:lnTo>
                  <a:lnTo>
                    <a:pt x="3076113" y="14954"/>
                  </a:lnTo>
                  <a:lnTo>
                    <a:pt x="3127939" y="15984"/>
                  </a:lnTo>
                  <a:lnTo>
                    <a:pt x="3175748" y="16589"/>
                  </a:lnTo>
                  <a:lnTo>
                    <a:pt x="3218540" y="16567"/>
                  </a:lnTo>
                  <a:lnTo>
                    <a:pt x="3255314" y="15716"/>
                  </a:lnTo>
                  <a:lnTo>
                    <a:pt x="3254552" y="23844"/>
                  </a:lnTo>
                  <a:lnTo>
                    <a:pt x="3254933" y="27781"/>
                  </a:lnTo>
                  <a:lnTo>
                    <a:pt x="3255314" y="34004"/>
                  </a:lnTo>
                  <a:lnTo>
                    <a:pt x="3216198" y="34740"/>
                  </a:lnTo>
                  <a:lnTo>
                    <a:pt x="3170970" y="34950"/>
                  </a:lnTo>
                  <a:lnTo>
                    <a:pt x="3120696" y="34737"/>
                  </a:lnTo>
                  <a:lnTo>
                    <a:pt x="3066439" y="34204"/>
                  </a:lnTo>
                  <a:lnTo>
                    <a:pt x="3009265" y="33454"/>
                  </a:lnTo>
                  <a:lnTo>
                    <a:pt x="2950240" y="32591"/>
                  </a:lnTo>
                  <a:lnTo>
                    <a:pt x="2890427" y="31718"/>
                  </a:lnTo>
                  <a:lnTo>
                    <a:pt x="2830893" y="30938"/>
                  </a:lnTo>
                  <a:lnTo>
                    <a:pt x="2772701" y="30355"/>
                  </a:lnTo>
                  <a:lnTo>
                    <a:pt x="2716918" y="30072"/>
                  </a:lnTo>
                  <a:lnTo>
                    <a:pt x="2664607" y="30192"/>
                  </a:lnTo>
                  <a:lnTo>
                    <a:pt x="2616834" y="30818"/>
                  </a:lnTo>
                  <a:lnTo>
                    <a:pt x="2574664" y="32054"/>
                  </a:lnTo>
                  <a:lnTo>
                    <a:pt x="2539161" y="34004"/>
                  </a:lnTo>
                  <a:lnTo>
                    <a:pt x="2505762" y="35610"/>
                  </a:lnTo>
                  <a:lnTo>
                    <a:pt x="2429730" y="35333"/>
                  </a:lnTo>
                  <a:lnTo>
                    <a:pt x="2387286" y="33948"/>
                  </a:lnTo>
                  <a:lnTo>
                    <a:pt x="2342017" y="32067"/>
                  </a:lnTo>
                  <a:lnTo>
                    <a:pt x="2294016" y="29938"/>
                  </a:lnTo>
                  <a:lnTo>
                    <a:pt x="2243378" y="27813"/>
                  </a:lnTo>
                  <a:lnTo>
                    <a:pt x="2190198" y="25939"/>
                  </a:lnTo>
                  <a:lnTo>
                    <a:pt x="2134569" y="24569"/>
                  </a:lnTo>
                  <a:lnTo>
                    <a:pt x="2076587" y="23951"/>
                  </a:lnTo>
                  <a:lnTo>
                    <a:pt x="2016345" y="24336"/>
                  </a:lnTo>
                  <a:lnTo>
                    <a:pt x="1953939" y="25973"/>
                  </a:lnTo>
                  <a:lnTo>
                    <a:pt x="1889462" y="29112"/>
                  </a:lnTo>
                  <a:lnTo>
                    <a:pt x="1823008" y="34004"/>
                  </a:lnTo>
                  <a:lnTo>
                    <a:pt x="1755041" y="39381"/>
                  </a:lnTo>
                  <a:lnTo>
                    <a:pt x="1695316" y="43107"/>
                  </a:lnTo>
                  <a:lnTo>
                    <a:pt x="1642398" y="45387"/>
                  </a:lnTo>
                  <a:lnTo>
                    <a:pt x="1594852" y="46427"/>
                  </a:lnTo>
                  <a:lnTo>
                    <a:pt x="1551244" y="46434"/>
                  </a:lnTo>
                  <a:lnTo>
                    <a:pt x="1510139" y="45614"/>
                  </a:lnTo>
                  <a:lnTo>
                    <a:pt x="1470104" y="44172"/>
                  </a:lnTo>
                  <a:lnTo>
                    <a:pt x="1429703" y="42314"/>
                  </a:lnTo>
                  <a:lnTo>
                    <a:pt x="1387502" y="40247"/>
                  </a:lnTo>
                  <a:lnTo>
                    <a:pt x="1342066" y="38176"/>
                  </a:lnTo>
                  <a:lnTo>
                    <a:pt x="1291961" y="36308"/>
                  </a:lnTo>
                  <a:lnTo>
                    <a:pt x="1235753" y="34849"/>
                  </a:lnTo>
                  <a:lnTo>
                    <a:pt x="1172006" y="34004"/>
                  </a:lnTo>
                  <a:lnTo>
                    <a:pt x="1133450" y="33851"/>
                  </a:lnTo>
                  <a:lnTo>
                    <a:pt x="1094538" y="33934"/>
                  </a:lnTo>
                  <a:lnTo>
                    <a:pt x="1055160" y="34222"/>
                  </a:lnTo>
                  <a:lnTo>
                    <a:pt x="1015206" y="34682"/>
                  </a:lnTo>
                  <a:lnTo>
                    <a:pt x="974566" y="35283"/>
                  </a:lnTo>
                  <a:lnTo>
                    <a:pt x="933129" y="35994"/>
                  </a:lnTo>
                  <a:lnTo>
                    <a:pt x="890786" y="36781"/>
                  </a:lnTo>
                  <a:lnTo>
                    <a:pt x="847426" y="37615"/>
                  </a:lnTo>
                  <a:lnTo>
                    <a:pt x="802940" y="38462"/>
                  </a:lnTo>
                  <a:lnTo>
                    <a:pt x="757218" y="39292"/>
                  </a:lnTo>
                  <a:lnTo>
                    <a:pt x="710148" y="40072"/>
                  </a:lnTo>
                  <a:lnTo>
                    <a:pt x="661622" y="40770"/>
                  </a:lnTo>
                  <a:lnTo>
                    <a:pt x="611529" y="41356"/>
                  </a:lnTo>
                  <a:lnTo>
                    <a:pt x="559759" y="41796"/>
                  </a:lnTo>
                  <a:lnTo>
                    <a:pt x="506202" y="42060"/>
                  </a:lnTo>
                  <a:lnTo>
                    <a:pt x="450748" y="42116"/>
                  </a:lnTo>
                  <a:lnTo>
                    <a:pt x="393286" y="41931"/>
                  </a:lnTo>
                  <a:lnTo>
                    <a:pt x="333708" y="41475"/>
                  </a:lnTo>
                  <a:lnTo>
                    <a:pt x="271902" y="40715"/>
                  </a:lnTo>
                  <a:lnTo>
                    <a:pt x="207758" y="39620"/>
                  </a:lnTo>
                  <a:lnTo>
                    <a:pt x="141168" y="38157"/>
                  </a:lnTo>
                  <a:lnTo>
                    <a:pt x="72019" y="36296"/>
                  </a:lnTo>
                  <a:lnTo>
                    <a:pt x="203" y="34004"/>
                  </a:lnTo>
                  <a:lnTo>
                    <a:pt x="152" y="28162"/>
                  </a:lnTo>
                  <a:lnTo>
                    <a:pt x="0" y="22193"/>
                  </a:lnTo>
                  <a:lnTo>
                    <a:pt x="203" y="15716"/>
                  </a:lnTo>
                  <a:close/>
                </a:path>
              </a:pathLst>
            </a:custGeom>
            <a:ln w="38100">
              <a:solidFill>
                <a:srgbClr val="0099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4342" y="675817"/>
            <a:ext cx="8054467" cy="509597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93590" y="321690"/>
            <a:ext cx="2148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Models</a:t>
            </a:r>
            <a:r>
              <a:rPr sz="1800" u="sng" spc="-4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-</a:t>
            </a:r>
            <a:r>
              <a:rPr sz="1800" u="sng" spc="-4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OpenAI</a:t>
            </a:r>
            <a:r>
              <a:rPr sz="1800" u="sng" spc="-3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 spc="-25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API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50"/>
              <a:t>Sora:</a:t>
            </a:r>
            <a:r>
              <a:rPr sz="3350" spc="5"/>
              <a:t> </a:t>
            </a:r>
            <a:r>
              <a:rPr sz="3350" spc="-70"/>
              <a:t>Text-</a:t>
            </a:r>
            <a:r>
              <a:rPr sz="3350" spc="-10"/>
              <a:t>to-</a:t>
            </a:r>
            <a:r>
              <a:rPr sz="3350"/>
              <a:t>video</a:t>
            </a:r>
            <a:r>
              <a:rPr sz="3350" spc="10"/>
              <a:t> </a:t>
            </a:r>
            <a:r>
              <a:rPr sz="3350" spc="-10"/>
              <a:t>model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767587" y="1115397"/>
            <a:ext cx="10523855" cy="58293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17804" indent="-205104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217804" algn="l"/>
              </a:tabLst>
            </a:pP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Sora:</a:t>
            </a:r>
            <a:r>
              <a:rPr sz="1650" b="1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OpenAI’s</a:t>
            </a:r>
            <a:r>
              <a:rPr sz="1650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text-to-video</a:t>
            </a:r>
            <a:r>
              <a:rPr sz="1650" spc="20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model,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650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20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create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realistic</a:t>
            </a:r>
            <a:r>
              <a:rPr sz="1650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imaginative</a:t>
            </a:r>
            <a:r>
              <a:rPr sz="1650" spc="20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scenes</a:t>
            </a:r>
            <a:r>
              <a:rPr sz="1650" spc="1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endParaRPr sz="1650">
              <a:latin typeface="Segoe UI"/>
              <a:cs typeface="Segoe UI"/>
            </a:endParaRPr>
          </a:p>
          <a:p>
            <a:pPr marL="218440">
              <a:lnSpc>
                <a:spcPct val="100000"/>
              </a:lnSpc>
              <a:spcBef>
                <a:spcPts val="215"/>
              </a:spcBef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text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instructions.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2257" y="2018652"/>
            <a:ext cx="7047483" cy="398183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17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166" y="5058359"/>
            <a:ext cx="10523220" cy="1614805"/>
            <a:chOff x="824166" y="5058359"/>
            <a:chExt cx="10523220" cy="1614805"/>
          </a:xfrm>
        </p:grpSpPr>
        <p:sp>
          <p:nvSpPr>
            <p:cNvPr id="3" name="object 3"/>
            <p:cNvSpPr/>
            <p:nvPr/>
          </p:nvSpPr>
          <p:spPr>
            <a:xfrm>
              <a:off x="827341" y="6346405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20">
                  <a:moveTo>
                    <a:pt x="0" y="0"/>
                  </a:moveTo>
                  <a:lnTo>
                    <a:pt x="10516806" y="7124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341" y="6346939"/>
              <a:ext cx="519430" cy="264795"/>
            </a:xfrm>
            <a:custGeom>
              <a:avLst/>
              <a:gdLst/>
              <a:ahLst/>
              <a:cxnLst/>
              <a:rect l="l" t="t" r="r" b="b"/>
              <a:pathLst>
                <a:path w="519430" h="264795">
                  <a:moveTo>
                    <a:pt x="519163" y="0"/>
                  </a:moveTo>
                  <a:lnTo>
                    <a:pt x="0" y="0"/>
                  </a:lnTo>
                  <a:lnTo>
                    <a:pt x="0" y="264172"/>
                  </a:lnTo>
                  <a:lnTo>
                    <a:pt x="519163" y="264172"/>
                  </a:lnTo>
                  <a:lnTo>
                    <a:pt x="5191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9150" y="5058359"/>
              <a:ext cx="2857754" cy="1614678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50" spc="-10"/>
              <a:t>GPT-</a:t>
            </a:r>
            <a:r>
              <a:rPr sz="3350"/>
              <a:t>o1:</a:t>
            </a:r>
            <a:r>
              <a:rPr sz="3350" spc="-75"/>
              <a:t> </a:t>
            </a:r>
            <a:r>
              <a:rPr sz="3350"/>
              <a:t>OpenAI's</a:t>
            </a:r>
            <a:r>
              <a:rPr sz="3350" spc="-80"/>
              <a:t> </a:t>
            </a:r>
            <a:r>
              <a:rPr sz="3350"/>
              <a:t>New</a:t>
            </a:r>
            <a:r>
              <a:rPr sz="3350" spc="-80"/>
              <a:t> </a:t>
            </a:r>
            <a:r>
              <a:rPr sz="3350"/>
              <a:t>Reasoning</a:t>
            </a:r>
            <a:r>
              <a:rPr sz="3350" spc="-90"/>
              <a:t> </a:t>
            </a:r>
            <a:r>
              <a:rPr sz="3350" spc="-10"/>
              <a:t>Model</a:t>
            </a:r>
            <a:endParaRPr sz="3350"/>
          </a:p>
        </p:txBody>
      </p:sp>
      <p:sp>
        <p:nvSpPr>
          <p:cNvPr id="8" name="object 8"/>
          <p:cNvSpPr txBox="1"/>
          <p:nvPr/>
        </p:nvSpPr>
        <p:spPr>
          <a:xfrm>
            <a:off x="767587" y="1108464"/>
            <a:ext cx="10480675" cy="385000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4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b="1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u="sng" spc="-1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GPT-</a:t>
            </a:r>
            <a:r>
              <a:rPr sz="1400" b="1" u="sng" spc="-25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o1</a:t>
            </a:r>
            <a:r>
              <a:rPr sz="1400" b="1" u="none" spc="-25">
                <a:solidFill>
                  <a:srgbClr val="333333"/>
                </a:solidFill>
                <a:latin typeface="Segoe UI"/>
                <a:cs typeface="Segoe UI"/>
              </a:rPr>
              <a:t>?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GPT-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o1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next-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model,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designed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excel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at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complex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reasoning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math,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coding,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science.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Unlike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predecessor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GPT-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4o,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GPT-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o1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takes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time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"think"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before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responding,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allowing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solve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harder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problems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greater</a:t>
            </a:r>
            <a:endParaRPr sz="1400">
              <a:latin typeface="Segoe UI"/>
              <a:cs typeface="Segoe UI"/>
            </a:endParaRPr>
          </a:p>
          <a:p>
            <a:pPr marL="12700" marR="60325">
              <a:lnSpc>
                <a:spcPct val="130700"/>
              </a:lnSpc>
              <a:spcBef>
                <a:spcPts val="10"/>
              </a:spcBef>
            </a:pP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accuracy.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uses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>
                <a:solidFill>
                  <a:srgbClr val="333333"/>
                </a:solidFill>
                <a:latin typeface="Segoe UI"/>
                <a:cs typeface="Segoe UI"/>
              </a:rPr>
              <a:t>reinforcement</a:t>
            </a:r>
            <a:r>
              <a:rPr sz="1400" b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learning</a:t>
            </a:r>
            <a:r>
              <a:rPr sz="1400" b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>
                <a:solidFill>
                  <a:srgbClr val="333333"/>
                </a:solidFill>
                <a:latin typeface="Segoe UI"/>
                <a:cs typeface="Segoe UI"/>
              </a:rPr>
              <a:t>chain-of-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thought</a:t>
            </a:r>
            <a:r>
              <a:rPr sz="14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reasoning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,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breaking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down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smaller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steps,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which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enhances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ability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logical,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step-by-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solutions.</a:t>
            </a:r>
            <a:endParaRPr sz="1400">
              <a:latin typeface="Segoe UI"/>
              <a:cs typeface="Segoe UI"/>
            </a:endParaRPr>
          </a:p>
          <a:p>
            <a:pPr marL="12700" marR="5080">
              <a:lnSpc>
                <a:spcPts val="2210"/>
              </a:lnSpc>
              <a:spcBef>
                <a:spcPts val="150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OpenAI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o1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ranks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89th</a:t>
            </a:r>
            <a:r>
              <a:rPr sz="14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percentile</a:t>
            </a:r>
            <a:r>
              <a:rPr sz="1400" b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competitive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programming</a:t>
            </a:r>
            <a:r>
              <a:rPr sz="14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questions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(Codeforces),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places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among</a:t>
            </a:r>
            <a:r>
              <a:rPr sz="14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top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500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students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in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US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qualifier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USA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Math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Olympiad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(AIME) and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exceeds human</a:t>
            </a:r>
            <a:r>
              <a:rPr sz="14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>
                <a:solidFill>
                  <a:srgbClr val="333333"/>
                </a:solidFill>
                <a:latin typeface="Segoe UI"/>
                <a:cs typeface="Segoe UI"/>
              </a:rPr>
              <a:t>PhD-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level</a:t>
            </a:r>
            <a:r>
              <a:rPr sz="1400" b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accuracy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benchmark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physics,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biology,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chemistry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problems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(GPQA).</a:t>
            </a:r>
            <a:endParaRPr sz="1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Chain</a:t>
            </a:r>
            <a:r>
              <a:rPr sz="14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>
                <a:solidFill>
                  <a:srgbClr val="333333"/>
                </a:solidFill>
                <a:latin typeface="Segoe UI"/>
                <a:cs typeface="Segoe UI"/>
              </a:rPr>
              <a:t>Thought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Similar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human</a:t>
            </a:r>
            <a:r>
              <a:rPr sz="14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may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think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long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time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before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responding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difficult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question,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o1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uses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chain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thought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endParaRPr sz="1400">
              <a:latin typeface="Segoe UI"/>
              <a:cs typeface="Segoe UI"/>
            </a:endParaRPr>
          </a:p>
          <a:p>
            <a:pPr marL="12700" marR="211454">
              <a:lnSpc>
                <a:spcPct val="130700"/>
              </a:lnSpc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attempting</a:t>
            </a:r>
            <a:r>
              <a:rPr sz="14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solve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problem.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Through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reinforcement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learning,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o1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learns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hone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chain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thought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refine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strategies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it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uses.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learns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recognize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correct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mistakes.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learns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break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down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tricky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simpler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ones.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learns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try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different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approach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current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one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isn’t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working.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process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dramatically</a:t>
            </a:r>
            <a:r>
              <a:rPr sz="14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improves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model’s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ability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reason.</a:t>
            </a:r>
            <a:endParaRPr sz="1400">
              <a:latin typeface="Segoe UI"/>
              <a:cs typeface="Segoe U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88656" y="5058463"/>
            <a:ext cx="4294759" cy="170370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18</a:t>
            </a:fld>
            <a:endParaRPr spc="-25"/>
          </a:p>
        </p:txBody>
      </p:sp>
      <p:sp>
        <p:nvSpPr>
          <p:cNvPr id="11" name="object 11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350" y="0"/>
            <a:ext cx="12033885" cy="6858000"/>
            <a:chOff x="160350" y="0"/>
            <a:chExt cx="12033885" cy="6858000"/>
          </a:xfrm>
        </p:grpSpPr>
        <p:sp>
          <p:nvSpPr>
            <p:cNvPr id="3" name="object 3"/>
            <p:cNvSpPr/>
            <p:nvPr/>
          </p:nvSpPr>
          <p:spPr>
            <a:xfrm>
              <a:off x="827341" y="634640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20">
                  <a:moveTo>
                    <a:pt x="0" y="0"/>
                  </a:moveTo>
                  <a:lnTo>
                    <a:pt x="10516806" y="7124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341" y="6346939"/>
              <a:ext cx="519430" cy="264795"/>
            </a:xfrm>
            <a:custGeom>
              <a:avLst/>
              <a:gdLst/>
              <a:ahLst/>
              <a:cxnLst/>
              <a:rect l="l" t="t" r="r" b="b"/>
              <a:pathLst>
                <a:path w="519430" h="264795">
                  <a:moveTo>
                    <a:pt x="519163" y="0"/>
                  </a:moveTo>
                  <a:lnTo>
                    <a:pt x="0" y="0"/>
                  </a:lnTo>
                  <a:lnTo>
                    <a:pt x="0" y="264172"/>
                  </a:lnTo>
                  <a:lnTo>
                    <a:pt x="519163" y="264172"/>
                  </a:lnTo>
                  <a:lnTo>
                    <a:pt x="5191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7341" y="101358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19">
                  <a:moveTo>
                    <a:pt x="0" y="0"/>
                  </a:moveTo>
                  <a:lnTo>
                    <a:pt x="10516806" y="7112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350" y="5182006"/>
              <a:ext cx="2272919" cy="1240510"/>
            </a:xfrm>
            <a:prstGeom prst="rect">
              <a:avLst/>
            </a:prstGeom>
          </p:spPr>
        </p:pic>
        <p:pic>
          <p:nvPicPr>
            <p:cNvPr id="7" name="object 7">
              <a:hlinkClick r:id="rId4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15527" y="3827902"/>
              <a:ext cx="2911728" cy="2307041"/>
            </a:xfrm>
            <a:prstGeom prst="rect">
              <a:avLst/>
            </a:prstGeom>
          </p:spPr>
        </p:pic>
        <p:pic>
          <p:nvPicPr>
            <p:cNvPr id="8" name="object 8">
              <a:hlinkClick r:id="rId6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64684" y="296418"/>
              <a:ext cx="2142109" cy="14641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530718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381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53660" y="2228723"/>
              <a:ext cx="7540625" cy="2339975"/>
            </a:xfrm>
            <a:custGeom>
              <a:avLst/>
              <a:gdLst/>
              <a:ahLst/>
              <a:cxnLst/>
              <a:rect l="l" t="t" r="r" b="b"/>
              <a:pathLst>
                <a:path w="7540625" h="2339975">
                  <a:moveTo>
                    <a:pt x="0" y="0"/>
                  </a:moveTo>
                  <a:lnTo>
                    <a:pt x="2877058" y="0"/>
                  </a:lnTo>
                </a:path>
                <a:path w="7540625" h="2339975">
                  <a:moveTo>
                    <a:pt x="2877058" y="1200277"/>
                  </a:moveTo>
                  <a:lnTo>
                    <a:pt x="7540498" y="1200277"/>
                  </a:lnTo>
                </a:path>
                <a:path w="7540625" h="2339975">
                  <a:moveTo>
                    <a:pt x="0" y="2339466"/>
                  </a:moveTo>
                  <a:lnTo>
                    <a:pt x="2877058" y="2339466"/>
                  </a:lnTo>
                </a:path>
              </a:pathLst>
            </a:custGeom>
            <a:ln w="381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68690" y="513969"/>
              <a:ext cx="3673729" cy="250939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03881" y="5316080"/>
              <a:ext cx="1664208" cy="93318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73528" y="3670414"/>
              <a:ext cx="1590675" cy="120917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4728" y="3670414"/>
              <a:ext cx="1854073" cy="12091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51069" y="4744796"/>
              <a:ext cx="2682239" cy="4826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53660" y="5464962"/>
              <a:ext cx="2726943" cy="914768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912063" y="1126363"/>
            <a:ext cx="2861310" cy="233870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95"/>
              </a:spcBef>
            </a:pPr>
            <a:r>
              <a:rPr sz="4100" spc="-60"/>
              <a:t>Top</a:t>
            </a:r>
            <a:r>
              <a:rPr sz="4100" spc="-204"/>
              <a:t> </a:t>
            </a:r>
            <a:r>
              <a:rPr sz="4100" spc="-25"/>
              <a:t>AI </a:t>
            </a:r>
            <a:r>
              <a:rPr sz="4100"/>
              <a:t>models</a:t>
            </a:r>
            <a:r>
              <a:rPr sz="4100" spc="-40"/>
              <a:t> </a:t>
            </a:r>
            <a:r>
              <a:rPr sz="4100" spc="-25"/>
              <a:t>and </a:t>
            </a:r>
            <a:r>
              <a:rPr sz="4100" spc="-10"/>
              <a:t>Chat-based </a:t>
            </a:r>
            <a:r>
              <a:rPr sz="4100"/>
              <a:t>AI</a:t>
            </a:r>
            <a:r>
              <a:rPr sz="4100" spc="-45"/>
              <a:t> </a:t>
            </a:r>
            <a:r>
              <a:rPr sz="4100" spc="-10"/>
              <a:t>tools</a:t>
            </a:r>
            <a:endParaRPr sz="4100"/>
          </a:p>
        </p:txBody>
      </p:sp>
      <p:pic>
        <p:nvPicPr>
          <p:cNvPr id="18" name="object 18">
            <a:hlinkClick r:id="rId15"/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16086" y="3116070"/>
            <a:ext cx="2057092" cy="487173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1097259" y="6427910"/>
            <a:ext cx="177800" cy="21209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100" spc="-25">
                <a:solidFill>
                  <a:srgbClr val="666666"/>
                </a:solidFill>
                <a:latin typeface="Segoe UI"/>
                <a:cs typeface="Segoe UI"/>
              </a:rPr>
              <a:t>27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527028" y="6626758"/>
            <a:ext cx="5130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>
                <a:latin typeface="Calibri"/>
                <a:cs typeface="Calibri"/>
              </a:rPr>
              <a:t>General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394585" y="2768930"/>
            <a:ext cx="7404734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0">
                <a:solidFill>
                  <a:srgbClr val="000000"/>
                </a:solidFill>
                <a:latin typeface="Segoe UI"/>
                <a:cs typeface="Segoe UI"/>
              </a:rPr>
              <a:t>Prompt</a:t>
            </a:r>
            <a:r>
              <a:rPr sz="6600" b="0" spc="-15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600" b="0" spc="-10">
                <a:solidFill>
                  <a:srgbClr val="000000"/>
                </a:solidFill>
                <a:latin typeface="Segoe UI"/>
                <a:cs typeface="Segoe UI"/>
              </a:rPr>
              <a:t>Engineering</a:t>
            </a:r>
            <a:endParaRPr sz="66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64680"/>
            <a:ext cx="1809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32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Introducing</a:t>
            </a:r>
            <a:r>
              <a:rPr sz="2150" spc="-5"/>
              <a:t> </a:t>
            </a:r>
            <a:r>
              <a:rPr sz="2150"/>
              <a:t>prompt</a:t>
            </a:r>
            <a:r>
              <a:rPr sz="2150" spc="-25"/>
              <a:t> </a:t>
            </a:r>
            <a:r>
              <a:rPr sz="2150" spc="-10"/>
              <a:t>engineering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587" y="1170813"/>
            <a:ext cx="10546715" cy="4708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1099"/>
              </a:lnSpc>
              <a:spcBef>
                <a:spcPts val="9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b="1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engineering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Engineering</a:t>
            </a:r>
            <a:r>
              <a:rPr sz="190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90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art</a:t>
            </a:r>
            <a:r>
              <a:rPr sz="190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science</a:t>
            </a:r>
            <a:r>
              <a:rPr sz="1900" spc="1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crafting</a:t>
            </a:r>
            <a:r>
              <a:rPr sz="190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inputs</a:t>
            </a:r>
            <a:r>
              <a:rPr sz="1900" spc="1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(prompts)</a:t>
            </a:r>
            <a:r>
              <a:rPr sz="190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that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guide</a:t>
            </a:r>
            <a:r>
              <a:rPr sz="190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90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AI,</a:t>
            </a:r>
            <a:r>
              <a:rPr sz="190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especially</a:t>
            </a:r>
            <a:r>
              <a:rPr sz="190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language</a:t>
            </a:r>
            <a:r>
              <a:rPr sz="190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model,</a:t>
            </a:r>
            <a:r>
              <a:rPr sz="190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produce</a:t>
            </a:r>
            <a:r>
              <a:rPr sz="190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90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outputs</a:t>
            </a:r>
            <a:r>
              <a:rPr sz="190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responses.</a:t>
            </a:r>
            <a:r>
              <a:rPr sz="190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It's</a:t>
            </a:r>
            <a:r>
              <a:rPr sz="190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crucial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skill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interacting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effectively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GPT-3 or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GPT-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4.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Why</a:t>
            </a:r>
            <a:r>
              <a:rPr sz="19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b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Matters?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354965" algn="l"/>
              </a:tabLst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quality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 the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directly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influences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AI's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4965" algn="l"/>
              </a:tabLst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Good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lead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accurate,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relevant,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useful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outputs.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1900" b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Elements: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Clarity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Clear,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concise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instructions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help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understand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task.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Providing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background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enhances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response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accuracy.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Creativity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Creative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elicit more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insightful, engaging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responses.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Challenges: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Balancing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specificity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openness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prompts.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354965" algn="l"/>
              </a:tabLst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Avoiding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biases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ensuring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ethical AI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interactions.</a:t>
            </a:r>
            <a:endParaRPr sz="19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8053" y="1984120"/>
            <a:ext cx="3037458" cy="17357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21</a:t>
            </a:fld>
            <a:endParaRPr spc="-25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Elements</a:t>
            </a:r>
            <a:r>
              <a:rPr sz="2150" spc="-30"/>
              <a:t> </a:t>
            </a:r>
            <a:r>
              <a:rPr sz="2150"/>
              <a:t>of</a:t>
            </a:r>
            <a:r>
              <a:rPr sz="2150" spc="-15"/>
              <a:t> </a:t>
            </a:r>
            <a:r>
              <a:rPr sz="2150"/>
              <a:t>a</a:t>
            </a:r>
            <a:r>
              <a:rPr sz="2150" spc="-10"/>
              <a:t> Prompt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587" y="1170813"/>
            <a:ext cx="9729470" cy="26593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b="1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contains</a:t>
            </a:r>
            <a:r>
              <a:rPr sz="1900" b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any</a:t>
            </a:r>
            <a:r>
              <a:rPr sz="1900" b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b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b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following</a:t>
            </a:r>
            <a:r>
              <a:rPr sz="1900" b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elements:</a:t>
            </a:r>
            <a:endParaRPr sz="19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42354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Instruction</a:t>
            </a:r>
            <a:r>
              <a:rPr sz="1900" b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instruction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want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perform</a:t>
            </a:r>
            <a:endParaRPr sz="19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2330"/>
              </a:spcBef>
              <a:buFont typeface="Arial"/>
              <a:buChar char="•"/>
              <a:tabLst>
                <a:tab pos="42354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 b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external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additional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steer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better</a:t>
            </a:r>
            <a:endParaRPr sz="1900">
              <a:latin typeface="Segoe UI"/>
              <a:cs typeface="Segoe UI"/>
            </a:endParaRPr>
          </a:p>
          <a:p>
            <a:pPr marL="424180">
              <a:lnSpc>
                <a:spcPct val="100000"/>
              </a:lnSpc>
              <a:spcBef>
                <a:spcPts val="25"/>
              </a:spcBef>
            </a:pP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responses</a:t>
            </a:r>
            <a:endParaRPr sz="19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2330"/>
              </a:spcBef>
              <a:buFont typeface="Arial"/>
              <a:buChar char="•"/>
              <a:tabLst>
                <a:tab pos="42354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Input</a:t>
            </a:r>
            <a:r>
              <a:rPr sz="1900" b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900" b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input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 question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we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interested</a:t>
            </a:r>
            <a:r>
              <a:rPr sz="19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find a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response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endParaRPr sz="19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2330"/>
              </a:spcBef>
              <a:buFont typeface="Arial"/>
              <a:buChar char="•"/>
              <a:tabLst>
                <a:tab pos="42354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900" b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Indicator</a:t>
            </a:r>
            <a:r>
              <a:rPr sz="1900" b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type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output.</a:t>
            </a:r>
            <a:endParaRPr sz="19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2731" y="4038558"/>
            <a:ext cx="6332998" cy="220607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22</a:t>
            </a:fld>
            <a:endParaRPr spc="-25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Prompt</a:t>
            </a:r>
            <a:r>
              <a:rPr sz="2150" spc="-30"/>
              <a:t> </a:t>
            </a:r>
            <a:r>
              <a:rPr sz="2150"/>
              <a:t>Engineering</a:t>
            </a:r>
            <a:r>
              <a:rPr sz="2150" spc="-15"/>
              <a:t> </a:t>
            </a:r>
            <a:r>
              <a:rPr sz="2150"/>
              <a:t>techniques</a:t>
            </a:r>
            <a:r>
              <a:rPr sz="2150" spc="-10"/>
              <a:t> </a:t>
            </a:r>
            <a:r>
              <a:rPr sz="2150"/>
              <a:t>and</a:t>
            </a:r>
            <a:r>
              <a:rPr sz="2150" spc="-20"/>
              <a:t> </a:t>
            </a:r>
            <a:r>
              <a:rPr sz="2150"/>
              <a:t>approaches</a:t>
            </a:r>
            <a:r>
              <a:rPr sz="2150" spc="-30"/>
              <a:t> </a:t>
            </a:r>
            <a:r>
              <a:rPr sz="2150" spc="-10"/>
              <a:t>[Zero-</a:t>
            </a:r>
            <a:r>
              <a:rPr sz="2150"/>
              <a:t>shot</a:t>
            </a:r>
            <a:r>
              <a:rPr sz="2150" spc="-5"/>
              <a:t> </a:t>
            </a:r>
            <a:r>
              <a:rPr sz="2150" spc="-10"/>
              <a:t>prompting]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23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67587" y="1170813"/>
            <a:ext cx="10507980" cy="4232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36525">
              <a:lnSpc>
                <a:spcPct val="101099"/>
              </a:lnSpc>
              <a:spcBef>
                <a:spcPts val="9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Zero-shot</a:t>
            </a:r>
            <a:r>
              <a:rPr sz="1900" b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prompting:</a:t>
            </a:r>
            <a:r>
              <a:rPr sz="1900" b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involves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presenting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without any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prior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specific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training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task.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 relies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general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understanding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pre-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trained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knowledge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generate a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900" b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cases</a:t>
            </a:r>
            <a:endParaRPr sz="1900">
              <a:latin typeface="Segoe UI"/>
              <a:cs typeface="Segoe UI"/>
            </a:endParaRPr>
          </a:p>
          <a:p>
            <a:pPr marL="12700" marR="5080">
              <a:lnSpc>
                <a:spcPct val="101099"/>
              </a:lnSpc>
              <a:spcBef>
                <a:spcPts val="5"/>
              </a:spcBef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It's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often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used in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situations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needs to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generalize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learning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new,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unseen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tasks.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include language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translation, answering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factual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questions,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performing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hasn't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been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directly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trained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on.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 i="1" spc="-1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"Assess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impact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social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media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teenage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mental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health.“</a:t>
            </a:r>
            <a:endParaRPr sz="1650">
              <a:latin typeface="Segoe UI"/>
              <a:cs typeface="Segoe UI"/>
            </a:endParaRPr>
          </a:p>
          <a:p>
            <a:pPr marL="12700" marR="5426710">
              <a:lnSpc>
                <a:spcPct val="203600"/>
              </a:lnSpc>
              <a:spcBef>
                <a:spcPts val="5"/>
              </a:spcBef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"Describe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basic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principles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quantum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mechanics.“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"Translate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'Hello,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6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5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you?'</a:t>
            </a:r>
            <a:r>
              <a:rPr sz="16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French."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Prompt</a:t>
            </a:r>
            <a:r>
              <a:rPr sz="2150" spc="-30"/>
              <a:t> </a:t>
            </a:r>
            <a:r>
              <a:rPr sz="2150"/>
              <a:t>Engineering</a:t>
            </a:r>
            <a:r>
              <a:rPr sz="2150" spc="-20"/>
              <a:t> </a:t>
            </a:r>
            <a:r>
              <a:rPr sz="2150"/>
              <a:t>techniques</a:t>
            </a:r>
            <a:r>
              <a:rPr sz="2150" spc="-5"/>
              <a:t> </a:t>
            </a:r>
            <a:r>
              <a:rPr sz="2150"/>
              <a:t>and</a:t>
            </a:r>
            <a:r>
              <a:rPr sz="2150" spc="-20"/>
              <a:t> </a:t>
            </a:r>
            <a:r>
              <a:rPr sz="2150"/>
              <a:t>approaches</a:t>
            </a:r>
            <a:r>
              <a:rPr sz="2150" spc="-35"/>
              <a:t> </a:t>
            </a:r>
            <a:r>
              <a:rPr sz="2150" spc="-10"/>
              <a:t>[Few-</a:t>
            </a:r>
            <a:r>
              <a:rPr sz="2150"/>
              <a:t>shot</a:t>
            </a:r>
            <a:r>
              <a:rPr sz="2150" spc="-5"/>
              <a:t> </a:t>
            </a:r>
            <a:r>
              <a:rPr sz="2150" spc="-10"/>
              <a:t>prompting]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24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67587" y="1170813"/>
            <a:ext cx="10523855" cy="5001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9695">
              <a:lnSpc>
                <a:spcPct val="101099"/>
              </a:lnSpc>
              <a:spcBef>
                <a:spcPts val="9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Few-shot</a:t>
            </a:r>
            <a:r>
              <a:rPr sz="1900" b="1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prompting:</a:t>
            </a:r>
            <a:r>
              <a:rPr sz="1900" b="1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provides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limited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number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'learn'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from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before responding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task.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approach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helps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understand the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or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9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better.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900" b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cases</a:t>
            </a:r>
            <a:endParaRPr sz="1900">
              <a:latin typeface="Segoe UI"/>
              <a:cs typeface="Segoe UI"/>
            </a:endParaRPr>
          </a:p>
          <a:p>
            <a:pPr marL="12700" marR="5080">
              <a:lnSpc>
                <a:spcPct val="101099"/>
              </a:lnSpc>
              <a:spcBef>
                <a:spcPts val="5"/>
              </a:spcBef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Useful when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bit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greatly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aids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 model's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performance.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It's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commonly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used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more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specialized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sentiment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analysis,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categorization,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is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desired.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 i="1" spc="-1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900">
              <a:latin typeface="Segoe UI"/>
              <a:cs typeface="Segoe UI"/>
            </a:endParaRPr>
          </a:p>
          <a:p>
            <a:pPr marL="12700" marR="203200">
              <a:lnSpc>
                <a:spcPct val="101800"/>
              </a:lnSpc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"Generate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interview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questions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[Software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Developer]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role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emphasis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[backend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development].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Example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1: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'Can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explain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difference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between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REST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SOAP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APIs?'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Technical.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Example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2: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'Describe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50">
                <a:solidFill>
                  <a:srgbClr val="333333"/>
                </a:solidFill>
                <a:latin typeface="Segoe UI"/>
                <a:cs typeface="Segoe UI"/>
              </a:rPr>
              <a:t>a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situation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had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optimize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performance</a:t>
            </a:r>
            <a:r>
              <a:rPr sz="16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database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query.'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Behavioral.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Now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create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interview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questions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related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[design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patterns]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[database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optimization]</a:t>
            </a:r>
            <a:r>
              <a:rPr sz="16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role.“</a:t>
            </a:r>
            <a:endParaRPr sz="1650">
              <a:latin typeface="Segoe UI"/>
              <a:cs typeface="Segoe UI"/>
            </a:endParaRPr>
          </a:p>
          <a:p>
            <a:pPr marL="12700" marR="149860">
              <a:lnSpc>
                <a:spcPct val="101899"/>
              </a:lnSpc>
              <a:spcBef>
                <a:spcPts val="2014"/>
              </a:spcBef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"Classify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following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customer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reviews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positive,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negative,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neutral.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Example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1: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'This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product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amazing;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50">
                <a:solidFill>
                  <a:srgbClr val="333333"/>
                </a:solidFill>
                <a:latin typeface="Segoe UI"/>
                <a:cs typeface="Segoe UI"/>
              </a:rPr>
              <a:t>I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highly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recommend</a:t>
            </a:r>
            <a:r>
              <a:rPr sz="16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it!'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Positive.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Example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2:</a:t>
            </a:r>
            <a:r>
              <a:rPr sz="16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'I'm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really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disappointed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purchase.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didn't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meet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>
                <a:solidFill>
                  <a:srgbClr val="333333"/>
                </a:solidFill>
                <a:latin typeface="Segoe UI"/>
                <a:cs typeface="Segoe UI"/>
              </a:rPr>
              <a:t>my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expectations.'</a:t>
            </a:r>
            <a:r>
              <a:rPr sz="16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Negative.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Now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classify: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'The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service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was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okay,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but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nothing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special.'"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Prompt</a:t>
            </a:r>
            <a:r>
              <a:rPr sz="2150" spc="-50"/>
              <a:t> </a:t>
            </a:r>
            <a:r>
              <a:rPr sz="2150"/>
              <a:t>Engineering</a:t>
            </a:r>
            <a:r>
              <a:rPr sz="2150" spc="-30"/>
              <a:t> </a:t>
            </a:r>
            <a:r>
              <a:rPr sz="2150"/>
              <a:t>techniques</a:t>
            </a:r>
            <a:r>
              <a:rPr sz="2150" spc="-25"/>
              <a:t> </a:t>
            </a:r>
            <a:r>
              <a:rPr sz="2150"/>
              <a:t>and</a:t>
            </a:r>
            <a:r>
              <a:rPr sz="2150" spc="-30"/>
              <a:t> </a:t>
            </a:r>
            <a:r>
              <a:rPr sz="2150"/>
              <a:t>approaches</a:t>
            </a:r>
            <a:r>
              <a:rPr sz="2150" spc="-40"/>
              <a:t> </a:t>
            </a:r>
            <a:r>
              <a:rPr sz="2150" spc="-10"/>
              <a:t>[CoT]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bottlenecks.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Finally,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suggest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potential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optimizations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based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analysis."</a:t>
            </a:r>
            <a:endParaRPr sz="1450">
              <a:latin typeface="Segoe UI"/>
              <a:cs typeface="Segoe UI"/>
            </a:endParaRPr>
          </a:p>
          <a:p>
            <a:pPr marL="243204">
              <a:lnSpc>
                <a:spcPct val="100000"/>
              </a:lnSpc>
              <a:spcBef>
                <a:spcPts val="1175"/>
              </a:spcBef>
            </a:pPr>
            <a:fld id="{81D60167-4931-47E6-BA6A-407CBD079E47}" type="slidenum">
              <a:rPr spc="-25" dirty="0"/>
              <a:t>25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67587" y="1170813"/>
            <a:ext cx="10502265" cy="4856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34975" algn="just">
              <a:lnSpc>
                <a:spcPct val="101099"/>
              </a:lnSpc>
              <a:spcBef>
                <a:spcPts val="9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CoT</a:t>
            </a:r>
            <a:r>
              <a:rPr sz="1900" b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(Chain</a:t>
            </a:r>
            <a:r>
              <a:rPr sz="1900" b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b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Thought):</a:t>
            </a:r>
            <a:r>
              <a:rPr sz="1900" b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involves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structuring</a:t>
            </a:r>
            <a:r>
              <a:rPr sz="19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way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leads the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 through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50">
                <a:solidFill>
                  <a:srgbClr val="333333"/>
                </a:solidFill>
                <a:latin typeface="Segoe UI"/>
                <a:cs typeface="Segoe UI"/>
              </a:rPr>
              <a:t>a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step-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by-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reasoning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process.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idea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make 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"think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aloud,"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outlining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thought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process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moves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towards an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answer.</a:t>
            </a:r>
            <a:endParaRPr sz="1900">
              <a:latin typeface="Segoe UI"/>
              <a:cs typeface="Segoe UI"/>
            </a:endParaRPr>
          </a:p>
          <a:p>
            <a:pPr marL="12700" algn="just">
              <a:lnSpc>
                <a:spcPct val="100000"/>
              </a:lnSpc>
              <a:spcBef>
                <a:spcPts val="20"/>
              </a:spcBef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It’s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useful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problems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solution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requires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multiple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steps or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layers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reasoning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endParaRPr sz="1900">
              <a:latin typeface="Segoe UI"/>
              <a:cs typeface="Segoe UI"/>
            </a:endParaRPr>
          </a:p>
          <a:p>
            <a:pPr marL="12700" algn="just">
              <a:lnSpc>
                <a:spcPct val="100000"/>
              </a:lnSpc>
              <a:spcBef>
                <a:spcPts val="25"/>
              </a:spcBef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mathematical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problems,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logical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puzzles,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detailed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planning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tasks.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b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template:</a:t>
            </a:r>
            <a:endParaRPr sz="1900">
              <a:latin typeface="Segoe UI"/>
              <a:cs typeface="Segoe UI"/>
            </a:endParaRPr>
          </a:p>
          <a:p>
            <a:pPr marL="12700" marR="5080">
              <a:lnSpc>
                <a:spcPts val="2300"/>
              </a:lnSpc>
              <a:spcBef>
                <a:spcPts val="85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"Explain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would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solve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[describe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problem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question].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Start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considering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[initial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900" i="1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25">
                <a:solidFill>
                  <a:srgbClr val="333333"/>
                </a:solidFill>
                <a:latin typeface="Segoe UI"/>
                <a:cs typeface="Segoe UI"/>
              </a:rPr>
              <a:t>or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factor],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then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think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about</a:t>
            </a:r>
            <a:r>
              <a:rPr sz="190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[next</a:t>
            </a:r>
            <a:r>
              <a:rPr sz="190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factor],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continue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through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each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until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reach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50">
                <a:solidFill>
                  <a:srgbClr val="333333"/>
                </a:solidFill>
                <a:latin typeface="Segoe UI"/>
                <a:cs typeface="Segoe UI"/>
              </a:rPr>
              <a:t>a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conclusion.“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60"/>
              </a:spcBef>
            </a:pPr>
            <a:r>
              <a:rPr sz="1900" b="1" i="1" spc="-1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900">
              <a:latin typeface="Segoe UI"/>
              <a:cs typeface="Segoe UI"/>
            </a:endParaRPr>
          </a:p>
          <a:p>
            <a:pPr marL="12700" marR="93980">
              <a:lnSpc>
                <a:spcPts val="1730"/>
              </a:lnSpc>
              <a:spcBef>
                <a:spcPts val="70"/>
              </a:spcBef>
            </a:pP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"Outline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would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take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increase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sales</a:t>
            </a:r>
            <a:r>
              <a:rPr sz="1450" i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450" i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smartphone.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Begin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identifying</a:t>
            </a:r>
            <a:r>
              <a:rPr sz="1450" i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target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market</a:t>
            </a:r>
            <a:r>
              <a:rPr sz="1450" i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smartphone.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Then,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think</a:t>
            </a:r>
            <a:r>
              <a:rPr sz="1450" i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about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features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450" i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would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appeal</a:t>
            </a:r>
            <a:r>
              <a:rPr sz="1450" i="1" spc="-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market.</a:t>
            </a:r>
            <a:r>
              <a:rPr sz="1450" i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Next,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consider</a:t>
            </a:r>
            <a:r>
              <a:rPr sz="1450" i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effective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marketing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strategies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reach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these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customers.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Finally,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detail</a:t>
            </a:r>
            <a:r>
              <a:rPr sz="1450" i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potential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sales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channels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50" i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promotional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offers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450" i="1" spc="-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could</a:t>
            </a:r>
            <a:r>
              <a:rPr sz="1450" i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boost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sales.“</a:t>
            </a:r>
            <a:endParaRPr sz="1450">
              <a:latin typeface="Segoe UI"/>
              <a:cs typeface="Segoe UI"/>
            </a:endParaRPr>
          </a:p>
          <a:p>
            <a:pPr marL="12700" marR="461009">
              <a:lnSpc>
                <a:spcPts val="1730"/>
              </a:lnSpc>
              <a:spcBef>
                <a:spcPts val="1725"/>
              </a:spcBef>
            </a:pP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"Describe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1450" i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50" i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optimizing</a:t>
            </a:r>
            <a:r>
              <a:rPr sz="1450" i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SQL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query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50" i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database.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Begin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examining</a:t>
            </a:r>
            <a:r>
              <a:rPr sz="1450" i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query</a:t>
            </a:r>
            <a:r>
              <a:rPr sz="1450" i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50" i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any</a:t>
            </a:r>
            <a:r>
              <a:rPr sz="1450" i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unnecessary</a:t>
            </a:r>
            <a:r>
              <a:rPr sz="1450" i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joins</a:t>
            </a:r>
            <a:r>
              <a:rPr sz="1450" i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450" i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nested subqueries.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Next,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consider</a:t>
            </a:r>
            <a:r>
              <a:rPr sz="1450" i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indexing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columns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used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450" i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clause.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Then,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analyze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query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execution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plan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identify</a:t>
            </a:r>
            <a:endParaRPr sz="14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Prompt</a:t>
            </a:r>
            <a:r>
              <a:rPr sz="2150" spc="-40"/>
              <a:t> </a:t>
            </a:r>
            <a:r>
              <a:rPr sz="2150"/>
              <a:t>Engineering</a:t>
            </a:r>
            <a:r>
              <a:rPr sz="2150" spc="-30"/>
              <a:t> </a:t>
            </a:r>
            <a:r>
              <a:rPr sz="2150"/>
              <a:t>techniques</a:t>
            </a:r>
            <a:r>
              <a:rPr sz="2150" spc="-25"/>
              <a:t> </a:t>
            </a:r>
            <a:r>
              <a:rPr sz="2150"/>
              <a:t>and</a:t>
            </a:r>
            <a:r>
              <a:rPr sz="2150" spc="-30"/>
              <a:t> </a:t>
            </a:r>
            <a:r>
              <a:rPr sz="2150"/>
              <a:t>approaches</a:t>
            </a:r>
            <a:r>
              <a:rPr sz="2150" spc="-40"/>
              <a:t> </a:t>
            </a:r>
            <a:r>
              <a:rPr sz="2150" spc="-10"/>
              <a:t>[RTF]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587" y="1170813"/>
            <a:ext cx="8673465" cy="507428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285750">
              <a:lnSpc>
                <a:spcPct val="101099"/>
              </a:lnSpc>
              <a:spcBef>
                <a:spcPts val="95"/>
              </a:spcBef>
              <a:tabLst>
                <a:tab pos="298767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RTF</a:t>
            </a:r>
            <a:r>
              <a:rPr sz="19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(Role,</a:t>
            </a:r>
            <a:r>
              <a:rPr sz="19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Task,</a:t>
            </a:r>
            <a:r>
              <a:rPr sz="1900" b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Format):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one of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most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know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approaches,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guides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the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construction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focusing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three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key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aspects: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Role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Defining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persona or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capacity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which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should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respond.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Specifying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 particular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action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 is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expected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endParaRPr sz="1900">
              <a:latin typeface="Segoe UI"/>
              <a:cs typeface="Segoe UI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perform.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Outlining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structure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model's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b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Template: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"Act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role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want</a:t>
            </a:r>
            <a:r>
              <a:rPr sz="190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take].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me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task]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format]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format.“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sz="1900" b="1" i="1" spc="-1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900">
              <a:latin typeface="Segoe UI"/>
              <a:cs typeface="Segoe UI"/>
            </a:endParaRPr>
          </a:p>
          <a:p>
            <a:pPr marL="12700" marR="213360">
              <a:lnSpc>
                <a:spcPts val="2020"/>
              </a:lnSpc>
              <a:spcBef>
                <a:spcPts val="65"/>
              </a:spcBef>
            </a:pPr>
            <a:r>
              <a:rPr sz="1650" i="1" spc="-20">
                <a:solidFill>
                  <a:srgbClr val="333333"/>
                </a:solidFill>
                <a:latin typeface="Segoe UI"/>
                <a:cs typeface="Segoe UI"/>
              </a:rPr>
              <a:t>“Act</a:t>
            </a:r>
            <a:r>
              <a:rPr sz="165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skilled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software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developer</a:t>
            </a:r>
            <a:r>
              <a:rPr sz="165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specializing</a:t>
            </a:r>
            <a:r>
              <a:rPr sz="1650" i="1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Python. Your</a:t>
            </a:r>
            <a:r>
              <a:rPr sz="165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write</a:t>
            </a:r>
            <a:r>
              <a:rPr sz="165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script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20">
                <a:solidFill>
                  <a:srgbClr val="333333"/>
                </a:solidFill>
                <a:latin typeface="Segoe UI"/>
                <a:cs typeface="Segoe UI"/>
              </a:rPr>
              <a:t>that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automates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extraction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given</a:t>
            </a:r>
            <a:r>
              <a:rPr sz="1650" i="1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CSV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files</a:t>
            </a:r>
            <a:r>
              <a:rPr sz="1650" i="1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then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summarizes</a:t>
            </a:r>
            <a:r>
              <a:rPr sz="1650" i="1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10">
                <a:solidFill>
                  <a:srgbClr val="333333"/>
                </a:solidFill>
                <a:latin typeface="Segoe UI"/>
                <a:cs typeface="Segoe UI"/>
              </a:rPr>
              <a:t>report.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code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snippet</a:t>
            </a:r>
            <a:r>
              <a:rPr sz="165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comments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explaining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each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10">
                <a:solidFill>
                  <a:srgbClr val="333333"/>
                </a:solidFill>
                <a:latin typeface="Segoe UI"/>
                <a:cs typeface="Segoe UI"/>
              </a:rPr>
              <a:t>process.”</a:t>
            </a:r>
            <a:endParaRPr sz="1650">
              <a:latin typeface="Segoe UI"/>
              <a:cs typeface="Segoe UI"/>
            </a:endParaRPr>
          </a:p>
          <a:p>
            <a:pPr marL="12700" marR="297180">
              <a:lnSpc>
                <a:spcPct val="101800"/>
              </a:lnSpc>
              <a:spcBef>
                <a:spcPts val="1940"/>
              </a:spcBef>
            </a:pP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"As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social</a:t>
            </a:r>
            <a:r>
              <a:rPr sz="165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media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10">
                <a:solidFill>
                  <a:srgbClr val="333333"/>
                </a:solidFill>
                <a:latin typeface="Segoe UI"/>
                <a:cs typeface="Segoe UI"/>
              </a:rPr>
              <a:t>marketer,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develop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brief</a:t>
            </a:r>
            <a:r>
              <a:rPr sz="165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plan</a:t>
            </a:r>
            <a:r>
              <a:rPr sz="165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increasing</a:t>
            </a:r>
            <a:r>
              <a:rPr sz="1650" i="1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engagement</a:t>
            </a:r>
            <a:r>
              <a:rPr sz="165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5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20">
                <a:solidFill>
                  <a:srgbClr val="333333"/>
                </a:solidFill>
                <a:latin typeface="Segoe UI"/>
                <a:cs typeface="Segoe UI"/>
              </a:rPr>
              <a:t>eco-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friendly</a:t>
            </a:r>
            <a:r>
              <a:rPr sz="1650" i="1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product.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Include</a:t>
            </a:r>
            <a:r>
              <a:rPr sz="1650" i="1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165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themes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i="1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posts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ideal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posting</a:t>
            </a:r>
            <a:r>
              <a:rPr sz="1650" i="1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times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table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10">
                <a:solidFill>
                  <a:srgbClr val="333333"/>
                </a:solidFill>
                <a:latin typeface="Segoe UI"/>
                <a:cs typeface="Segoe UI"/>
              </a:rPr>
              <a:t>format."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7257" y="1143508"/>
            <a:ext cx="2574671" cy="23262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8321" y="6356949"/>
            <a:ext cx="172085" cy="20637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50" spc="-25">
                <a:solidFill>
                  <a:srgbClr val="FFFFFF"/>
                </a:solidFill>
                <a:latin typeface="Segoe UI"/>
                <a:cs typeface="Segoe UI"/>
              </a:rPr>
              <a:t>38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Prompt</a:t>
            </a:r>
            <a:r>
              <a:rPr sz="2150" spc="-50"/>
              <a:t> </a:t>
            </a:r>
            <a:r>
              <a:rPr sz="2150"/>
              <a:t>Engineering</a:t>
            </a:r>
            <a:r>
              <a:rPr sz="2150" spc="-30"/>
              <a:t> </a:t>
            </a:r>
            <a:r>
              <a:rPr sz="2150"/>
              <a:t>techniques</a:t>
            </a:r>
            <a:r>
              <a:rPr sz="2150" spc="-25"/>
              <a:t> </a:t>
            </a:r>
            <a:r>
              <a:rPr sz="2150"/>
              <a:t>and</a:t>
            </a:r>
            <a:r>
              <a:rPr sz="2150" spc="-30"/>
              <a:t> </a:t>
            </a:r>
            <a:r>
              <a:rPr sz="2150"/>
              <a:t>approaches</a:t>
            </a:r>
            <a:r>
              <a:rPr sz="2150" spc="-40"/>
              <a:t> </a:t>
            </a:r>
            <a:r>
              <a:rPr sz="2150" spc="-10"/>
              <a:t>[RISEN]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27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67587" y="1169289"/>
            <a:ext cx="10431780" cy="5185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RISEN</a:t>
            </a:r>
            <a:r>
              <a:rPr sz="24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(Role,</a:t>
            </a:r>
            <a:r>
              <a:rPr sz="2400" b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Instructions,</a:t>
            </a:r>
            <a:r>
              <a:rPr sz="2400" b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Steps,</a:t>
            </a:r>
            <a:r>
              <a:rPr sz="24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End</a:t>
            </a:r>
            <a:r>
              <a:rPr sz="24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goal,</a:t>
            </a:r>
            <a:r>
              <a:rPr sz="24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b="1" spc="-10">
                <a:solidFill>
                  <a:srgbClr val="333333"/>
                </a:solidFill>
                <a:latin typeface="Segoe UI"/>
                <a:cs typeface="Segoe UI"/>
              </a:rPr>
              <a:t>Narrowing):</a:t>
            </a:r>
            <a:endParaRPr sz="2400">
              <a:latin typeface="Segoe UI"/>
              <a:cs typeface="Segoe UI"/>
            </a:endParaRPr>
          </a:p>
          <a:p>
            <a:pPr marL="12700" marR="157480">
              <a:lnSpc>
                <a:spcPct val="101099"/>
              </a:lnSpc>
              <a:spcBef>
                <a:spcPts val="5"/>
              </a:spcBef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engineering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technique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designed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break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down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complex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constrained tasks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into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actionable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components.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provides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structured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approach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guide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executing tasks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with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multiple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layers,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9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90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blog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posts,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research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projects,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business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plans.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b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template: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"Role:</a:t>
            </a:r>
            <a:r>
              <a:rPr sz="1900" i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role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i="1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want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take.]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Main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Task: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i="1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want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i="1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complete.]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complete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task: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numbered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list</a:t>
            </a:r>
            <a:r>
              <a:rPr sz="1900" i="1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follow.]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Goal: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goal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output]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Constraints: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[Enter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constraints].“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 i="1" spc="-10">
                <a:solidFill>
                  <a:srgbClr val="333333"/>
                </a:solidFill>
                <a:latin typeface="Segoe UI"/>
                <a:cs typeface="Segoe UI"/>
              </a:rPr>
              <a:t>Example:</a:t>
            </a:r>
            <a:endParaRPr sz="1900">
              <a:latin typeface="Segoe UI"/>
              <a:cs typeface="Segoe UI"/>
            </a:endParaRPr>
          </a:p>
          <a:p>
            <a:pPr marL="12700" marR="5080">
              <a:lnSpc>
                <a:spcPts val="2020"/>
              </a:lnSpc>
              <a:spcBef>
                <a:spcPts val="70"/>
              </a:spcBef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"Act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[Marketing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Strategist].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Develop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[comprehensive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marketing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strategy]</a:t>
            </a:r>
            <a:r>
              <a:rPr sz="16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eco-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friendly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household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product.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Begin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[identifying</a:t>
            </a:r>
            <a:r>
              <a:rPr sz="16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target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audience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preferences],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then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move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[creating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ts val="1939"/>
              </a:lnSpc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messaging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strategy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aligns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audience's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values].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Next,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[choose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most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effective</a:t>
            </a:r>
            <a:r>
              <a:rPr sz="16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marketing</a:t>
            </a:r>
            <a:endParaRPr sz="1650">
              <a:latin typeface="Segoe UI"/>
              <a:cs typeface="Segoe UI"/>
            </a:endParaRPr>
          </a:p>
          <a:p>
            <a:pPr marL="12700" marR="185420">
              <a:lnSpc>
                <a:spcPct val="101800"/>
              </a:lnSpc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channels],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finally,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[outline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launch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plan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includes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timeline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marketing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activities].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Ensure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>
                <a:solidFill>
                  <a:srgbClr val="333333"/>
                </a:solidFill>
                <a:latin typeface="Segoe UI"/>
                <a:cs typeface="Segoe UI"/>
              </a:rPr>
              <a:t>that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strategy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[focuses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specifically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eco-conscious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consumers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emphasizes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sustainability]."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Emotion</a:t>
            </a:r>
            <a:r>
              <a:rPr sz="2150" spc="5"/>
              <a:t> </a:t>
            </a:r>
            <a:r>
              <a:rPr sz="2150" spc="-10"/>
              <a:t>Prompting</a:t>
            </a:r>
            <a:endParaRPr sz="21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/>
              <a:t>Overview</a:t>
            </a:r>
            <a:endParaRPr sz="1600"/>
          </a:p>
          <a:p>
            <a:pPr marL="12700" marR="193675">
              <a:lnSpc>
                <a:spcPct val="100000"/>
              </a:lnSpc>
            </a:pPr>
            <a:r>
              <a:rPr sz="1600" b="0">
                <a:latin typeface="Segoe UI"/>
                <a:cs typeface="Segoe UI"/>
              </a:rPr>
              <a:t>Emotion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prompting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is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technique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that</a:t>
            </a:r>
            <a:r>
              <a:rPr sz="1600" b="0" spc="-5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involves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adding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emotional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cues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to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prompts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given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to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large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language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 spc="-10">
                <a:latin typeface="Segoe UI"/>
                <a:cs typeface="Segoe UI"/>
              </a:rPr>
              <a:t>models </a:t>
            </a:r>
            <a:r>
              <a:rPr sz="1600" b="0">
                <a:latin typeface="Segoe UI"/>
                <a:cs typeface="Segoe UI"/>
              </a:rPr>
              <a:t>(LLMs).</a:t>
            </a:r>
            <a:r>
              <a:rPr sz="1600" b="0" spc="-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An</a:t>
            </a:r>
            <a:r>
              <a:rPr sz="1600" b="0" spc="-2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example</a:t>
            </a:r>
            <a:r>
              <a:rPr sz="1600" b="0" spc="-2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of</a:t>
            </a:r>
            <a:r>
              <a:rPr sz="1600" b="0" spc="-2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emotion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cue</a:t>
            </a:r>
            <a:r>
              <a:rPr sz="1600" b="0" spc="-1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is</a:t>
            </a:r>
            <a:r>
              <a:rPr sz="1600" b="0" spc="-1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“This</a:t>
            </a:r>
            <a:r>
              <a:rPr sz="1600" b="0" spc="-2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is</a:t>
            </a:r>
            <a:r>
              <a:rPr sz="1600" b="0" spc="-2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very</a:t>
            </a:r>
            <a:r>
              <a:rPr sz="1600" b="0" spc="-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important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to</a:t>
            </a:r>
            <a:r>
              <a:rPr sz="1600" b="0" spc="-1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my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 spc="-10">
                <a:latin typeface="Segoe UI"/>
                <a:cs typeface="Segoe UI"/>
              </a:rPr>
              <a:t>career”.</a:t>
            </a: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600"/>
              <a:t>How</a:t>
            </a:r>
            <a:r>
              <a:rPr sz="1600" spc="-40"/>
              <a:t> </a:t>
            </a:r>
            <a:r>
              <a:rPr sz="1600"/>
              <a:t>it</a:t>
            </a:r>
            <a:r>
              <a:rPr sz="1600" spc="-35"/>
              <a:t> </a:t>
            </a:r>
            <a:r>
              <a:rPr sz="1600" spc="-10"/>
              <a:t>works</a:t>
            </a:r>
            <a:endParaRPr sz="1600"/>
          </a:p>
          <a:p>
            <a:pPr marL="12700" marR="5080">
              <a:lnSpc>
                <a:spcPct val="100000"/>
              </a:lnSpc>
            </a:pPr>
            <a:r>
              <a:rPr sz="1600" b="0">
                <a:latin typeface="Segoe UI"/>
                <a:cs typeface="Segoe UI"/>
              </a:rPr>
              <a:t>This</a:t>
            </a:r>
            <a:r>
              <a:rPr sz="1600" b="0" spc="-5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prompting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approach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is</a:t>
            </a:r>
            <a:r>
              <a:rPr sz="1600" b="0" spc="-5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proposed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based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on</a:t>
            </a:r>
            <a:r>
              <a:rPr sz="1600" b="0" spc="-5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previous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 spc="-10">
                <a:latin typeface="Segoe UI"/>
                <a:cs typeface="Segoe UI"/>
              </a:rPr>
              <a:t>psychological</a:t>
            </a:r>
            <a:r>
              <a:rPr sz="1600" b="0" spc="-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studies</a:t>
            </a:r>
            <a:r>
              <a:rPr sz="1600" b="0" spc="-5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that</a:t>
            </a:r>
            <a:r>
              <a:rPr sz="1600" b="0" spc="-5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have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shown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the</a:t>
            </a:r>
            <a:r>
              <a:rPr sz="1600" b="0" spc="-5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beneficial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 spc="-10">
                <a:latin typeface="Segoe UI"/>
                <a:cs typeface="Segoe UI"/>
              </a:rPr>
              <a:t>impact </a:t>
            </a:r>
            <a:r>
              <a:rPr sz="1600" b="0">
                <a:latin typeface="Segoe UI"/>
                <a:cs typeface="Segoe UI"/>
              </a:rPr>
              <a:t>of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emotional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stimuli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related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to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expectancy,</a:t>
            </a:r>
            <a:r>
              <a:rPr sz="1600" b="0" spc="-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confidence,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and</a:t>
            </a:r>
            <a:r>
              <a:rPr sz="1600" b="0" spc="-5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social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influence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on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individuals.</a:t>
            </a:r>
            <a:r>
              <a:rPr sz="1600" b="0" spc="-2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As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part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of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 spc="-10">
                <a:latin typeface="Segoe UI"/>
                <a:cs typeface="Segoe UI"/>
              </a:rPr>
              <a:t>emotion </a:t>
            </a:r>
            <a:r>
              <a:rPr sz="1600" b="0">
                <a:latin typeface="Segoe UI"/>
                <a:cs typeface="Segoe UI"/>
              </a:rPr>
              <a:t>prompting,</a:t>
            </a:r>
            <a:r>
              <a:rPr sz="1600" b="0" spc="-2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emotional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cues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are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appended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to</a:t>
            </a:r>
            <a:r>
              <a:rPr sz="1600" b="0" spc="-2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the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prompt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and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then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given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to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the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 spc="-20">
                <a:latin typeface="Segoe UI"/>
                <a:cs typeface="Segoe UI"/>
              </a:rPr>
              <a:t>LLM.</a:t>
            </a:r>
            <a:endParaRPr sz="16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2324" y="3486734"/>
            <a:ext cx="5230335" cy="26064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28</a:t>
            </a:fld>
            <a:endParaRPr spc="-25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Enhancing</a:t>
            </a:r>
            <a:r>
              <a:rPr sz="2150" spc="-15"/>
              <a:t> </a:t>
            </a:r>
            <a:r>
              <a:rPr sz="2150"/>
              <a:t>Model</a:t>
            </a:r>
            <a:r>
              <a:rPr sz="2150" spc="-25"/>
              <a:t> </a:t>
            </a:r>
            <a:r>
              <a:rPr sz="2150"/>
              <a:t>Interaction</a:t>
            </a:r>
            <a:r>
              <a:rPr sz="2150" spc="-20"/>
              <a:t> </a:t>
            </a:r>
            <a:r>
              <a:rPr sz="2150"/>
              <a:t>with</a:t>
            </a:r>
            <a:r>
              <a:rPr sz="2150" spc="-30"/>
              <a:t> </a:t>
            </a:r>
            <a:r>
              <a:rPr sz="2150"/>
              <a:t>Emotional</a:t>
            </a:r>
            <a:r>
              <a:rPr sz="2150" spc="-20"/>
              <a:t> </a:t>
            </a:r>
            <a:r>
              <a:rPr sz="2150"/>
              <a:t>and</a:t>
            </a:r>
            <a:r>
              <a:rPr sz="2150" spc="-30"/>
              <a:t> </a:t>
            </a:r>
            <a:r>
              <a:rPr sz="2150"/>
              <a:t>Motivational</a:t>
            </a:r>
            <a:r>
              <a:rPr sz="2150" spc="-20"/>
              <a:t> </a:t>
            </a:r>
            <a:r>
              <a:rPr sz="2150" spc="-10"/>
              <a:t>Language</a:t>
            </a:r>
            <a:endParaRPr sz="21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08279">
              <a:lnSpc>
                <a:spcPct val="100499"/>
              </a:lnSpc>
              <a:spcBef>
                <a:spcPts val="95"/>
              </a:spcBef>
            </a:pPr>
            <a:r>
              <a:t>Utilizing</a:t>
            </a:r>
            <a:r>
              <a:rPr spc="-15"/>
              <a:t> </a:t>
            </a:r>
            <a:r>
              <a:t>emotional</a:t>
            </a:r>
            <a:r>
              <a:rPr spc="-10"/>
              <a:t> </a:t>
            </a:r>
            <a:r>
              <a:t>and</a:t>
            </a:r>
            <a:r>
              <a:rPr spc="-15"/>
              <a:t> </a:t>
            </a:r>
            <a:r>
              <a:t>motivating</a:t>
            </a:r>
            <a:r>
              <a:rPr spc="-20"/>
              <a:t> </a:t>
            </a:r>
            <a:r>
              <a:t>language</a:t>
            </a:r>
            <a:r>
              <a:rPr spc="-5"/>
              <a:t> </a:t>
            </a:r>
            <a:r>
              <a:t>when</a:t>
            </a:r>
            <a:r>
              <a:rPr spc="-20"/>
              <a:t> </a:t>
            </a:r>
            <a:r>
              <a:t>interacting</a:t>
            </a:r>
            <a:r>
              <a:rPr spc="-20"/>
              <a:t> </a:t>
            </a:r>
            <a:r>
              <a:t>with</a:t>
            </a:r>
            <a:r>
              <a:rPr spc="-20"/>
              <a:t> </a:t>
            </a:r>
            <a:r>
              <a:t>the</a:t>
            </a:r>
            <a:r>
              <a:rPr spc="-20"/>
              <a:t> </a:t>
            </a:r>
            <a:r>
              <a:rPr spc="-10"/>
              <a:t>models </a:t>
            </a:r>
            <a:r>
              <a:t>can</a:t>
            </a:r>
            <a:r>
              <a:rPr spc="-5"/>
              <a:t> </a:t>
            </a:r>
            <a:r>
              <a:t>yield</a:t>
            </a:r>
            <a:r>
              <a:rPr spc="-30"/>
              <a:t> </a:t>
            </a:r>
            <a:r>
              <a:t>improved</a:t>
            </a:r>
            <a:r>
              <a:rPr spc="-30"/>
              <a:t> </a:t>
            </a:r>
            <a:r>
              <a:t>outcomes.</a:t>
            </a:r>
            <a:r>
              <a:rPr spc="10"/>
              <a:t> </a:t>
            </a:r>
            <a:r>
              <a:t>For</a:t>
            </a:r>
            <a:r>
              <a:rPr spc="-20"/>
              <a:t> </a:t>
            </a:r>
            <a:r>
              <a:rPr spc="-10"/>
              <a:t>instance::</a:t>
            </a:r>
          </a:p>
          <a:p>
            <a:pPr marL="354965" indent="-34226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0" spc="-50">
                <a:latin typeface="Segoe UI"/>
                <a:cs typeface="Segoe UI"/>
              </a:rPr>
              <a:t>Take</a:t>
            </a:r>
            <a:r>
              <a:rPr sz="1900" b="0" spc="-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a</a:t>
            </a:r>
            <a:r>
              <a:rPr sz="1900" b="0" spc="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deep</a:t>
            </a:r>
            <a:r>
              <a:rPr sz="1900" b="0" spc="-2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breath,</a:t>
            </a:r>
            <a:r>
              <a:rPr sz="1900" b="0" spc="-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let's</a:t>
            </a:r>
            <a:r>
              <a:rPr sz="1900" b="0" spc="-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think</a:t>
            </a:r>
            <a:r>
              <a:rPr sz="1900" b="0" spc="-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step</a:t>
            </a:r>
            <a:r>
              <a:rPr sz="1900" b="0" spc="-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by </a:t>
            </a:r>
            <a:r>
              <a:rPr sz="1900" b="0" spc="-20">
                <a:latin typeface="Segoe UI"/>
                <a:cs typeface="Segoe UI"/>
              </a:rPr>
              <a:t>step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0">
                <a:latin typeface="Segoe UI"/>
                <a:cs typeface="Segoe UI"/>
              </a:rPr>
              <a:t>This</a:t>
            </a:r>
            <a:r>
              <a:rPr sz="1900" b="0" spc="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is</a:t>
            </a:r>
            <a:r>
              <a:rPr sz="1900" b="0" spc="3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very</a:t>
            </a:r>
            <a:r>
              <a:rPr sz="1900" b="0" spc="2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important</a:t>
            </a:r>
            <a:r>
              <a:rPr sz="1900" b="0" spc="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for</a:t>
            </a:r>
            <a:r>
              <a:rPr sz="1900" b="0" spc="3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my</a:t>
            </a:r>
            <a:r>
              <a:rPr sz="1900" b="0" spc="20">
                <a:latin typeface="Segoe UI"/>
                <a:cs typeface="Segoe UI"/>
              </a:rPr>
              <a:t> </a:t>
            </a:r>
            <a:r>
              <a:rPr sz="1900" b="0" spc="-10">
                <a:latin typeface="Segoe UI"/>
                <a:cs typeface="Segoe UI"/>
              </a:rPr>
              <a:t>career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0">
                <a:latin typeface="Segoe UI"/>
                <a:cs typeface="Segoe UI"/>
              </a:rPr>
              <a:t>I'll</a:t>
            </a:r>
            <a:r>
              <a:rPr sz="1900" b="0" spc="-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generously</a:t>
            </a:r>
            <a:r>
              <a:rPr sz="1900" b="0" spc="-2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reward</a:t>
            </a:r>
            <a:r>
              <a:rPr sz="1900" b="0" spc="-3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you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with</a:t>
            </a:r>
            <a:r>
              <a:rPr sz="1900" b="0" spc="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a</a:t>
            </a:r>
            <a:r>
              <a:rPr sz="1900" b="0" spc="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$20</a:t>
            </a:r>
            <a:r>
              <a:rPr sz="1900" b="0" spc="30">
                <a:latin typeface="Segoe UI"/>
                <a:cs typeface="Segoe UI"/>
              </a:rPr>
              <a:t> </a:t>
            </a:r>
            <a:r>
              <a:rPr sz="1900" b="0" spc="-20">
                <a:latin typeface="Segoe UI"/>
                <a:cs typeface="Segoe UI"/>
              </a:rPr>
              <a:t>tip.</a:t>
            </a:r>
            <a:endParaRPr sz="1900">
              <a:latin typeface="Segoe UI"/>
              <a:cs typeface="Segoe UI"/>
            </a:endParaRPr>
          </a:p>
          <a:p>
            <a:pPr marL="355600" marR="394970" indent="-342900">
              <a:lnSpc>
                <a:spcPts val="2300"/>
              </a:lnSpc>
              <a:spcBef>
                <a:spcPts val="85"/>
              </a:spcBef>
              <a:buFont typeface="Arial"/>
              <a:buChar char="•"/>
              <a:tabLst>
                <a:tab pos="355600" algn="l"/>
              </a:tabLst>
            </a:pPr>
            <a:r>
              <a:rPr sz="1900" b="0">
                <a:latin typeface="Segoe UI"/>
                <a:cs typeface="Segoe UI"/>
              </a:rPr>
              <a:t>Are</a:t>
            </a:r>
            <a:r>
              <a:rPr sz="1900" b="0" spc="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you</a:t>
            </a:r>
            <a:r>
              <a:rPr sz="1900" b="0" spc="3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absolutely</a:t>
            </a:r>
            <a:r>
              <a:rPr sz="1900" b="0" spc="-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certain?</a:t>
            </a:r>
            <a:r>
              <a:rPr sz="1900" b="0" spc="-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Is</a:t>
            </a:r>
            <a:r>
              <a:rPr sz="1900" b="0" spc="2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this</a:t>
            </a:r>
            <a:r>
              <a:rPr sz="1900" b="0" spc="2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your</a:t>
            </a:r>
            <a:r>
              <a:rPr sz="1900" b="0" spc="2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definitive</a:t>
            </a:r>
            <a:r>
              <a:rPr sz="1900" b="0" spc="-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response?</a:t>
            </a:r>
            <a:r>
              <a:rPr sz="1900" b="0" spc="-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It</a:t>
            </a:r>
            <a:r>
              <a:rPr sz="1900" b="0" spc="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could</a:t>
            </a:r>
            <a:r>
              <a:rPr sz="1900" b="0" spc="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be</a:t>
            </a:r>
            <a:r>
              <a:rPr sz="1900" b="0" spc="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beneficial</a:t>
            </a:r>
            <a:r>
              <a:rPr sz="1900" b="0" spc="-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to</a:t>
            </a:r>
            <a:r>
              <a:rPr sz="1900" b="0" spc="15">
                <a:latin typeface="Segoe UI"/>
                <a:cs typeface="Segoe UI"/>
              </a:rPr>
              <a:t> </a:t>
            </a:r>
            <a:r>
              <a:rPr sz="1900" b="0" spc="-10">
                <a:latin typeface="Segoe UI"/>
                <a:cs typeface="Segoe UI"/>
              </a:rPr>
              <a:t>review </a:t>
            </a:r>
            <a:r>
              <a:rPr sz="1900" b="0">
                <a:latin typeface="Segoe UI"/>
                <a:cs typeface="Segoe UI"/>
              </a:rPr>
              <a:t>once</a:t>
            </a:r>
            <a:r>
              <a:rPr sz="1900" b="0" spc="30">
                <a:latin typeface="Segoe UI"/>
                <a:cs typeface="Segoe UI"/>
              </a:rPr>
              <a:t> </a:t>
            </a:r>
            <a:r>
              <a:rPr sz="1900" b="0" spc="-10">
                <a:latin typeface="Segoe UI"/>
                <a:cs typeface="Segoe UI"/>
              </a:rPr>
              <a:t>more.</a:t>
            </a:r>
            <a:endParaRPr sz="1900">
              <a:latin typeface="Segoe UI"/>
              <a:cs typeface="Segoe UI"/>
            </a:endParaRPr>
          </a:p>
          <a:p>
            <a:pPr marL="355600" marR="5080" indent="-342900">
              <a:lnSpc>
                <a:spcPts val="2300"/>
              </a:lnSpc>
              <a:spcBef>
                <a:spcPts val="10"/>
              </a:spcBef>
              <a:buFont typeface="Arial"/>
              <a:buChar char="•"/>
              <a:tabLst>
                <a:tab pos="355600" algn="l"/>
              </a:tabLst>
            </a:pPr>
            <a:r>
              <a:rPr sz="1900" b="0">
                <a:latin typeface="Segoe UI"/>
                <a:cs typeface="Segoe UI"/>
              </a:rPr>
              <a:t>Embrace your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work with</a:t>
            </a:r>
            <a:r>
              <a:rPr sz="1900" b="0" spc="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pride</a:t>
            </a:r>
            <a:r>
              <a:rPr sz="1900" b="0" spc="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and</a:t>
            </a:r>
            <a:r>
              <a:rPr sz="1900" b="0" spc="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exert your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utmost</a:t>
            </a:r>
            <a:r>
              <a:rPr sz="1900" b="0" spc="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effort.</a:t>
            </a:r>
            <a:r>
              <a:rPr sz="1900" b="0" spc="-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Have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faith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in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your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capabilities</a:t>
            </a:r>
            <a:r>
              <a:rPr sz="1900" b="0" spc="-5">
                <a:latin typeface="Segoe UI"/>
                <a:cs typeface="Segoe UI"/>
              </a:rPr>
              <a:t> </a:t>
            </a:r>
            <a:r>
              <a:rPr sz="1900" b="0" spc="-25">
                <a:latin typeface="Segoe UI"/>
                <a:cs typeface="Segoe UI"/>
              </a:rPr>
              <a:t>and </a:t>
            </a:r>
            <a:r>
              <a:rPr sz="1900" b="0">
                <a:latin typeface="Segoe UI"/>
                <a:cs typeface="Segoe UI"/>
              </a:rPr>
              <a:t>aim</a:t>
            </a:r>
            <a:r>
              <a:rPr sz="1900" b="0" spc="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for</a:t>
            </a:r>
            <a:r>
              <a:rPr sz="1900" b="0" spc="10">
                <a:latin typeface="Segoe UI"/>
                <a:cs typeface="Segoe UI"/>
              </a:rPr>
              <a:t> </a:t>
            </a:r>
            <a:r>
              <a:rPr sz="1900" b="0" spc="-10">
                <a:latin typeface="Segoe UI"/>
                <a:cs typeface="Segoe UI"/>
              </a:rPr>
              <a:t>excellence</a:t>
            </a:r>
            <a:endParaRPr sz="19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800" y="3928224"/>
            <a:ext cx="3208753" cy="23672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9958" y="4197225"/>
            <a:ext cx="6836251" cy="210315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29</a:t>
            </a:fld>
            <a:endParaRPr spc="-25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166" y="6343231"/>
            <a:ext cx="10523220" cy="267970"/>
            <a:chOff x="824166" y="6343231"/>
            <a:chExt cx="10523220" cy="267970"/>
          </a:xfrm>
        </p:grpSpPr>
        <p:sp>
          <p:nvSpPr>
            <p:cNvPr id="3" name="object 3"/>
            <p:cNvSpPr/>
            <p:nvPr/>
          </p:nvSpPr>
          <p:spPr>
            <a:xfrm>
              <a:off x="827341" y="634640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20">
                  <a:moveTo>
                    <a:pt x="0" y="0"/>
                  </a:moveTo>
                  <a:lnTo>
                    <a:pt x="10516806" y="7124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341" y="6346939"/>
              <a:ext cx="519430" cy="264795"/>
            </a:xfrm>
            <a:custGeom>
              <a:avLst/>
              <a:gdLst/>
              <a:ahLst/>
              <a:cxnLst/>
              <a:rect l="l" t="t" r="r" b="b"/>
              <a:pathLst>
                <a:path w="519430" h="264795">
                  <a:moveTo>
                    <a:pt x="519163" y="0"/>
                  </a:moveTo>
                  <a:lnTo>
                    <a:pt x="0" y="0"/>
                  </a:lnTo>
                  <a:lnTo>
                    <a:pt x="0" y="264172"/>
                  </a:lnTo>
                  <a:lnTo>
                    <a:pt x="519163" y="264172"/>
                  </a:lnTo>
                  <a:lnTo>
                    <a:pt x="5191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Prompt</a:t>
            </a:r>
            <a:r>
              <a:rPr sz="2150" spc="-30"/>
              <a:t> </a:t>
            </a:r>
            <a:r>
              <a:rPr sz="2150"/>
              <a:t>Engineering</a:t>
            </a:r>
            <a:r>
              <a:rPr sz="2150" spc="-5"/>
              <a:t> </a:t>
            </a:r>
            <a:r>
              <a:rPr sz="2150" spc="-10"/>
              <a:t>cheatsheets</a:t>
            </a:r>
            <a:endParaRPr sz="215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593" y="1188669"/>
            <a:ext cx="3379978" cy="507949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86378" y="1080427"/>
            <a:ext cx="4214622" cy="52156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40827" y="1120724"/>
            <a:ext cx="3736721" cy="514743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30</a:t>
            </a:fld>
            <a:endParaRPr spc="-25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General</a:t>
            </a:r>
            <a:r>
              <a:rPr sz="2150" spc="-30"/>
              <a:t> </a:t>
            </a:r>
            <a:r>
              <a:rPr sz="2150"/>
              <a:t>prompting</a:t>
            </a:r>
            <a:r>
              <a:rPr sz="2150" spc="-25"/>
              <a:t> </a:t>
            </a:r>
            <a:r>
              <a:rPr sz="2150" spc="-20"/>
              <a:t>Tips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31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67587" y="1136675"/>
            <a:ext cx="10376535" cy="53086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23545" indent="-410845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latest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Put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instructions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at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beginning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###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"""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separate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instruction</a:t>
            </a:r>
            <a:r>
              <a:rPr sz="16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specific,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descriptive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detailed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possible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about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context,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outcome,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length,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format,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style,</a:t>
            </a:r>
            <a:r>
              <a:rPr sz="16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etc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Reduce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“fluffy”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imprecise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descriptions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context: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6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help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understand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question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better.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Articulate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through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(example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1,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example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2).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Include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6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sample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answers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show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you're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looking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for.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(Few-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shot)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Iterative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approach: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Don't</a:t>
            </a:r>
            <a:r>
              <a:rPr sz="1600" spc="-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hesitate</a:t>
            </a:r>
            <a:r>
              <a:rPr sz="16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iterate</a:t>
            </a:r>
            <a:r>
              <a:rPr sz="16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refine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prompts.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Experiment</a:t>
            </a:r>
            <a:r>
              <a:rPr sz="16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different</a:t>
            </a:r>
            <a:r>
              <a:rPr sz="16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phrasings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endParaRPr sz="1600">
              <a:latin typeface="Segoe UI"/>
              <a:cs typeface="Segoe UI"/>
            </a:endParaRPr>
          </a:p>
          <a:p>
            <a:pPr marL="424180">
              <a:lnSpc>
                <a:spcPct val="100000"/>
              </a:lnSpc>
              <a:spcBef>
                <a:spcPts val="685"/>
              </a:spcBef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structures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see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which</a:t>
            </a:r>
            <a:r>
              <a:rPr sz="16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ones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yield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best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results.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85"/>
              </a:spcBef>
              <a:buAutoNum type="arabicPeriod" startAt="9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Instead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just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saying</a:t>
            </a:r>
            <a:r>
              <a:rPr sz="16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not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do,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say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do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instead</a:t>
            </a:r>
            <a:endParaRPr sz="1600">
              <a:latin typeface="Segoe UI"/>
              <a:cs typeface="Segoe UI"/>
            </a:endParaRPr>
          </a:p>
          <a:p>
            <a:pPr marL="478790" indent="-466090">
              <a:lnSpc>
                <a:spcPct val="100000"/>
              </a:lnSpc>
              <a:spcBef>
                <a:spcPts val="675"/>
              </a:spcBef>
              <a:buAutoNum type="arabicPeriod" startAt="9"/>
              <a:tabLst>
                <a:tab pos="478790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Code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“leading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words”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nudge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toward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particular</a:t>
            </a:r>
            <a:r>
              <a:rPr sz="16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pattern</a:t>
            </a:r>
            <a:endParaRPr sz="16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Clr>
                <a:srgbClr val="333333"/>
              </a:buClr>
              <a:buFont typeface="Segoe UI"/>
              <a:buAutoNum type="arabicPeriod" startAt="9"/>
            </a:pP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Resource</a:t>
            </a:r>
            <a:r>
              <a:rPr sz="16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600">
              <a:latin typeface="Segoe UI"/>
              <a:cs typeface="Segoe UI"/>
            </a:endParaRPr>
          </a:p>
          <a:p>
            <a:pPr marL="299085" lvl="1" indent="-286385">
              <a:lnSpc>
                <a:spcPct val="100000"/>
              </a:lnSpc>
              <a:spcBef>
                <a:spcPts val="670"/>
              </a:spcBef>
              <a:buClr>
                <a:srgbClr val="333333"/>
              </a:buClr>
              <a:buFont typeface="Arial"/>
              <a:buChar char="•"/>
              <a:tabLst>
                <a:tab pos="299085" algn="l"/>
              </a:tabLst>
            </a:pPr>
            <a:r>
              <a:rPr sz="1600" u="sng" spc="-1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https://www.promptingguide.ai/</a:t>
            </a:r>
            <a:endParaRPr sz="1600">
              <a:latin typeface="Segoe UI"/>
              <a:cs typeface="Segoe UI"/>
            </a:endParaRPr>
          </a:p>
          <a:p>
            <a:pPr marL="299085" lvl="1" indent="-286385">
              <a:lnSpc>
                <a:spcPct val="100000"/>
              </a:lnSpc>
              <a:spcBef>
                <a:spcPts val="685"/>
              </a:spcBef>
              <a:buClr>
                <a:srgbClr val="333333"/>
              </a:buClr>
              <a:buFont typeface="Arial"/>
              <a:buChar char="•"/>
              <a:tabLst>
                <a:tab pos="299085" algn="l"/>
              </a:tabLst>
            </a:pPr>
            <a:r>
              <a:rPr sz="1600" u="sng" spc="-1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https://llmnanban.akmmusai.pro/Introductory/What-is-a-prompt/</a:t>
            </a:r>
            <a:endParaRPr sz="1600">
              <a:latin typeface="Segoe UI"/>
              <a:cs typeface="Segoe UI"/>
            </a:endParaRPr>
          </a:p>
          <a:p>
            <a:pPr marL="299085" lvl="1" indent="-286385">
              <a:lnSpc>
                <a:spcPct val="100000"/>
              </a:lnSpc>
              <a:spcBef>
                <a:spcPts val="685"/>
              </a:spcBef>
              <a:buClr>
                <a:srgbClr val="333333"/>
              </a:buClr>
              <a:buFont typeface="Arial"/>
              <a:buChar char="•"/>
              <a:tabLst>
                <a:tab pos="299085" algn="l"/>
              </a:tabLst>
            </a:pPr>
            <a:r>
              <a:rPr sz="1600" u="sng" spc="-1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https://help.openai.com/en/articles/6654000-best-practices-for-prompt-engineering-with-</a:t>
            </a:r>
            <a:r>
              <a:rPr sz="1600" u="sng" spc="-2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openai-</a:t>
            </a:r>
            <a:r>
              <a:rPr sz="1600" u="sng" spc="-25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api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771013" y="2340990"/>
            <a:ext cx="6652259" cy="191262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19835" marR="5080" indent="-1207770">
              <a:lnSpc>
                <a:spcPts val="6940"/>
              </a:lnSpc>
              <a:spcBef>
                <a:spcPts val="1145"/>
              </a:spcBef>
            </a:pPr>
            <a:r>
              <a:rPr sz="6600">
                <a:solidFill>
                  <a:srgbClr val="000000"/>
                </a:solidFill>
              </a:rPr>
              <a:t>Data</a:t>
            </a:r>
            <a:r>
              <a:rPr sz="6600" spc="-50">
                <a:solidFill>
                  <a:srgbClr val="000000"/>
                </a:solidFill>
              </a:rPr>
              <a:t> </a:t>
            </a:r>
            <a:r>
              <a:rPr sz="6600">
                <a:solidFill>
                  <a:srgbClr val="000000"/>
                </a:solidFill>
              </a:rPr>
              <a:t>privacy</a:t>
            </a:r>
            <a:r>
              <a:rPr sz="6600" spc="-50">
                <a:solidFill>
                  <a:srgbClr val="000000"/>
                </a:solidFill>
              </a:rPr>
              <a:t> </a:t>
            </a:r>
            <a:r>
              <a:rPr sz="6600" spc="-25">
                <a:solidFill>
                  <a:srgbClr val="000000"/>
                </a:solidFill>
              </a:rPr>
              <a:t>and </a:t>
            </a:r>
            <a:r>
              <a:rPr sz="6600" spc="-10">
                <a:solidFill>
                  <a:srgbClr val="000000"/>
                </a:solidFill>
              </a:rPr>
              <a:t>limitations</a:t>
            </a:r>
            <a:endParaRPr sz="6600"/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54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634640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20">
                <a:moveTo>
                  <a:pt x="0" y="0"/>
                </a:moveTo>
                <a:lnTo>
                  <a:pt x="10516806" y="7124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5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Data</a:t>
            </a:r>
            <a:r>
              <a:rPr spc="40"/>
              <a:t> </a:t>
            </a:r>
            <a:r>
              <a:t>security</a:t>
            </a:r>
            <a:r>
              <a:rPr spc="40"/>
              <a:t> </a:t>
            </a:r>
            <a:r>
              <a:t>and</a:t>
            </a:r>
            <a:r>
              <a:rPr spc="45"/>
              <a:t> </a:t>
            </a:r>
            <a:r>
              <a:t>privacy</a:t>
            </a:r>
            <a:r>
              <a:rPr spc="50"/>
              <a:t> </a:t>
            </a:r>
            <a:r>
              <a:t>guidelines</a:t>
            </a:r>
            <a:r>
              <a:rPr spc="40"/>
              <a:t> </a:t>
            </a:r>
            <a:r>
              <a:t>for</a:t>
            </a:r>
            <a:r>
              <a:rPr spc="40"/>
              <a:t> </a:t>
            </a:r>
            <a:r>
              <a:t>using</a:t>
            </a:r>
            <a:r>
              <a:rPr spc="30"/>
              <a:t> </a:t>
            </a:r>
            <a:r>
              <a:t>AI</a:t>
            </a:r>
            <a:r>
              <a:rPr spc="55"/>
              <a:t> </a:t>
            </a:r>
            <a:r>
              <a:rPr spc="-10"/>
              <a:t>tools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7341" y="6346939"/>
            <a:ext cx="519430" cy="26479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1050" spc="-25">
                <a:solidFill>
                  <a:srgbClr val="FFFFFF"/>
                </a:solidFill>
                <a:latin typeface="Segoe UI"/>
                <a:cs typeface="Segoe UI"/>
              </a:rPr>
              <a:t>55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7587" y="1134872"/>
            <a:ext cx="10526395" cy="43789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0"/>
              </a:spcBef>
            </a:pP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Rules</a:t>
            </a:r>
            <a:r>
              <a:rPr sz="1650" b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b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consider</a:t>
            </a:r>
            <a:r>
              <a:rPr sz="1650" b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sz="1650" b="1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dealing</a:t>
            </a:r>
            <a:r>
              <a:rPr sz="1650" b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b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b="1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spc="-10">
                <a:solidFill>
                  <a:srgbClr val="333333"/>
                </a:solidFill>
                <a:latin typeface="Segoe UI"/>
                <a:cs typeface="Segoe UI"/>
              </a:rPr>
              <a:t>tools:</a:t>
            </a:r>
            <a:endParaRPr sz="1650">
              <a:latin typeface="Segoe UI"/>
              <a:cs typeface="Segoe UI"/>
            </a:endParaRPr>
          </a:p>
          <a:p>
            <a:pPr marL="355600" marR="6985" indent="-342900" algn="just">
              <a:lnSpc>
                <a:spcPts val="2020"/>
              </a:lnSpc>
              <a:spcBef>
                <a:spcPts val="70"/>
              </a:spcBef>
              <a:buFont typeface="Arial"/>
              <a:buChar char="•"/>
              <a:tabLst>
                <a:tab pos="355600" algn="l"/>
                <a:tab pos="357505" algn="l"/>
              </a:tabLst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50" b="1" spc="2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mindful</a:t>
            </a:r>
            <a:r>
              <a:rPr sz="1650" b="1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b="1" spc="2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b="1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b="1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share:</a:t>
            </a:r>
            <a:r>
              <a:rPr sz="1650" b="1" spc="2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Some</a:t>
            </a:r>
            <a:r>
              <a:rPr sz="1650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spc="2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may</a:t>
            </a:r>
            <a:r>
              <a:rPr sz="1650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50" spc="2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229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submit</a:t>
            </a:r>
            <a:r>
              <a:rPr sz="1650" spc="2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training,</a:t>
            </a:r>
            <a:r>
              <a:rPr sz="1650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>
                <a:solidFill>
                  <a:srgbClr val="333333"/>
                </a:solidFill>
                <a:latin typeface="Segoe UI"/>
                <a:cs typeface="Segoe UI"/>
              </a:rPr>
              <a:t>and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some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store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50" spc="2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prompts.</a:t>
            </a:r>
            <a:r>
              <a:rPr sz="1650" spc="2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Therefore,</a:t>
            </a:r>
            <a:r>
              <a:rPr sz="1650" spc="2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limit</a:t>
            </a:r>
            <a:r>
              <a:rPr sz="1650" spc="2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2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2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2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share</a:t>
            </a:r>
            <a:r>
              <a:rPr sz="1650" spc="25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spc="2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25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tools,</a:t>
            </a:r>
            <a:r>
              <a:rPr sz="1650" spc="2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spc="229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50" spc="25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name,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personal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information,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work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information,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company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name,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any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other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confidential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650">
              <a:latin typeface="Segoe UI"/>
              <a:cs typeface="Segoe UI"/>
            </a:endParaRPr>
          </a:p>
          <a:p>
            <a:pPr marL="355600" marR="5080" indent="-342900" algn="just">
              <a:lnSpc>
                <a:spcPct val="101800"/>
              </a:lnSpc>
              <a:spcBef>
                <a:spcPts val="1935"/>
              </a:spcBef>
              <a:buFont typeface="Arial"/>
              <a:buChar char="•"/>
              <a:tabLst>
                <a:tab pos="355600" algn="l"/>
                <a:tab pos="357505" algn="l"/>
              </a:tabLst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Don't</a:t>
            </a:r>
            <a:r>
              <a:rPr sz="1650" b="1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trust</a:t>
            </a:r>
            <a:r>
              <a:rPr sz="1650" b="1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b="1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50" b="1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1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b="1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b="1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blindly:</a:t>
            </a:r>
            <a:r>
              <a:rPr sz="1650" b="1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not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always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correct.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may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receive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incorrect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data,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some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tools,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ChatGPT,</a:t>
            </a:r>
            <a:r>
              <a:rPr sz="165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limited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65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6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were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trained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on.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Therefore,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>
                <a:solidFill>
                  <a:srgbClr val="333333"/>
                </a:solidFill>
                <a:latin typeface="Segoe UI"/>
                <a:cs typeface="Segoe UI"/>
              </a:rPr>
              <a:t>you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should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always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double-check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before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using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>
                <a:solidFill>
                  <a:srgbClr val="333333"/>
                </a:solidFill>
                <a:latin typeface="Segoe UI"/>
                <a:cs typeface="Segoe UI"/>
              </a:rPr>
              <a:t>it.</a:t>
            </a:r>
            <a:endParaRPr sz="1650">
              <a:latin typeface="Segoe UI"/>
              <a:cs typeface="Segoe UI"/>
            </a:endParaRPr>
          </a:p>
          <a:p>
            <a:pPr marL="355600" marR="6985" indent="-342900" algn="just">
              <a:lnSpc>
                <a:spcPct val="101800"/>
              </a:lnSpc>
              <a:spcBef>
                <a:spcPts val="2020"/>
              </a:spcBef>
              <a:buFont typeface="Arial"/>
              <a:buChar char="•"/>
              <a:tabLst>
                <a:tab pos="355600" algn="l"/>
                <a:tab pos="357505" algn="l"/>
              </a:tabLst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50" b="1" spc="1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aware</a:t>
            </a:r>
            <a:r>
              <a:rPr sz="1650" b="1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b="1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limitations</a:t>
            </a:r>
            <a:r>
              <a:rPr sz="1650" b="1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b="1" spc="20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tools:</a:t>
            </a:r>
            <a:r>
              <a:rPr sz="1650" b="1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50" spc="1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not</a:t>
            </a:r>
            <a:r>
              <a:rPr sz="1650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perfect,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make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mistakes,</a:t>
            </a:r>
            <a:r>
              <a:rPr sz="1650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>
                <a:solidFill>
                  <a:srgbClr val="333333"/>
                </a:solidFill>
                <a:latin typeface="Segoe UI"/>
                <a:cs typeface="Segoe UI"/>
              </a:rPr>
              <a:t>be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biased,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much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limitations.</a:t>
            </a:r>
            <a:endParaRPr sz="1650">
              <a:latin typeface="Segoe UI"/>
              <a:cs typeface="Segoe UI"/>
            </a:endParaRPr>
          </a:p>
          <a:p>
            <a:pPr marL="355600" marR="7620" indent="-342900" algn="just">
              <a:lnSpc>
                <a:spcPct val="101800"/>
              </a:lnSpc>
              <a:spcBef>
                <a:spcPts val="2014"/>
              </a:spcBef>
              <a:buFont typeface="Arial"/>
              <a:buChar char="•"/>
              <a:tabLst>
                <a:tab pos="355600" algn="l"/>
                <a:tab pos="357505" algn="l"/>
              </a:tabLst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Read</a:t>
            </a:r>
            <a:r>
              <a:rPr sz="1650" b="1" spc="1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b="1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terms</a:t>
            </a:r>
            <a:r>
              <a:rPr sz="1650" b="1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1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service</a:t>
            </a:r>
            <a:r>
              <a:rPr sz="1650" b="1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b="1" spc="1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privacy</a:t>
            </a:r>
            <a:r>
              <a:rPr sz="1650" b="1" spc="1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policy</a:t>
            </a:r>
            <a:r>
              <a:rPr sz="1650" b="1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carefully:</a:t>
            </a:r>
            <a:r>
              <a:rPr sz="1650" b="1" spc="1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650" spc="1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will</a:t>
            </a:r>
            <a:r>
              <a:rPr sz="1650" spc="1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help</a:t>
            </a:r>
            <a:r>
              <a:rPr sz="1650" spc="1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understand</a:t>
            </a:r>
            <a:r>
              <a:rPr sz="1650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650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50" spc="1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>
                <a:solidFill>
                  <a:srgbClr val="333333"/>
                </a:solidFill>
                <a:latin typeface="Segoe UI"/>
                <a:cs typeface="Segoe UI"/>
              </a:rPr>
              <a:t>will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used.</a:t>
            </a:r>
            <a:endParaRPr sz="1650">
              <a:latin typeface="Segoe UI"/>
              <a:cs typeface="Segoe UI"/>
            </a:endParaRPr>
          </a:p>
          <a:p>
            <a:pPr marL="355600" marR="5715" indent="-342900" algn="just">
              <a:lnSpc>
                <a:spcPct val="101800"/>
              </a:lnSpc>
              <a:spcBef>
                <a:spcPts val="2020"/>
              </a:spcBef>
              <a:buFont typeface="Arial"/>
              <a:buChar char="•"/>
              <a:tabLst>
                <a:tab pos="355600" algn="l"/>
                <a:tab pos="357505" algn="l"/>
              </a:tabLst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Only</a:t>
            </a:r>
            <a:r>
              <a:rPr sz="1650" b="1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50" b="1" spc="2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b="1" spc="3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b="1" spc="3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650" b="1" spc="3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reputable</a:t>
            </a:r>
            <a:r>
              <a:rPr sz="1650" b="1" spc="3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companies:</a:t>
            </a:r>
            <a:r>
              <a:rPr sz="1650" b="1" spc="3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These</a:t>
            </a:r>
            <a:r>
              <a:rPr sz="1650" spc="2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companies</a:t>
            </a:r>
            <a:r>
              <a:rPr sz="1650" spc="3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50" spc="2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650" spc="3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likely</a:t>
            </a:r>
            <a:r>
              <a:rPr sz="1650" spc="3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spc="3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have</a:t>
            </a:r>
            <a:r>
              <a:rPr sz="1650" spc="2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safeguards</a:t>
            </a:r>
            <a:r>
              <a:rPr sz="1650" spc="3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>
                <a:solidFill>
                  <a:srgbClr val="333333"/>
                </a:solidFill>
                <a:latin typeface="Segoe UI"/>
                <a:cs typeface="Segoe UI"/>
              </a:rPr>
              <a:t>in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place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protect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29419" y="2768930"/>
            <a:ext cx="8130086" cy="102848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6600" spc="65" dirty="0">
                <a:solidFill>
                  <a:srgbClr val="000000"/>
                </a:solidFill>
              </a:rPr>
              <a:t>Vibe </a:t>
            </a:r>
            <a:r>
              <a:rPr lang="en-US" sz="6600" spc="65">
                <a:solidFill>
                  <a:srgbClr val="000000"/>
                </a:solidFill>
              </a:rPr>
              <a:t>Coding Tools</a:t>
            </a:r>
            <a:endParaRPr lang="en-US"/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59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BCAFE8A-2244-9197-19BD-66600A490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9449F6A7-BDE5-9815-BAA6-77A2D925892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A3100A5D-6C14-352A-BEEB-3B68D1DE0218}"/>
              </a:ext>
            </a:extLst>
          </p:cNvPr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D37A710-678C-44E7-F75F-D59DBCA8B27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F52DAE9-B918-F4C1-483E-9D9857CA73EE}"/>
                </a:ext>
              </a:extLst>
            </p:cNvPr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47E0ECF-C69F-BC99-78B5-9C8A381C70ED}"/>
                </a:ext>
              </a:extLst>
            </p:cNvPr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8A6E6ACF-A0D0-F95D-E282-9C92456B9288}"/>
                </a:ext>
              </a:extLst>
            </p:cNvPr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C1FA7AE7-191A-08BE-4DA4-FFB246BBD8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1305" y="2768930"/>
            <a:ext cx="500951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600" spc="65">
                <a:solidFill>
                  <a:srgbClr val="000000"/>
                </a:solidFill>
              </a:rPr>
              <a:t>Thank you</a:t>
            </a:r>
            <a:endParaRPr sz="660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73E48B9-CFEB-C6D9-6157-68C99390791A}"/>
              </a:ext>
            </a:extLst>
          </p:cNvPr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ED69A8C-206D-AA5E-F3A1-7370704EE7F0}"/>
              </a:ext>
            </a:extLst>
          </p:cNvPr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59</a:t>
            </a:r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19108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2D5654-86E4-9563-C4F0-D96B7D80C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E94B8F86-CA4C-61EA-C4B8-5B86EA0397C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6F34A29C-A493-ABBE-25C6-999671BE9007}"/>
              </a:ext>
            </a:extLst>
          </p:cNvPr>
          <p:cNvGrpSpPr/>
          <p:nvPr/>
        </p:nvGrpSpPr>
        <p:grpSpPr>
          <a:xfrm>
            <a:off x="762000" y="-148896"/>
            <a:ext cx="10177780" cy="6867525"/>
            <a:chOff x="905145" y="-4762"/>
            <a:chExt cx="10177780" cy="686752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C861DBE-36AF-E5CC-7C8B-B909B264542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1483680-7E40-AAEF-F65E-D931B6A3A0A5}"/>
                </a:ext>
              </a:extLst>
            </p:cNvPr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06E1DAC-3FEF-E917-9B8B-7EC1857D9528}"/>
                </a:ext>
              </a:extLst>
            </p:cNvPr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64AEB77-6C0C-5737-61D2-BA4B49888524}"/>
                </a:ext>
              </a:extLst>
            </p:cNvPr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FEFD5E0-4ABC-B6D4-4893-677A1C402A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58327" y="1142497"/>
            <a:ext cx="500951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6600" spc="65">
                <a:solidFill>
                  <a:srgbClr val="000000"/>
                </a:solidFill>
              </a:rPr>
              <a:t>Lab</a:t>
            </a:r>
            <a:endParaRPr sz="660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6356202-45A7-2517-12CC-E10F9064C8B4}"/>
              </a:ext>
            </a:extLst>
          </p:cNvPr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5FE0ABE-E524-E09A-D5B6-031056F8FB47}"/>
              </a:ext>
            </a:extLst>
          </p:cNvPr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59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2" name="Picture 11" descr="A yellow sticky note with red push pin&#10;&#10;AI-generated content may be incorrect.">
            <a:extLst>
              <a:ext uri="{FF2B5EF4-FFF2-40B4-BE49-F238E27FC236}">
                <a16:creationId xmlns:a16="http://schemas.microsoft.com/office/drawing/2014/main" id="{B8195E93-6EE8-F5E2-FC98-3145873E92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077187" y="2180148"/>
            <a:ext cx="4423682" cy="311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072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575CC3-5FC5-01D1-A492-2E58D6E3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D4439BD-D15C-58FC-4C28-B9F6D5F82584}"/>
              </a:ext>
            </a:extLst>
          </p:cNvPr>
          <p:cNvSpPr/>
          <p:nvPr/>
        </p:nvSpPr>
        <p:spPr>
          <a:xfrm>
            <a:off x="-2298" y="365137"/>
            <a:ext cx="9361170" cy="681355"/>
          </a:xfrm>
          <a:custGeom>
            <a:avLst/>
            <a:gdLst/>
            <a:ahLst/>
            <a:cxnLst/>
            <a:rect l="l" t="t" r="r" b="b"/>
            <a:pathLst>
              <a:path w="9361170" h="681355">
                <a:moveTo>
                  <a:pt x="9360954" y="318960"/>
                </a:moveTo>
                <a:lnTo>
                  <a:pt x="9357347" y="267335"/>
                </a:lnTo>
                <a:lnTo>
                  <a:pt x="9346895" y="218325"/>
                </a:lnTo>
                <a:lnTo>
                  <a:pt x="9330169" y="172580"/>
                </a:lnTo>
                <a:lnTo>
                  <a:pt x="9307703" y="130784"/>
                </a:lnTo>
                <a:lnTo>
                  <a:pt x="9280080" y="93599"/>
                </a:lnTo>
                <a:lnTo>
                  <a:pt x="9247848" y="61671"/>
                </a:lnTo>
                <a:lnTo>
                  <a:pt x="9211577" y="35687"/>
                </a:lnTo>
                <a:lnTo>
                  <a:pt x="9171813" y="16306"/>
                </a:lnTo>
                <a:lnTo>
                  <a:pt x="9129116" y="4191"/>
                </a:lnTo>
                <a:lnTo>
                  <a:pt x="9084056" y="0"/>
                </a:lnTo>
                <a:lnTo>
                  <a:pt x="0" y="0"/>
                </a:lnTo>
                <a:lnTo>
                  <a:pt x="0" y="681164"/>
                </a:lnTo>
                <a:lnTo>
                  <a:pt x="9084056" y="681164"/>
                </a:lnTo>
                <a:lnTo>
                  <a:pt x="9129116" y="676973"/>
                </a:lnTo>
                <a:lnTo>
                  <a:pt x="9171813" y="664845"/>
                </a:lnTo>
                <a:lnTo>
                  <a:pt x="9211577" y="645401"/>
                </a:lnTo>
                <a:lnTo>
                  <a:pt x="9247848" y="619315"/>
                </a:lnTo>
                <a:lnTo>
                  <a:pt x="9280080" y="587235"/>
                </a:lnTo>
                <a:lnTo>
                  <a:pt x="9307703" y="549795"/>
                </a:lnTo>
                <a:lnTo>
                  <a:pt x="9330169" y="507657"/>
                </a:lnTo>
                <a:lnTo>
                  <a:pt x="9346895" y="461467"/>
                </a:lnTo>
                <a:lnTo>
                  <a:pt x="9357347" y="411861"/>
                </a:lnTo>
                <a:lnTo>
                  <a:pt x="9360954" y="359498"/>
                </a:lnTo>
                <a:lnTo>
                  <a:pt x="9360954" y="31896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A8C2CAA-9765-42D1-7B3A-F2610FE7CB6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" y="6261607"/>
            <a:ext cx="12187111" cy="594211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5BD75D96-8ED1-FDDA-315E-DE1AE22D0F96}"/>
              </a:ext>
            </a:extLst>
          </p:cNvPr>
          <p:cNvSpPr/>
          <p:nvPr/>
        </p:nvSpPr>
        <p:spPr>
          <a:xfrm>
            <a:off x="11704193" y="705814"/>
            <a:ext cx="488315" cy="306070"/>
          </a:xfrm>
          <a:custGeom>
            <a:avLst/>
            <a:gdLst/>
            <a:ahLst/>
            <a:cxnLst/>
            <a:rect l="l" t="t" r="r" b="b"/>
            <a:pathLst>
              <a:path w="488315" h="306069">
                <a:moveTo>
                  <a:pt x="154736" y="0"/>
                </a:moveTo>
                <a:lnTo>
                  <a:pt x="0" y="0"/>
                </a:lnTo>
                <a:lnTo>
                  <a:pt x="0" y="151409"/>
                </a:lnTo>
                <a:lnTo>
                  <a:pt x="8026" y="200647"/>
                </a:lnTo>
                <a:lnTo>
                  <a:pt x="30251" y="243027"/>
                </a:lnTo>
                <a:lnTo>
                  <a:pt x="63944" y="276174"/>
                </a:lnTo>
                <a:lnTo>
                  <a:pt x="106349" y="297789"/>
                </a:lnTo>
                <a:lnTo>
                  <a:pt x="154736" y="305511"/>
                </a:lnTo>
                <a:lnTo>
                  <a:pt x="154736" y="0"/>
                </a:lnTo>
                <a:close/>
              </a:path>
              <a:path w="488315" h="306069">
                <a:moveTo>
                  <a:pt x="331190" y="0"/>
                </a:moveTo>
                <a:lnTo>
                  <a:pt x="176453" y="0"/>
                </a:lnTo>
                <a:lnTo>
                  <a:pt x="176453" y="305511"/>
                </a:lnTo>
                <a:lnTo>
                  <a:pt x="224878" y="297789"/>
                </a:lnTo>
                <a:lnTo>
                  <a:pt x="267296" y="276174"/>
                </a:lnTo>
                <a:lnTo>
                  <a:pt x="300977" y="243027"/>
                </a:lnTo>
                <a:lnTo>
                  <a:pt x="323176" y="200647"/>
                </a:lnTo>
                <a:lnTo>
                  <a:pt x="331190" y="151409"/>
                </a:lnTo>
                <a:lnTo>
                  <a:pt x="331190" y="0"/>
                </a:lnTo>
                <a:close/>
              </a:path>
              <a:path w="488315" h="306069">
                <a:moveTo>
                  <a:pt x="487794" y="0"/>
                </a:moveTo>
                <a:lnTo>
                  <a:pt x="352907" y="0"/>
                </a:lnTo>
                <a:lnTo>
                  <a:pt x="352907" y="305511"/>
                </a:lnTo>
                <a:lnTo>
                  <a:pt x="401332" y="297789"/>
                </a:lnTo>
                <a:lnTo>
                  <a:pt x="443738" y="276174"/>
                </a:lnTo>
                <a:lnTo>
                  <a:pt x="477418" y="243027"/>
                </a:lnTo>
                <a:lnTo>
                  <a:pt x="487794" y="223227"/>
                </a:lnTo>
                <a:lnTo>
                  <a:pt x="487794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B7C3C27-2431-5211-DCDA-F5F4310FFBD7}"/>
              </a:ext>
            </a:extLst>
          </p:cNvPr>
          <p:cNvSpPr/>
          <p:nvPr/>
        </p:nvSpPr>
        <p:spPr>
          <a:xfrm>
            <a:off x="11001147" y="375983"/>
            <a:ext cx="154940" cy="635635"/>
          </a:xfrm>
          <a:custGeom>
            <a:avLst/>
            <a:gdLst/>
            <a:ahLst/>
            <a:cxnLst/>
            <a:rect l="l" t="t" r="r" b="b"/>
            <a:pathLst>
              <a:path w="154940" h="635635">
                <a:moveTo>
                  <a:pt x="154736" y="329831"/>
                </a:moveTo>
                <a:lnTo>
                  <a:pt x="0" y="329831"/>
                </a:lnTo>
                <a:lnTo>
                  <a:pt x="0" y="635342"/>
                </a:lnTo>
                <a:lnTo>
                  <a:pt x="48425" y="627621"/>
                </a:lnTo>
                <a:lnTo>
                  <a:pt x="90830" y="606005"/>
                </a:lnTo>
                <a:lnTo>
                  <a:pt x="124510" y="572858"/>
                </a:lnTo>
                <a:lnTo>
                  <a:pt x="146723" y="530479"/>
                </a:lnTo>
                <a:lnTo>
                  <a:pt x="154736" y="481241"/>
                </a:lnTo>
                <a:lnTo>
                  <a:pt x="154736" y="329831"/>
                </a:lnTo>
                <a:close/>
              </a:path>
              <a:path w="154940" h="635635">
                <a:moveTo>
                  <a:pt x="154736" y="0"/>
                </a:moveTo>
                <a:lnTo>
                  <a:pt x="0" y="0"/>
                </a:lnTo>
                <a:lnTo>
                  <a:pt x="0" y="151396"/>
                </a:lnTo>
                <a:lnTo>
                  <a:pt x="7747" y="200647"/>
                </a:lnTo>
                <a:lnTo>
                  <a:pt x="29451" y="243014"/>
                </a:lnTo>
                <a:lnTo>
                  <a:pt x="62750" y="276174"/>
                </a:lnTo>
                <a:lnTo>
                  <a:pt x="105295" y="297776"/>
                </a:lnTo>
                <a:lnTo>
                  <a:pt x="154736" y="305498"/>
                </a:lnTo>
                <a:lnTo>
                  <a:pt x="154736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5E66224-386A-FEF4-5FBC-27A770C3D243}"/>
              </a:ext>
            </a:extLst>
          </p:cNvPr>
          <p:cNvSpPr/>
          <p:nvPr/>
        </p:nvSpPr>
        <p:spPr>
          <a:xfrm>
            <a:off x="11177588" y="705814"/>
            <a:ext cx="505459" cy="306070"/>
          </a:xfrm>
          <a:custGeom>
            <a:avLst/>
            <a:gdLst/>
            <a:ahLst/>
            <a:cxnLst/>
            <a:rect l="l" t="t" r="r" b="b"/>
            <a:pathLst>
              <a:path w="505459" h="306069">
                <a:moveTo>
                  <a:pt x="154749" y="305511"/>
                </a:moveTo>
                <a:lnTo>
                  <a:pt x="154736" y="0"/>
                </a:lnTo>
                <a:lnTo>
                  <a:pt x="106349" y="7988"/>
                </a:lnTo>
                <a:lnTo>
                  <a:pt x="63944" y="30111"/>
                </a:lnTo>
                <a:lnTo>
                  <a:pt x="30251" y="63652"/>
                </a:lnTo>
                <a:lnTo>
                  <a:pt x="8026" y="105892"/>
                </a:lnTo>
                <a:lnTo>
                  <a:pt x="0" y="154101"/>
                </a:lnTo>
                <a:lnTo>
                  <a:pt x="0" y="305511"/>
                </a:lnTo>
                <a:lnTo>
                  <a:pt x="154749" y="305511"/>
                </a:lnTo>
                <a:close/>
              </a:path>
              <a:path w="505459" h="306069">
                <a:moveTo>
                  <a:pt x="331190" y="154101"/>
                </a:moveTo>
                <a:lnTo>
                  <a:pt x="323189" y="105892"/>
                </a:lnTo>
                <a:lnTo>
                  <a:pt x="300977" y="63652"/>
                </a:lnTo>
                <a:lnTo>
                  <a:pt x="267296" y="30111"/>
                </a:lnTo>
                <a:lnTo>
                  <a:pt x="224878" y="7988"/>
                </a:lnTo>
                <a:lnTo>
                  <a:pt x="176453" y="0"/>
                </a:lnTo>
                <a:lnTo>
                  <a:pt x="176453" y="305511"/>
                </a:lnTo>
                <a:lnTo>
                  <a:pt x="331190" y="305511"/>
                </a:lnTo>
                <a:lnTo>
                  <a:pt x="331190" y="154101"/>
                </a:lnTo>
                <a:close/>
              </a:path>
              <a:path w="505459" h="306069">
                <a:moveTo>
                  <a:pt x="504901" y="154101"/>
                </a:moveTo>
                <a:lnTo>
                  <a:pt x="496887" y="105892"/>
                </a:lnTo>
                <a:lnTo>
                  <a:pt x="474675" y="63652"/>
                </a:lnTo>
                <a:lnTo>
                  <a:pt x="440994" y="30111"/>
                </a:lnTo>
                <a:lnTo>
                  <a:pt x="398576" y="7988"/>
                </a:lnTo>
                <a:lnTo>
                  <a:pt x="350151" y="0"/>
                </a:lnTo>
                <a:lnTo>
                  <a:pt x="350164" y="305511"/>
                </a:lnTo>
                <a:lnTo>
                  <a:pt x="504901" y="305511"/>
                </a:lnTo>
                <a:lnTo>
                  <a:pt x="504901" y="154101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0CF7893-C64B-405F-8B6D-FE487AF48F94}"/>
              </a:ext>
            </a:extLst>
          </p:cNvPr>
          <p:cNvSpPr/>
          <p:nvPr/>
        </p:nvSpPr>
        <p:spPr>
          <a:xfrm>
            <a:off x="10819283" y="375983"/>
            <a:ext cx="154940" cy="635635"/>
          </a:xfrm>
          <a:custGeom>
            <a:avLst/>
            <a:gdLst/>
            <a:ahLst/>
            <a:cxnLst/>
            <a:rect l="l" t="t" r="r" b="b"/>
            <a:pathLst>
              <a:path w="154940" h="635635">
                <a:moveTo>
                  <a:pt x="154736" y="329831"/>
                </a:moveTo>
                <a:lnTo>
                  <a:pt x="106349" y="337820"/>
                </a:lnTo>
                <a:lnTo>
                  <a:pt x="63944" y="359943"/>
                </a:lnTo>
                <a:lnTo>
                  <a:pt x="30251" y="393484"/>
                </a:lnTo>
                <a:lnTo>
                  <a:pt x="8026" y="435724"/>
                </a:lnTo>
                <a:lnTo>
                  <a:pt x="0" y="483933"/>
                </a:lnTo>
                <a:lnTo>
                  <a:pt x="0" y="635342"/>
                </a:lnTo>
                <a:lnTo>
                  <a:pt x="154736" y="635342"/>
                </a:lnTo>
                <a:lnTo>
                  <a:pt x="154736" y="329831"/>
                </a:lnTo>
                <a:close/>
              </a:path>
              <a:path w="154940" h="635635">
                <a:moveTo>
                  <a:pt x="154736" y="154101"/>
                </a:moveTo>
                <a:lnTo>
                  <a:pt x="146989" y="105892"/>
                </a:lnTo>
                <a:lnTo>
                  <a:pt x="125285" y="63652"/>
                </a:lnTo>
                <a:lnTo>
                  <a:pt x="91986" y="30099"/>
                </a:lnTo>
                <a:lnTo>
                  <a:pt x="49441" y="7975"/>
                </a:lnTo>
                <a:lnTo>
                  <a:pt x="0" y="0"/>
                </a:lnTo>
                <a:lnTo>
                  <a:pt x="0" y="305498"/>
                </a:lnTo>
                <a:lnTo>
                  <a:pt x="154736" y="305498"/>
                </a:lnTo>
                <a:lnTo>
                  <a:pt x="154736" y="154101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983D5E2-97D8-3954-A3F6-3654F24C931D}"/>
              </a:ext>
            </a:extLst>
          </p:cNvPr>
          <p:cNvSpPr/>
          <p:nvPr/>
        </p:nvSpPr>
        <p:spPr>
          <a:xfrm>
            <a:off x="10287255" y="375973"/>
            <a:ext cx="154940" cy="306070"/>
          </a:xfrm>
          <a:custGeom>
            <a:avLst/>
            <a:gdLst/>
            <a:ahLst/>
            <a:cxnLst/>
            <a:rect l="l" t="t" r="r" b="b"/>
            <a:pathLst>
              <a:path w="154940" h="306070">
                <a:moveTo>
                  <a:pt x="0" y="0"/>
                </a:moveTo>
                <a:lnTo>
                  <a:pt x="0" y="305501"/>
                </a:lnTo>
                <a:lnTo>
                  <a:pt x="154765" y="305501"/>
                </a:lnTo>
                <a:lnTo>
                  <a:pt x="154765" y="154105"/>
                </a:lnTo>
                <a:lnTo>
                  <a:pt x="147010" y="105895"/>
                </a:lnTo>
                <a:lnTo>
                  <a:pt x="125309" y="63654"/>
                </a:lnTo>
                <a:lnTo>
                  <a:pt x="92008" y="30108"/>
                </a:lnTo>
                <a:lnTo>
                  <a:pt x="49456" y="7981"/>
                </a:lnTo>
                <a:lnTo>
                  <a:pt x="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0A68FA3-C4DE-7525-96AC-57610ADB8B04}"/>
              </a:ext>
            </a:extLst>
          </p:cNvPr>
          <p:cNvSpPr/>
          <p:nvPr/>
        </p:nvSpPr>
        <p:spPr>
          <a:xfrm>
            <a:off x="10287254" y="375983"/>
            <a:ext cx="508000" cy="635635"/>
          </a:xfrm>
          <a:custGeom>
            <a:avLst/>
            <a:gdLst/>
            <a:ahLst/>
            <a:cxnLst/>
            <a:rect l="l" t="t" r="r" b="b"/>
            <a:pathLst>
              <a:path w="508000" h="635635">
                <a:moveTo>
                  <a:pt x="154762" y="329831"/>
                </a:moveTo>
                <a:lnTo>
                  <a:pt x="0" y="329831"/>
                </a:lnTo>
                <a:lnTo>
                  <a:pt x="0" y="481241"/>
                </a:lnTo>
                <a:lnTo>
                  <a:pt x="8013" y="530479"/>
                </a:lnTo>
                <a:lnTo>
                  <a:pt x="30226" y="572858"/>
                </a:lnTo>
                <a:lnTo>
                  <a:pt x="63906" y="606005"/>
                </a:lnTo>
                <a:lnTo>
                  <a:pt x="106337" y="627621"/>
                </a:lnTo>
                <a:lnTo>
                  <a:pt x="154762" y="635342"/>
                </a:lnTo>
                <a:lnTo>
                  <a:pt x="154762" y="329831"/>
                </a:lnTo>
                <a:close/>
              </a:path>
              <a:path w="508000" h="635635">
                <a:moveTo>
                  <a:pt x="331216" y="329831"/>
                </a:moveTo>
                <a:lnTo>
                  <a:pt x="176479" y="329831"/>
                </a:lnTo>
                <a:lnTo>
                  <a:pt x="176479" y="635342"/>
                </a:lnTo>
                <a:lnTo>
                  <a:pt x="224866" y="627621"/>
                </a:lnTo>
                <a:lnTo>
                  <a:pt x="267271" y="606005"/>
                </a:lnTo>
                <a:lnTo>
                  <a:pt x="300964" y="572858"/>
                </a:lnTo>
                <a:lnTo>
                  <a:pt x="323189" y="530479"/>
                </a:lnTo>
                <a:lnTo>
                  <a:pt x="331216" y="481241"/>
                </a:lnTo>
                <a:lnTo>
                  <a:pt x="331216" y="329831"/>
                </a:lnTo>
                <a:close/>
              </a:path>
              <a:path w="508000" h="635635">
                <a:moveTo>
                  <a:pt x="331216" y="0"/>
                </a:moveTo>
                <a:lnTo>
                  <a:pt x="176479" y="0"/>
                </a:lnTo>
                <a:lnTo>
                  <a:pt x="176479" y="151396"/>
                </a:lnTo>
                <a:lnTo>
                  <a:pt x="184226" y="200647"/>
                </a:lnTo>
                <a:lnTo>
                  <a:pt x="205905" y="243014"/>
                </a:lnTo>
                <a:lnTo>
                  <a:pt x="239179" y="276174"/>
                </a:lnTo>
                <a:lnTo>
                  <a:pt x="281736" y="297776"/>
                </a:lnTo>
                <a:lnTo>
                  <a:pt x="331216" y="305498"/>
                </a:lnTo>
                <a:lnTo>
                  <a:pt x="331216" y="0"/>
                </a:lnTo>
                <a:close/>
              </a:path>
              <a:path w="508000" h="635635">
                <a:moveTo>
                  <a:pt x="507568" y="329831"/>
                </a:moveTo>
                <a:lnTo>
                  <a:pt x="352920" y="329831"/>
                </a:lnTo>
                <a:lnTo>
                  <a:pt x="352920" y="635342"/>
                </a:lnTo>
                <a:lnTo>
                  <a:pt x="401307" y="627621"/>
                </a:lnTo>
                <a:lnTo>
                  <a:pt x="443687" y="606005"/>
                </a:lnTo>
                <a:lnTo>
                  <a:pt x="477354" y="572858"/>
                </a:lnTo>
                <a:lnTo>
                  <a:pt x="499567" y="530479"/>
                </a:lnTo>
                <a:lnTo>
                  <a:pt x="507568" y="481241"/>
                </a:lnTo>
                <a:lnTo>
                  <a:pt x="507568" y="329831"/>
                </a:lnTo>
                <a:close/>
              </a:path>
              <a:path w="508000" h="635635">
                <a:moveTo>
                  <a:pt x="507568" y="0"/>
                </a:moveTo>
                <a:lnTo>
                  <a:pt x="352920" y="0"/>
                </a:lnTo>
                <a:lnTo>
                  <a:pt x="352920" y="305498"/>
                </a:lnTo>
                <a:lnTo>
                  <a:pt x="401307" y="297776"/>
                </a:lnTo>
                <a:lnTo>
                  <a:pt x="443687" y="276174"/>
                </a:lnTo>
                <a:lnTo>
                  <a:pt x="477354" y="243014"/>
                </a:lnTo>
                <a:lnTo>
                  <a:pt x="499567" y="200647"/>
                </a:lnTo>
                <a:lnTo>
                  <a:pt x="507568" y="151396"/>
                </a:lnTo>
                <a:lnTo>
                  <a:pt x="507568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34DB192-6A0B-CCB7-C8E8-4C4D83404C63}"/>
              </a:ext>
            </a:extLst>
          </p:cNvPr>
          <p:cNvSpPr/>
          <p:nvPr/>
        </p:nvSpPr>
        <p:spPr>
          <a:xfrm>
            <a:off x="9405036" y="375983"/>
            <a:ext cx="863600" cy="635635"/>
          </a:xfrm>
          <a:custGeom>
            <a:avLst/>
            <a:gdLst/>
            <a:ahLst/>
            <a:cxnLst/>
            <a:rect l="l" t="t" r="r" b="b"/>
            <a:pathLst>
              <a:path w="863600" h="635635">
                <a:moveTo>
                  <a:pt x="154724" y="329831"/>
                </a:moveTo>
                <a:lnTo>
                  <a:pt x="0" y="329831"/>
                </a:lnTo>
                <a:lnTo>
                  <a:pt x="0" y="635342"/>
                </a:lnTo>
                <a:lnTo>
                  <a:pt x="48399" y="627621"/>
                </a:lnTo>
                <a:lnTo>
                  <a:pt x="90817" y="606005"/>
                </a:lnTo>
                <a:lnTo>
                  <a:pt x="124498" y="572858"/>
                </a:lnTo>
                <a:lnTo>
                  <a:pt x="146710" y="530479"/>
                </a:lnTo>
                <a:lnTo>
                  <a:pt x="154724" y="481241"/>
                </a:lnTo>
                <a:lnTo>
                  <a:pt x="154724" y="329831"/>
                </a:lnTo>
                <a:close/>
              </a:path>
              <a:path w="863600" h="635635">
                <a:moveTo>
                  <a:pt x="154724" y="0"/>
                </a:moveTo>
                <a:lnTo>
                  <a:pt x="0" y="0"/>
                </a:lnTo>
                <a:lnTo>
                  <a:pt x="0" y="305498"/>
                </a:lnTo>
                <a:lnTo>
                  <a:pt x="48399" y="297776"/>
                </a:lnTo>
                <a:lnTo>
                  <a:pt x="90817" y="276174"/>
                </a:lnTo>
                <a:lnTo>
                  <a:pt x="124498" y="243014"/>
                </a:lnTo>
                <a:lnTo>
                  <a:pt x="146710" y="200647"/>
                </a:lnTo>
                <a:lnTo>
                  <a:pt x="154724" y="151396"/>
                </a:lnTo>
                <a:lnTo>
                  <a:pt x="154724" y="0"/>
                </a:lnTo>
                <a:close/>
              </a:path>
              <a:path w="863600" h="635635">
                <a:moveTo>
                  <a:pt x="333883" y="329831"/>
                </a:moveTo>
                <a:lnTo>
                  <a:pt x="179158" y="329831"/>
                </a:lnTo>
                <a:lnTo>
                  <a:pt x="179158" y="635342"/>
                </a:lnTo>
                <a:lnTo>
                  <a:pt x="227558" y="627621"/>
                </a:lnTo>
                <a:lnTo>
                  <a:pt x="269976" y="606005"/>
                </a:lnTo>
                <a:lnTo>
                  <a:pt x="303657" y="572858"/>
                </a:lnTo>
                <a:lnTo>
                  <a:pt x="325869" y="530479"/>
                </a:lnTo>
                <a:lnTo>
                  <a:pt x="333883" y="481241"/>
                </a:lnTo>
                <a:lnTo>
                  <a:pt x="333883" y="329831"/>
                </a:lnTo>
                <a:close/>
              </a:path>
              <a:path w="863600" h="635635">
                <a:moveTo>
                  <a:pt x="333883" y="0"/>
                </a:moveTo>
                <a:lnTo>
                  <a:pt x="179158" y="0"/>
                </a:lnTo>
                <a:lnTo>
                  <a:pt x="179158" y="151396"/>
                </a:lnTo>
                <a:lnTo>
                  <a:pt x="186918" y="200647"/>
                </a:lnTo>
                <a:lnTo>
                  <a:pt x="208610" y="243014"/>
                </a:lnTo>
                <a:lnTo>
                  <a:pt x="241896" y="276174"/>
                </a:lnTo>
                <a:lnTo>
                  <a:pt x="284429" y="297776"/>
                </a:lnTo>
                <a:lnTo>
                  <a:pt x="333883" y="305498"/>
                </a:lnTo>
                <a:lnTo>
                  <a:pt x="333883" y="0"/>
                </a:lnTo>
                <a:close/>
              </a:path>
              <a:path w="863600" h="635635">
                <a:moveTo>
                  <a:pt x="510324" y="154101"/>
                </a:moveTo>
                <a:lnTo>
                  <a:pt x="502577" y="105892"/>
                </a:lnTo>
                <a:lnTo>
                  <a:pt x="480885" y="63652"/>
                </a:lnTo>
                <a:lnTo>
                  <a:pt x="447586" y="30099"/>
                </a:lnTo>
                <a:lnTo>
                  <a:pt x="405041" y="7975"/>
                </a:lnTo>
                <a:lnTo>
                  <a:pt x="355600" y="0"/>
                </a:lnTo>
                <a:lnTo>
                  <a:pt x="355600" y="305498"/>
                </a:lnTo>
                <a:lnTo>
                  <a:pt x="510324" y="305498"/>
                </a:lnTo>
                <a:lnTo>
                  <a:pt x="510324" y="154101"/>
                </a:lnTo>
                <a:close/>
              </a:path>
              <a:path w="863600" h="635635">
                <a:moveTo>
                  <a:pt x="510336" y="635342"/>
                </a:moveTo>
                <a:lnTo>
                  <a:pt x="510324" y="329831"/>
                </a:lnTo>
                <a:lnTo>
                  <a:pt x="461924" y="337820"/>
                </a:lnTo>
                <a:lnTo>
                  <a:pt x="419519" y="359943"/>
                </a:lnTo>
                <a:lnTo>
                  <a:pt x="385826" y="393484"/>
                </a:lnTo>
                <a:lnTo>
                  <a:pt x="363613" y="435724"/>
                </a:lnTo>
                <a:lnTo>
                  <a:pt x="355600" y="483933"/>
                </a:lnTo>
                <a:lnTo>
                  <a:pt x="355600" y="635342"/>
                </a:lnTo>
                <a:lnTo>
                  <a:pt x="510336" y="635342"/>
                </a:lnTo>
                <a:close/>
              </a:path>
              <a:path w="863600" h="635635">
                <a:moveTo>
                  <a:pt x="686777" y="483933"/>
                </a:moveTo>
                <a:lnTo>
                  <a:pt x="678764" y="435724"/>
                </a:lnTo>
                <a:lnTo>
                  <a:pt x="656539" y="393484"/>
                </a:lnTo>
                <a:lnTo>
                  <a:pt x="622858" y="359943"/>
                </a:lnTo>
                <a:lnTo>
                  <a:pt x="580453" y="337820"/>
                </a:lnTo>
                <a:lnTo>
                  <a:pt x="532041" y="329831"/>
                </a:lnTo>
                <a:lnTo>
                  <a:pt x="532041" y="635342"/>
                </a:lnTo>
                <a:lnTo>
                  <a:pt x="686777" y="635342"/>
                </a:lnTo>
                <a:lnTo>
                  <a:pt x="686777" y="483933"/>
                </a:lnTo>
                <a:close/>
              </a:path>
              <a:path w="863600" h="635635">
                <a:moveTo>
                  <a:pt x="686777" y="305498"/>
                </a:moveTo>
                <a:lnTo>
                  <a:pt x="686765" y="0"/>
                </a:lnTo>
                <a:lnTo>
                  <a:pt x="637324" y="7975"/>
                </a:lnTo>
                <a:lnTo>
                  <a:pt x="594779" y="30099"/>
                </a:lnTo>
                <a:lnTo>
                  <a:pt x="561492" y="63652"/>
                </a:lnTo>
                <a:lnTo>
                  <a:pt x="539800" y="105892"/>
                </a:lnTo>
                <a:lnTo>
                  <a:pt x="532041" y="154101"/>
                </a:lnTo>
                <a:lnTo>
                  <a:pt x="532041" y="305498"/>
                </a:lnTo>
                <a:lnTo>
                  <a:pt x="686777" y="305498"/>
                </a:lnTo>
                <a:close/>
              </a:path>
              <a:path w="863600" h="635635">
                <a:moveTo>
                  <a:pt x="860501" y="483933"/>
                </a:moveTo>
                <a:lnTo>
                  <a:pt x="852754" y="435724"/>
                </a:lnTo>
                <a:lnTo>
                  <a:pt x="831049" y="393484"/>
                </a:lnTo>
                <a:lnTo>
                  <a:pt x="797763" y="359943"/>
                </a:lnTo>
                <a:lnTo>
                  <a:pt x="755218" y="337820"/>
                </a:lnTo>
                <a:lnTo>
                  <a:pt x="705777" y="329831"/>
                </a:lnTo>
                <a:lnTo>
                  <a:pt x="705777" y="635342"/>
                </a:lnTo>
                <a:lnTo>
                  <a:pt x="860501" y="635342"/>
                </a:lnTo>
                <a:lnTo>
                  <a:pt x="860501" y="483933"/>
                </a:lnTo>
                <a:close/>
              </a:path>
              <a:path w="863600" h="635635">
                <a:moveTo>
                  <a:pt x="863219" y="0"/>
                </a:moveTo>
                <a:lnTo>
                  <a:pt x="708482" y="0"/>
                </a:lnTo>
                <a:lnTo>
                  <a:pt x="708482" y="305498"/>
                </a:lnTo>
                <a:lnTo>
                  <a:pt x="756894" y="297776"/>
                </a:lnTo>
                <a:lnTo>
                  <a:pt x="799299" y="276174"/>
                </a:lnTo>
                <a:lnTo>
                  <a:pt x="832980" y="243014"/>
                </a:lnTo>
                <a:lnTo>
                  <a:pt x="855205" y="200647"/>
                </a:lnTo>
                <a:lnTo>
                  <a:pt x="863219" y="151396"/>
                </a:lnTo>
                <a:lnTo>
                  <a:pt x="863219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58E614D-9E03-D5F7-6D1A-D5ED42E19714}"/>
              </a:ext>
            </a:extLst>
          </p:cNvPr>
          <p:cNvSpPr/>
          <p:nvPr/>
        </p:nvSpPr>
        <p:spPr>
          <a:xfrm>
            <a:off x="11704201" y="367862"/>
            <a:ext cx="154940" cy="302895"/>
          </a:xfrm>
          <a:custGeom>
            <a:avLst/>
            <a:gdLst/>
            <a:ahLst/>
            <a:cxnLst/>
            <a:rect l="l" t="t" r="r" b="b"/>
            <a:pathLst>
              <a:path w="154940" h="302895">
                <a:moveTo>
                  <a:pt x="0" y="0"/>
                </a:moveTo>
                <a:lnTo>
                  <a:pt x="0" y="302800"/>
                </a:lnTo>
                <a:lnTo>
                  <a:pt x="154738" y="302800"/>
                </a:lnTo>
                <a:lnTo>
                  <a:pt x="154737" y="151404"/>
                </a:lnTo>
                <a:lnTo>
                  <a:pt x="146727" y="103472"/>
                </a:lnTo>
                <a:lnTo>
                  <a:pt x="124518" y="61900"/>
                </a:lnTo>
                <a:lnTo>
                  <a:pt x="90839" y="29154"/>
                </a:lnTo>
                <a:lnTo>
                  <a:pt x="48423" y="7699"/>
                </a:lnTo>
                <a:lnTo>
                  <a:pt x="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876ECEE-9FD7-9F8E-4004-FC7BEB0C0F79}"/>
              </a:ext>
            </a:extLst>
          </p:cNvPr>
          <p:cNvSpPr/>
          <p:nvPr/>
        </p:nvSpPr>
        <p:spPr>
          <a:xfrm>
            <a:off x="11880647" y="367867"/>
            <a:ext cx="311785" cy="302895"/>
          </a:xfrm>
          <a:custGeom>
            <a:avLst/>
            <a:gdLst/>
            <a:ahLst/>
            <a:cxnLst/>
            <a:rect l="l" t="t" r="r" b="b"/>
            <a:pathLst>
              <a:path w="311784" h="302895">
                <a:moveTo>
                  <a:pt x="154736" y="0"/>
                </a:moveTo>
                <a:lnTo>
                  <a:pt x="0" y="0"/>
                </a:lnTo>
                <a:lnTo>
                  <a:pt x="0" y="151409"/>
                </a:lnTo>
                <a:lnTo>
                  <a:pt x="7759" y="199339"/>
                </a:lnTo>
                <a:lnTo>
                  <a:pt x="29451" y="240906"/>
                </a:lnTo>
                <a:lnTo>
                  <a:pt x="62750" y="273646"/>
                </a:lnTo>
                <a:lnTo>
                  <a:pt x="105295" y="295097"/>
                </a:lnTo>
                <a:lnTo>
                  <a:pt x="154736" y="302806"/>
                </a:lnTo>
                <a:lnTo>
                  <a:pt x="154736" y="0"/>
                </a:lnTo>
                <a:close/>
              </a:path>
              <a:path w="311784" h="302895">
                <a:moveTo>
                  <a:pt x="311340" y="0"/>
                </a:moveTo>
                <a:lnTo>
                  <a:pt x="176453" y="0"/>
                </a:lnTo>
                <a:lnTo>
                  <a:pt x="176453" y="302806"/>
                </a:lnTo>
                <a:lnTo>
                  <a:pt x="224878" y="295097"/>
                </a:lnTo>
                <a:lnTo>
                  <a:pt x="267284" y="273646"/>
                </a:lnTo>
                <a:lnTo>
                  <a:pt x="300964" y="240906"/>
                </a:lnTo>
                <a:lnTo>
                  <a:pt x="311340" y="221475"/>
                </a:lnTo>
                <a:lnTo>
                  <a:pt x="31134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598A60F-EFF2-DB20-8688-8F66E74375A6}"/>
              </a:ext>
            </a:extLst>
          </p:cNvPr>
          <p:cNvSpPr/>
          <p:nvPr/>
        </p:nvSpPr>
        <p:spPr>
          <a:xfrm>
            <a:off x="11177588" y="367867"/>
            <a:ext cx="508000" cy="302895"/>
          </a:xfrm>
          <a:custGeom>
            <a:avLst/>
            <a:gdLst/>
            <a:ahLst/>
            <a:cxnLst/>
            <a:rect l="l" t="t" r="r" b="b"/>
            <a:pathLst>
              <a:path w="508000" h="302895">
                <a:moveTo>
                  <a:pt x="154736" y="151409"/>
                </a:moveTo>
                <a:lnTo>
                  <a:pt x="146735" y="103466"/>
                </a:lnTo>
                <a:lnTo>
                  <a:pt x="124523" y="61899"/>
                </a:lnTo>
                <a:lnTo>
                  <a:pt x="90843" y="29159"/>
                </a:lnTo>
                <a:lnTo>
                  <a:pt x="48425" y="7696"/>
                </a:lnTo>
                <a:lnTo>
                  <a:pt x="0" y="0"/>
                </a:lnTo>
                <a:lnTo>
                  <a:pt x="0" y="302806"/>
                </a:lnTo>
                <a:lnTo>
                  <a:pt x="154736" y="302806"/>
                </a:lnTo>
                <a:lnTo>
                  <a:pt x="154736" y="151409"/>
                </a:lnTo>
                <a:close/>
              </a:path>
              <a:path w="508000" h="302895">
                <a:moveTo>
                  <a:pt x="331190" y="0"/>
                </a:moveTo>
                <a:lnTo>
                  <a:pt x="281749" y="7696"/>
                </a:lnTo>
                <a:lnTo>
                  <a:pt x="239204" y="29159"/>
                </a:lnTo>
                <a:lnTo>
                  <a:pt x="205905" y="61899"/>
                </a:lnTo>
                <a:lnTo>
                  <a:pt x="184213" y="103466"/>
                </a:lnTo>
                <a:lnTo>
                  <a:pt x="176453" y="151409"/>
                </a:lnTo>
                <a:lnTo>
                  <a:pt x="176453" y="302806"/>
                </a:lnTo>
                <a:lnTo>
                  <a:pt x="331190" y="302806"/>
                </a:lnTo>
                <a:lnTo>
                  <a:pt x="331190" y="0"/>
                </a:lnTo>
                <a:close/>
              </a:path>
              <a:path w="508000" h="302895">
                <a:moveTo>
                  <a:pt x="507644" y="0"/>
                </a:moveTo>
                <a:lnTo>
                  <a:pt x="352907" y="0"/>
                </a:lnTo>
                <a:lnTo>
                  <a:pt x="352907" y="302806"/>
                </a:lnTo>
                <a:lnTo>
                  <a:pt x="401332" y="295097"/>
                </a:lnTo>
                <a:lnTo>
                  <a:pt x="443750" y="273646"/>
                </a:lnTo>
                <a:lnTo>
                  <a:pt x="477418" y="240906"/>
                </a:lnTo>
                <a:lnTo>
                  <a:pt x="499630" y="199339"/>
                </a:lnTo>
                <a:lnTo>
                  <a:pt x="507644" y="151409"/>
                </a:lnTo>
                <a:lnTo>
                  <a:pt x="507644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F0E7D51E-8EEC-C63D-DD9A-4B0F707CF7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7587" y="412750"/>
            <a:ext cx="1065682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95"/>
              </a:spcBef>
            </a:pPr>
            <a:r>
              <a:rPr sz="2800" spc="-185">
                <a:solidFill>
                  <a:srgbClr val="FFFFFF"/>
                </a:solidFill>
                <a:latin typeface="Trebuchet MS"/>
                <a:cs typeface="Trebuchet MS"/>
              </a:rPr>
              <a:t>Course</a:t>
            </a:r>
            <a:r>
              <a:rPr lang="en-US" sz="2800" spc="-17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429D6C5-0449-06C3-8A13-E593DEBAF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1" y="21879"/>
            <a:ext cx="12194298" cy="68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27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F17DD7-AD29-7657-EE57-89C357B3A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161D7DE-48E8-DE22-AD1B-40466B507C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12F9C74-2E96-2723-DD2E-5D47CB3CD20F}"/>
              </a:ext>
            </a:extLst>
          </p:cNvPr>
          <p:cNvSpPr/>
          <p:nvPr/>
        </p:nvSpPr>
        <p:spPr>
          <a:xfrm>
            <a:off x="4069332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4" h="3593465">
                <a:moveTo>
                  <a:pt x="1878670" y="0"/>
                </a:moveTo>
                <a:lnTo>
                  <a:pt x="0" y="0"/>
                </a:lnTo>
                <a:lnTo>
                  <a:pt x="0" y="3593163"/>
                </a:lnTo>
                <a:lnTo>
                  <a:pt x="48469" y="3592551"/>
                </a:lnTo>
                <a:lnTo>
                  <a:pt x="96638" y="3590727"/>
                </a:lnTo>
                <a:lnTo>
                  <a:pt x="144490" y="3587705"/>
                </a:lnTo>
                <a:lnTo>
                  <a:pt x="192012" y="3583499"/>
                </a:lnTo>
                <a:lnTo>
                  <a:pt x="239187" y="3578124"/>
                </a:lnTo>
                <a:lnTo>
                  <a:pt x="286003" y="3571596"/>
                </a:lnTo>
                <a:lnTo>
                  <a:pt x="332443" y="3563928"/>
                </a:lnTo>
                <a:lnTo>
                  <a:pt x="378493" y="3555135"/>
                </a:lnTo>
                <a:lnTo>
                  <a:pt x="424139" y="3545233"/>
                </a:lnTo>
                <a:lnTo>
                  <a:pt x="469365" y="3534236"/>
                </a:lnTo>
                <a:lnTo>
                  <a:pt x="514156" y="3522158"/>
                </a:lnTo>
                <a:lnTo>
                  <a:pt x="558499" y="3509015"/>
                </a:lnTo>
                <a:lnTo>
                  <a:pt x="602377" y="3494820"/>
                </a:lnTo>
                <a:lnTo>
                  <a:pt x="645777" y="3479590"/>
                </a:lnTo>
                <a:lnTo>
                  <a:pt x="688683" y="3463338"/>
                </a:lnTo>
                <a:lnTo>
                  <a:pt x="731081" y="3446079"/>
                </a:lnTo>
                <a:lnTo>
                  <a:pt x="772956" y="3427828"/>
                </a:lnTo>
                <a:lnTo>
                  <a:pt x="814293" y="3408600"/>
                </a:lnTo>
                <a:lnTo>
                  <a:pt x="855077" y="3388409"/>
                </a:lnTo>
                <a:lnTo>
                  <a:pt x="895294" y="3367270"/>
                </a:lnTo>
                <a:lnTo>
                  <a:pt x="934929" y="3345199"/>
                </a:lnTo>
                <a:lnTo>
                  <a:pt x="973967" y="3322208"/>
                </a:lnTo>
                <a:lnTo>
                  <a:pt x="1012393" y="3298315"/>
                </a:lnTo>
                <a:lnTo>
                  <a:pt x="1050193" y="3273532"/>
                </a:lnTo>
                <a:lnTo>
                  <a:pt x="1087351" y="3247875"/>
                </a:lnTo>
                <a:lnTo>
                  <a:pt x="1123853" y="3221358"/>
                </a:lnTo>
                <a:lnTo>
                  <a:pt x="1159684" y="3193996"/>
                </a:lnTo>
                <a:lnTo>
                  <a:pt x="1194829" y="3165805"/>
                </a:lnTo>
                <a:lnTo>
                  <a:pt x="1229274" y="3136798"/>
                </a:lnTo>
                <a:lnTo>
                  <a:pt x="1263004" y="3106990"/>
                </a:lnTo>
                <a:lnTo>
                  <a:pt x="1296004" y="3076397"/>
                </a:lnTo>
                <a:lnTo>
                  <a:pt x="1328259" y="3045032"/>
                </a:lnTo>
                <a:lnTo>
                  <a:pt x="1359754" y="3012911"/>
                </a:lnTo>
                <a:lnTo>
                  <a:pt x="1390475" y="2980048"/>
                </a:lnTo>
                <a:lnTo>
                  <a:pt x="1420406" y="2946458"/>
                </a:lnTo>
                <a:lnTo>
                  <a:pt x="1449534" y="2912156"/>
                </a:lnTo>
                <a:lnTo>
                  <a:pt x="1477843" y="2877156"/>
                </a:lnTo>
                <a:lnTo>
                  <a:pt x="1505318" y="2841474"/>
                </a:lnTo>
                <a:lnTo>
                  <a:pt x="1531945" y="2805123"/>
                </a:lnTo>
                <a:lnTo>
                  <a:pt x="1557709" y="2768119"/>
                </a:lnTo>
                <a:lnTo>
                  <a:pt x="1582595" y="2730476"/>
                </a:lnTo>
                <a:lnTo>
                  <a:pt x="1606588" y="2692209"/>
                </a:lnTo>
                <a:lnTo>
                  <a:pt x="1629674" y="2653333"/>
                </a:lnTo>
                <a:lnTo>
                  <a:pt x="1651838" y="2613862"/>
                </a:lnTo>
                <a:lnTo>
                  <a:pt x="1673064" y="2573812"/>
                </a:lnTo>
                <a:lnTo>
                  <a:pt x="1693339" y="2533197"/>
                </a:lnTo>
                <a:lnTo>
                  <a:pt x="1712647" y="2492031"/>
                </a:lnTo>
                <a:lnTo>
                  <a:pt x="1730974" y="2450329"/>
                </a:lnTo>
                <a:lnTo>
                  <a:pt x="1748305" y="2408107"/>
                </a:lnTo>
                <a:lnTo>
                  <a:pt x="1764624" y="2365379"/>
                </a:lnTo>
                <a:lnTo>
                  <a:pt x="1779918" y="2322159"/>
                </a:lnTo>
                <a:lnTo>
                  <a:pt x="1794172" y="2278462"/>
                </a:lnTo>
                <a:lnTo>
                  <a:pt x="1807370" y="2234304"/>
                </a:lnTo>
                <a:lnTo>
                  <a:pt x="1819498" y="2189698"/>
                </a:lnTo>
                <a:lnTo>
                  <a:pt x="1830541" y="2144659"/>
                </a:lnTo>
                <a:lnTo>
                  <a:pt x="1840484" y="2099203"/>
                </a:lnTo>
                <a:lnTo>
                  <a:pt x="1849314" y="2053344"/>
                </a:lnTo>
                <a:lnTo>
                  <a:pt x="1857013" y="2007096"/>
                </a:lnTo>
                <a:lnTo>
                  <a:pt x="1863569" y="1960474"/>
                </a:lnTo>
                <a:lnTo>
                  <a:pt x="1868966" y="1913494"/>
                </a:lnTo>
                <a:lnTo>
                  <a:pt x="1873189" y="1866170"/>
                </a:lnTo>
                <a:lnTo>
                  <a:pt x="1876224" y="1818515"/>
                </a:lnTo>
                <a:lnTo>
                  <a:pt x="1878056" y="1770547"/>
                </a:lnTo>
                <a:lnTo>
                  <a:pt x="1878670" y="1722278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141F0D8-615B-1C1B-0891-D2CBE7D7F23B}"/>
              </a:ext>
            </a:extLst>
          </p:cNvPr>
          <p:cNvSpPr/>
          <p:nvPr/>
        </p:nvSpPr>
        <p:spPr>
          <a:xfrm>
            <a:off x="1812056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4" h="3593465">
                <a:moveTo>
                  <a:pt x="1878670" y="0"/>
                </a:moveTo>
                <a:lnTo>
                  <a:pt x="0" y="0"/>
                </a:lnTo>
                <a:lnTo>
                  <a:pt x="0" y="3593163"/>
                </a:lnTo>
                <a:lnTo>
                  <a:pt x="48469" y="3592551"/>
                </a:lnTo>
                <a:lnTo>
                  <a:pt x="96638" y="3590727"/>
                </a:lnTo>
                <a:lnTo>
                  <a:pt x="144490" y="3587705"/>
                </a:lnTo>
                <a:lnTo>
                  <a:pt x="192012" y="3583499"/>
                </a:lnTo>
                <a:lnTo>
                  <a:pt x="239187" y="3578124"/>
                </a:lnTo>
                <a:lnTo>
                  <a:pt x="286003" y="3571596"/>
                </a:lnTo>
                <a:lnTo>
                  <a:pt x="332443" y="3563928"/>
                </a:lnTo>
                <a:lnTo>
                  <a:pt x="378493" y="3555135"/>
                </a:lnTo>
                <a:lnTo>
                  <a:pt x="424139" y="3545233"/>
                </a:lnTo>
                <a:lnTo>
                  <a:pt x="469365" y="3534236"/>
                </a:lnTo>
                <a:lnTo>
                  <a:pt x="514156" y="3522158"/>
                </a:lnTo>
                <a:lnTo>
                  <a:pt x="558499" y="3509015"/>
                </a:lnTo>
                <a:lnTo>
                  <a:pt x="602377" y="3494820"/>
                </a:lnTo>
                <a:lnTo>
                  <a:pt x="645777" y="3479590"/>
                </a:lnTo>
                <a:lnTo>
                  <a:pt x="688683" y="3463338"/>
                </a:lnTo>
                <a:lnTo>
                  <a:pt x="731081" y="3446079"/>
                </a:lnTo>
                <a:lnTo>
                  <a:pt x="772956" y="3427828"/>
                </a:lnTo>
                <a:lnTo>
                  <a:pt x="814293" y="3408600"/>
                </a:lnTo>
                <a:lnTo>
                  <a:pt x="855077" y="3388409"/>
                </a:lnTo>
                <a:lnTo>
                  <a:pt x="895294" y="3367270"/>
                </a:lnTo>
                <a:lnTo>
                  <a:pt x="934929" y="3345199"/>
                </a:lnTo>
                <a:lnTo>
                  <a:pt x="973967" y="3322208"/>
                </a:lnTo>
                <a:lnTo>
                  <a:pt x="1012393" y="3298315"/>
                </a:lnTo>
                <a:lnTo>
                  <a:pt x="1050193" y="3273532"/>
                </a:lnTo>
                <a:lnTo>
                  <a:pt x="1087351" y="3247875"/>
                </a:lnTo>
                <a:lnTo>
                  <a:pt x="1123853" y="3221358"/>
                </a:lnTo>
                <a:lnTo>
                  <a:pt x="1159684" y="3193996"/>
                </a:lnTo>
                <a:lnTo>
                  <a:pt x="1194829" y="3165805"/>
                </a:lnTo>
                <a:lnTo>
                  <a:pt x="1229274" y="3136798"/>
                </a:lnTo>
                <a:lnTo>
                  <a:pt x="1263004" y="3106990"/>
                </a:lnTo>
                <a:lnTo>
                  <a:pt x="1296004" y="3076397"/>
                </a:lnTo>
                <a:lnTo>
                  <a:pt x="1328259" y="3045032"/>
                </a:lnTo>
                <a:lnTo>
                  <a:pt x="1359754" y="3012911"/>
                </a:lnTo>
                <a:lnTo>
                  <a:pt x="1390475" y="2980048"/>
                </a:lnTo>
                <a:lnTo>
                  <a:pt x="1420406" y="2946458"/>
                </a:lnTo>
                <a:lnTo>
                  <a:pt x="1449534" y="2912156"/>
                </a:lnTo>
                <a:lnTo>
                  <a:pt x="1477843" y="2877156"/>
                </a:lnTo>
                <a:lnTo>
                  <a:pt x="1505318" y="2841474"/>
                </a:lnTo>
                <a:lnTo>
                  <a:pt x="1531945" y="2805123"/>
                </a:lnTo>
                <a:lnTo>
                  <a:pt x="1557709" y="2768119"/>
                </a:lnTo>
                <a:lnTo>
                  <a:pt x="1582595" y="2730476"/>
                </a:lnTo>
                <a:lnTo>
                  <a:pt x="1606588" y="2692209"/>
                </a:lnTo>
                <a:lnTo>
                  <a:pt x="1629674" y="2653333"/>
                </a:lnTo>
                <a:lnTo>
                  <a:pt x="1651838" y="2613862"/>
                </a:lnTo>
                <a:lnTo>
                  <a:pt x="1673064" y="2573812"/>
                </a:lnTo>
                <a:lnTo>
                  <a:pt x="1693339" y="2533197"/>
                </a:lnTo>
                <a:lnTo>
                  <a:pt x="1712647" y="2492031"/>
                </a:lnTo>
                <a:lnTo>
                  <a:pt x="1730974" y="2450329"/>
                </a:lnTo>
                <a:lnTo>
                  <a:pt x="1748305" y="2408107"/>
                </a:lnTo>
                <a:lnTo>
                  <a:pt x="1764624" y="2365379"/>
                </a:lnTo>
                <a:lnTo>
                  <a:pt x="1779918" y="2322159"/>
                </a:lnTo>
                <a:lnTo>
                  <a:pt x="1794172" y="2278462"/>
                </a:lnTo>
                <a:lnTo>
                  <a:pt x="1807370" y="2234304"/>
                </a:lnTo>
                <a:lnTo>
                  <a:pt x="1819498" y="2189698"/>
                </a:lnTo>
                <a:lnTo>
                  <a:pt x="1830541" y="2144659"/>
                </a:lnTo>
                <a:lnTo>
                  <a:pt x="1840484" y="2099203"/>
                </a:lnTo>
                <a:lnTo>
                  <a:pt x="1849314" y="2053344"/>
                </a:lnTo>
                <a:lnTo>
                  <a:pt x="1857013" y="2007096"/>
                </a:lnTo>
                <a:lnTo>
                  <a:pt x="1863569" y="1960474"/>
                </a:lnTo>
                <a:lnTo>
                  <a:pt x="1868966" y="1913494"/>
                </a:lnTo>
                <a:lnTo>
                  <a:pt x="1873189" y="1866170"/>
                </a:lnTo>
                <a:lnTo>
                  <a:pt x="1876224" y="1818515"/>
                </a:lnTo>
                <a:lnTo>
                  <a:pt x="1878056" y="1770547"/>
                </a:lnTo>
                <a:lnTo>
                  <a:pt x="1878670" y="1722278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37BCFEF-9796-3A1A-48C4-BB2B4D3FE9B6}"/>
              </a:ext>
            </a:extLst>
          </p:cNvPr>
          <p:cNvSpPr/>
          <p:nvPr/>
        </p:nvSpPr>
        <p:spPr>
          <a:xfrm>
            <a:off x="0" y="0"/>
            <a:ext cx="1663064" cy="3593465"/>
          </a:xfrm>
          <a:custGeom>
            <a:avLst/>
            <a:gdLst/>
            <a:ahLst/>
            <a:cxnLst/>
            <a:rect l="l" t="t" r="r" b="b"/>
            <a:pathLst>
              <a:path w="1663064" h="3593465">
                <a:moveTo>
                  <a:pt x="1663000" y="0"/>
                </a:moveTo>
                <a:lnTo>
                  <a:pt x="0" y="0"/>
                </a:lnTo>
                <a:lnTo>
                  <a:pt x="0" y="2592147"/>
                </a:lnTo>
                <a:lnTo>
                  <a:pt x="36360" y="2658046"/>
                </a:lnTo>
                <a:lnTo>
                  <a:pt x="60637" y="2698640"/>
                </a:lnTo>
                <a:lnTo>
                  <a:pt x="85904" y="2738562"/>
                </a:lnTo>
                <a:lnTo>
                  <a:pt x="112143" y="2777796"/>
                </a:lnTo>
                <a:lnTo>
                  <a:pt x="139339" y="2816325"/>
                </a:lnTo>
                <a:lnTo>
                  <a:pt x="167475" y="2854132"/>
                </a:lnTo>
                <a:lnTo>
                  <a:pt x="196532" y="2891200"/>
                </a:lnTo>
                <a:lnTo>
                  <a:pt x="226495" y="2927513"/>
                </a:lnTo>
                <a:lnTo>
                  <a:pt x="257346" y="2963054"/>
                </a:lnTo>
                <a:lnTo>
                  <a:pt x="289069" y="2997806"/>
                </a:lnTo>
                <a:lnTo>
                  <a:pt x="321646" y="3031753"/>
                </a:lnTo>
                <a:lnTo>
                  <a:pt x="355061" y="3064877"/>
                </a:lnTo>
                <a:lnTo>
                  <a:pt x="389297" y="3097162"/>
                </a:lnTo>
                <a:lnTo>
                  <a:pt x="424336" y="3128591"/>
                </a:lnTo>
                <a:lnTo>
                  <a:pt x="460163" y="3159148"/>
                </a:lnTo>
                <a:lnTo>
                  <a:pt x="496759" y="3188815"/>
                </a:lnTo>
                <a:lnTo>
                  <a:pt x="534108" y="3217577"/>
                </a:lnTo>
                <a:lnTo>
                  <a:pt x="572193" y="3245415"/>
                </a:lnTo>
                <a:lnTo>
                  <a:pt x="610997" y="3272314"/>
                </a:lnTo>
                <a:lnTo>
                  <a:pt x="650503" y="3298257"/>
                </a:lnTo>
                <a:lnTo>
                  <a:pt x="690694" y="3323226"/>
                </a:lnTo>
                <a:lnTo>
                  <a:pt x="731554" y="3347206"/>
                </a:lnTo>
                <a:lnTo>
                  <a:pt x="773065" y="3370179"/>
                </a:lnTo>
                <a:lnTo>
                  <a:pt x="815210" y="3392129"/>
                </a:lnTo>
                <a:lnTo>
                  <a:pt x="857973" y="3413039"/>
                </a:lnTo>
                <a:lnTo>
                  <a:pt x="901337" y="3432893"/>
                </a:lnTo>
                <a:lnTo>
                  <a:pt x="945284" y="3451673"/>
                </a:lnTo>
                <a:lnTo>
                  <a:pt x="989797" y="3469362"/>
                </a:lnTo>
                <a:lnTo>
                  <a:pt x="1034860" y="3485945"/>
                </a:lnTo>
                <a:lnTo>
                  <a:pt x="1080456" y="3501403"/>
                </a:lnTo>
                <a:lnTo>
                  <a:pt x="1126568" y="3515722"/>
                </a:lnTo>
                <a:lnTo>
                  <a:pt x="1173179" y="3528883"/>
                </a:lnTo>
                <a:lnTo>
                  <a:pt x="1220272" y="3540870"/>
                </a:lnTo>
                <a:lnTo>
                  <a:pt x="1267829" y="3551666"/>
                </a:lnTo>
                <a:lnTo>
                  <a:pt x="1315835" y="3561255"/>
                </a:lnTo>
                <a:lnTo>
                  <a:pt x="1364272" y="3569620"/>
                </a:lnTo>
                <a:lnTo>
                  <a:pt x="1413123" y="3576744"/>
                </a:lnTo>
                <a:lnTo>
                  <a:pt x="1462372" y="3582610"/>
                </a:lnTo>
                <a:lnTo>
                  <a:pt x="1512001" y="3587202"/>
                </a:lnTo>
                <a:lnTo>
                  <a:pt x="1561993" y="3590502"/>
                </a:lnTo>
                <a:lnTo>
                  <a:pt x="1612332" y="3592495"/>
                </a:lnTo>
                <a:lnTo>
                  <a:pt x="1663000" y="3593163"/>
                </a:lnTo>
                <a:lnTo>
                  <a:pt x="166300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F67E289-2C74-1349-65F6-DC649E4DD341}"/>
              </a:ext>
            </a:extLst>
          </p:cNvPr>
          <p:cNvSpPr/>
          <p:nvPr/>
        </p:nvSpPr>
        <p:spPr>
          <a:xfrm>
            <a:off x="10524163" y="0"/>
            <a:ext cx="1668145" cy="3593465"/>
          </a:xfrm>
          <a:custGeom>
            <a:avLst/>
            <a:gdLst/>
            <a:ahLst/>
            <a:cxnLst/>
            <a:rect l="l" t="t" r="r" b="b"/>
            <a:pathLst>
              <a:path w="1668145" h="3593465">
                <a:moveTo>
                  <a:pt x="1667837" y="0"/>
                </a:moveTo>
                <a:lnTo>
                  <a:pt x="0" y="0"/>
                </a:lnTo>
                <a:lnTo>
                  <a:pt x="0" y="3593163"/>
                </a:lnTo>
                <a:lnTo>
                  <a:pt x="50663" y="3592495"/>
                </a:lnTo>
                <a:lnTo>
                  <a:pt x="100998" y="3590502"/>
                </a:lnTo>
                <a:lnTo>
                  <a:pt x="150986" y="3587202"/>
                </a:lnTo>
                <a:lnTo>
                  <a:pt x="200611" y="3582610"/>
                </a:lnTo>
                <a:lnTo>
                  <a:pt x="249856" y="3576744"/>
                </a:lnTo>
                <a:lnTo>
                  <a:pt x="298704" y="3569620"/>
                </a:lnTo>
                <a:lnTo>
                  <a:pt x="347138" y="3561255"/>
                </a:lnTo>
                <a:lnTo>
                  <a:pt x="395141" y="3551666"/>
                </a:lnTo>
                <a:lnTo>
                  <a:pt x="442696" y="3540870"/>
                </a:lnTo>
                <a:lnTo>
                  <a:pt x="489787" y="3528883"/>
                </a:lnTo>
                <a:lnTo>
                  <a:pt x="536396" y="3515722"/>
                </a:lnTo>
                <a:lnTo>
                  <a:pt x="582505" y="3501403"/>
                </a:lnTo>
                <a:lnTo>
                  <a:pt x="628100" y="3485945"/>
                </a:lnTo>
                <a:lnTo>
                  <a:pt x="673161" y="3469362"/>
                </a:lnTo>
                <a:lnTo>
                  <a:pt x="717674" y="3451673"/>
                </a:lnTo>
                <a:lnTo>
                  <a:pt x="761619" y="3432893"/>
                </a:lnTo>
                <a:lnTo>
                  <a:pt x="804981" y="3413039"/>
                </a:lnTo>
                <a:lnTo>
                  <a:pt x="847743" y="3392129"/>
                </a:lnTo>
                <a:lnTo>
                  <a:pt x="889888" y="3370179"/>
                </a:lnTo>
                <a:lnTo>
                  <a:pt x="931398" y="3347206"/>
                </a:lnTo>
                <a:lnTo>
                  <a:pt x="972257" y="3323226"/>
                </a:lnTo>
                <a:lnTo>
                  <a:pt x="1012448" y="3298257"/>
                </a:lnTo>
                <a:lnTo>
                  <a:pt x="1051953" y="3272314"/>
                </a:lnTo>
                <a:lnTo>
                  <a:pt x="1090757" y="3245415"/>
                </a:lnTo>
                <a:lnTo>
                  <a:pt x="1128841" y="3217577"/>
                </a:lnTo>
                <a:lnTo>
                  <a:pt x="1166190" y="3188815"/>
                </a:lnTo>
                <a:lnTo>
                  <a:pt x="1202786" y="3159148"/>
                </a:lnTo>
                <a:lnTo>
                  <a:pt x="1238612" y="3128591"/>
                </a:lnTo>
                <a:lnTo>
                  <a:pt x="1273651" y="3097162"/>
                </a:lnTo>
                <a:lnTo>
                  <a:pt x="1307886" y="3064877"/>
                </a:lnTo>
                <a:lnTo>
                  <a:pt x="1341300" y="3031753"/>
                </a:lnTo>
                <a:lnTo>
                  <a:pt x="1373877" y="2997806"/>
                </a:lnTo>
                <a:lnTo>
                  <a:pt x="1405599" y="2963054"/>
                </a:lnTo>
                <a:lnTo>
                  <a:pt x="1436450" y="2927513"/>
                </a:lnTo>
                <a:lnTo>
                  <a:pt x="1466412" y="2891200"/>
                </a:lnTo>
                <a:lnTo>
                  <a:pt x="1495469" y="2854132"/>
                </a:lnTo>
                <a:lnTo>
                  <a:pt x="1523604" y="2816325"/>
                </a:lnTo>
                <a:lnTo>
                  <a:pt x="1550799" y="2777796"/>
                </a:lnTo>
                <a:lnTo>
                  <a:pt x="1577037" y="2738562"/>
                </a:lnTo>
                <a:lnTo>
                  <a:pt x="1602303" y="2698640"/>
                </a:lnTo>
                <a:lnTo>
                  <a:pt x="1626578" y="2658046"/>
                </a:lnTo>
                <a:lnTo>
                  <a:pt x="1649847" y="2616797"/>
                </a:lnTo>
                <a:lnTo>
                  <a:pt x="1667837" y="2582921"/>
                </a:lnTo>
                <a:lnTo>
                  <a:pt x="1667837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49F8F34-749C-2287-6D6E-84B7EB25C671}"/>
              </a:ext>
            </a:extLst>
          </p:cNvPr>
          <p:cNvSpPr/>
          <p:nvPr/>
        </p:nvSpPr>
        <p:spPr>
          <a:xfrm>
            <a:off x="8374829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5" h="3593465">
                <a:moveTo>
                  <a:pt x="1878670" y="0"/>
                </a:moveTo>
                <a:lnTo>
                  <a:pt x="0" y="0"/>
                </a:lnTo>
                <a:lnTo>
                  <a:pt x="0" y="1722278"/>
                </a:lnTo>
                <a:lnTo>
                  <a:pt x="613" y="1770547"/>
                </a:lnTo>
                <a:lnTo>
                  <a:pt x="2445" y="1818515"/>
                </a:lnTo>
                <a:lnTo>
                  <a:pt x="5480" y="1866170"/>
                </a:lnTo>
                <a:lnTo>
                  <a:pt x="9704" y="1913494"/>
                </a:lnTo>
                <a:lnTo>
                  <a:pt x="15101" y="1960474"/>
                </a:lnTo>
                <a:lnTo>
                  <a:pt x="21656" y="2007096"/>
                </a:lnTo>
                <a:lnTo>
                  <a:pt x="29356" y="2053344"/>
                </a:lnTo>
                <a:lnTo>
                  <a:pt x="38185" y="2099203"/>
                </a:lnTo>
                <a:lnTo>
                  <a:pt x="48129" y="2144659"/>
                </a:lnTo>
                <a:lnTo>
                  <a:pt x="59172" y="2189698"/>
                </a:lnTo>
                <a:lnTo>
                  <a:pt x="71300" y="2234304"/>
                </a:lnTo>
                <a:lnTo>
                  <a:pt x="84498" y="2278462"/>
                </a:lnTo>
                <a:lnTo>
                  <a:pt x="98751" y="2322159"/>
                </a:lnTo>
                <a:lnTo>
                  <a:pt x="114045" y="2365379"/>
                </a:lnTo>
                <a:lnTo>
                  <a:pt x="130365" y="2408107"/>
                </a:lnTo>
                <a:lnTo>
                  <a:pt x="147695" y="2450329"/>
                </a:lnTo>
                <a:lnTo>
                  <a:pt x="166022" y="2492031"/>
                </a:lnTo>
                <a:lnTo>
                  <a:pt x="185330" y="2533197"/>
                </a:lnTo>
                <a:lnTo>
                  <a:pt x="205605" y="2573812"/>
                </a:lnTo>
                <a:lnTo>
                  <a:pt x="226832" y="2613862"/>
                </a:lnTo>
                <a:lnTo>
                  <a:pt x="248995" y="2653333"/>
                </a:lnTo>
                <a:lnTo>
                  <a:pt x="272081" y="2692209"/>
                </a:lnTo>
                <a:lnTo>
                  <a:pt x="296075" y="2730476"/>
                </a:lnTo>
                <a:lnTo>
                  <a:pt x="320961" y="2768119"/>
                </a:lnTo>
                <a:lnTo>
                  <a:pt x="346725" y="2805123"/>
                </a:lnTo>
                <a:lnTo>
                  <a:pt x="373352" y="2841474"/>
                </a:lnTo>
                <a:lnTo>
                  <a:pt x="400827" y="2877156"/>
                </a:lnTo>
                <a:lnTo>
                  <a:pt x="429136" y="2912156"/>
                </a:lnTo>
                <a:lnTo>
                  <a:pt x="458263" y="2946458"/>
                </a:lnTo>
                <a:lnTo>
                  <a:pt x="488195" y="2980048"/>
                </a:lnTo>
                <a:lnTo>
                  <a:pt x="518916" y="3012911"/>
                </a:lnTo>
                <a:lnTo>
                  <a:pt x="550411" y="3045032"/>
                </a:lnTo>
                <a:lnTo>
                  <a:pt x="582666" y="3076397"/>
                </a:lnTo>
                <a:lnTo>
                  <a:pt x="615666" y="3106990"/>
                </a:lnTo>
                <a:lnTo>
                  <a:pt x="649395" y="3136798"/>
                </a:lnTo>
                <a:lnTo>
                  <a:pt x="683840" y="3165805"/>
                </a:lnTo>
                <a:lnTo>
                  <a:pt x="718986" y="3193996"/>
                </a:lnTo>
                <a:lnTo>
                  <a:pt x="754817" y="3221358"/>
                </a:lnTo>
                <a:lnTo>
                  <a:pt x="791319" y="3247875"/>
                </a:lnTo>
                <a:lnTo>
                  <a:pt x="828477" y="3273532"/>
                </a:lnTo>
                <a:lnTo>
                  <a:pt x="866276" y="3298315"/>
                </a:lnTo>
                <a:lnTo>
                  <a:pt x="904703" y="3322208"/>
                </a:lnTo>
                <a:lnTo>
                  <a:pt x="943740" y="3345199"/>
                </a:lnTo>
                <a:lnTo>
                  <a:pt x="983375" y="3367270"/>
                </a:lnTo>
                <a:lnTo>
                  <a:pt x="1023592" y="3388409"/>
                </a:lnTo>
                <a:lnTo>
                  <a:pt x="1064377" y="3408600"/>
                </a:lnTo>
                <a:lnTo>
                  <a:pt x="1105714" y="3427828"/>
                </a:lnTo>
                <a:lnTo>
                  <a:pt x="1147589" y="3446079"/>
                </a:lnTo>
                <a:lnTo>
                  <a:pt x="1189987" y="3463338"/>
                </a:lnTo>
                <a:lnTo>
                  <a:pt x="1232893" y="3479590"/>
                </a:lnTo>
                <a:lnTo>
                  <a:pt x="1276293" y="3494820"/>
                </a:lnTo>
                <a:lnTo>
                  <a:pt x="1320171" y="3509015"/>
                </a:lnTo>
                <a:lnTo>
                  <a:pt x="1364513" y="3522158"/>
                </a:lnTo>
                <a:lnTo>
                  <a:pt x="1409305" y="3534236"/>
                </a:lnTo>
                <a:lnTo>
                  <a:pt x="1454531" y="3545233"/>
                </a:lnTo>
                <a:lnTo>
                  <a:pt x="1500176" y="3555135"/>
                </a:lnTo>
                <a:lnTo>
                  <a:pt x="1546226" y="3563928"/>
                </a:lnTo>
                <a:lnTo>
                  <a:pt x="1592667" y="3571596"/>
                </a:lnTo>
                <a:lnTo>
                  <a:pt x="1639482" y="3578124"/>
                </a:lnTo>
                <a:lnTo>
                  <a:pt x="1686658" y="3583499"/>
                </a:lnTo>
                <a:lnTo>
                  <a:pt x="1734180" y="3587705"/>
                </a:lnTo>
                <a:lnTo>
                  <a:pt x="1782032" y="3590727"/>
                </a:lnTo>
                <a:lnTo>
                  <a:pt x="1830200" y="3592551"/>
                </a:lnTo>
                <a:lnTo>
                  <a:pt x="1878670" y="3593163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9F5E83CE-5FA1-C54B-5B93-94BE1545949F}"/>
              </a:ext>
            </a:extLst>
          </p:cNvPr>
          <p:cNvGrpSpPr/>
          <p:nvPr/>
        </p:nvGrpSpPr>
        <p:grpSpPr>
          <a:xfrm>
            <a:off x="5023739" y="0"/>
            <a:ext cx="3094355" cy="3593465"/>
            <a:chOff x="5023739" y="0"/>
            <a:chExt cx="3094355" cy="3593465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0960C326-6033-5EFF-FEC8-94B699BAE46E}"/>
                </a:ext>
              </a:extLst>
            </p:cNvPr>
            <p:cNvSpPr/>
            <p:nvPr/>
          </p:nvSpPr>
          <p:spPr>
            <a:xfrm>
              <a:off x="6239083" y="0"/>
              <a:ext cx="1878964" cy="3593465"/>
            </a:xfrm>
            <a:custGeom>
              <a:avLst/>
              <a:gdLst/>
              <a:ahLst/>
              <a:cxnLst/>
              <a:rect l="l" t="t" r="r" b="b"/>
              <a:pathLst>
                <a:path w="1878965" h="3593465">
                  <a:moveTo>
                    <a:pt x="1878670" y="0"/>
                  </a:moveTo>
                  <a:lnTo>
                    <a:pt x="0" y="0"/>
                  </a:lnTo>
                  <a:lnTo>
                    <a:pt x="0" y="1722278"/>
                  </a:lnTo>
                  <a:lnTo>
                    <a:pt x="613" y="1770547"/>
                  </a:lnTo>
                  <a:lnTo>
                    <a:pt x="2445" y="1818515"/>
                  </a:lnTo>
                  <a:lnTo>
                    <a:pt x="5480" y="1866170"/>
                  </a:lnTo>
                  <a:lnTo>
                    <a:pt x="9704" y="1913494"/>
                  </a:lnTo>
                  <a:lnTo>
                    <a:pt x="15101" y="1960474"/>
                  </a:lnTo>
                  <a:lnTo>
                    <a:pt x="21656" y="2007096"/>
                  </a:lnTo>
                  <a:lnTo>
                    <a:pt x="29356" y="2053344"/>
                  </a:lnTo>
                  <a:lnTo>
                    <a:pt x="38185" y="2099203"/>
                  </a:lnTo>
                  <a:lnTo>
                    <a:pt x="48129" y="2144659"/>
                  </a:lnTo>
                  <a:lnTo>
                    <a:pt x="59172" y="2189698"/>
                  </a:lnTo>
                  <a:lnTo>
                    <a:pt x="71300" y="2234304"/>
                  </a:lnTo>
                  <a:lnTo>
                    <a:pt x="84498" y="2278462"/>
                  </a:lnTo>
                  <a:lnTo>
                    <a:pt x="98751" y="2322159"/>
                  </a:lnTo>
                  <a:lnTo>
                    <a:pt x="114045" y="2365379"/>
                  </a:lnTo>
                  <a:lnTo>
                    <a:pt x="130365" y="2408107"/>
                  </a:lnTo>
                  <a:lnTo>
                    <a:pt x="147695" y="2450329"/>
                  </a:lnTo>
                  <a:lnTo>
                    <a:pt x="166022" y="2492031"/>
                  </a:lnTo>
                  <a:lnTo>
                    <a:pt x="185330" y="2533197"/>
                  </a:lnTo>
                  <a:lnTo>
                    <a:pt x="205605" y="2573812"/>
                  </a:lnTo>
                  <a:lnTo>
                    <a:pt x="226832" y="2613862"/>
                  </a:lnTo>
                  <a:lnTo>
                    <a:pt x="248995" y="2653333"/>
                  </a:lnTo>
                  <a:lnTo>
                    <a:pt x="272081" y="2692209"/>
                  </a:lnTo>
                  <a:lnTo>
                    <a:pt x="296075" y="2730476"/>
                  </a:lnTo>
                  <a:lnTo>
                    <a:pt x="320961" y="2768119"/>
                  </a:lnTo>
                  <a:lnTo>
                    <a:pt x="346725" y="2805123"/>
                  </a:lnTo>
                  <a:lnTo>
                    <a:pt x="373352" y="2841474"/>
                  </a:lnTo>
                  <a:lnTo>
                    <a:pt x="400827" y="2877156"/>
                  </a:lnTo>
                  <a:lnTo>
                    <a:pt x="429136" y="2912156"/>
                  </a:lnTo>
                  <a:lnTo>
                    <a:pt x="458263" y="2946458"/>
                  </a:lnTo>
                  <a:lnTo>
                    <a:pt x="488195" y="2980048"/>
                  </a:lnTo>
                  <a:lnTo>
                    <a:pt x="518916" y="3012911"/>
                  </a:lnTo>
                  <a:lnTo>
                    <a:pt x="550411" y="3045032"/>
                  </a:lnTo>
                  <a:lnTo>
                    <a:pt x="582666" y="3076397"/>
                  </a:lnTo>
                  <a:lnTo>
                    <a:pt x="615666" y="3106990"/>
                  </a:lnTo>
                  <a:lnTo>
                    <a:pt x="649395" y="3136798"/>
                  </a:lnTo>
                  <a:lnTo>
                    <a:pt x="683840" y="3165805"/>
                  </a:lnTo>
                  <a:lnTo>
                    <a:pt x="718986" y="3193996"/>
                  </a:lnTo>
                  <a:lnTo>
                    <a:pt x="754817" y="3221358"/>
                  </a:lnTo>
                  <a:lnTo>
                    <a:pt x="791319" y="3247875"/>
                  </a:lnTo>
                  <a:lnTo>
                    <a:pt x="828477" y="3273532"/>
                  </a:lnTo>
                  <a:lnTo>
                    <a:pt x="866276" y="3298315"/>
                  </a:lnTo>
                  <a:lnTo>
                    <a:pt x="904703" y="3322208"/>
                  </a:lnTo>
                  <a:lnTo>
                    <a:pt x="943740" y="3345199"/>
                  </a:lnTo>
                  <a:lnTo>
                    <a:pt x="983375" y="3367270"/>
                  </a:lnTo>
                  <a:lnTo>
                    <a:pt x="1023592" y="3388409"/>
                  </a:lnTo>
                  <a:lnTo>
                    <a:pt x="1064377" y="3408600"/>
                  </a:lnTo>
                  <a:lnTo>
                    <a:pt x="1105714" y="3427828"/>
                  </a:lnTo>
                  <a:lnTo>
                    <a:pt x="1147589" y="3446079"/>
                  </a:lnTo>
                  <a:lnTo>
                    <a:pt x="1189987" y="3463338"/>
                  </a:lnTo>
                  <a:lnTo>
                    <a:pt x="1232893" y="3479590"/>
                  </a:lnTo>
                  <a:lnTo>
                    <a:pt x="1276293" y="3494820"/>
                  </a:lnTo>
                  <a:lnTo>
                    <a:pt x="1320171" y="3509015"/>
                  </a:lnTo>
                  <a:lnTo>
                    <a:pt x="1364513" y="3522158"/>
                  </a:lnTo>
                  <a:lnTo>
                    <a:pt x="1409305" y="3534236"/>
                  </a:lnTo>
                  <a:lnTo>
                    <a:pt x="1454531" y="3545233"/>
                  </a:lnTo>
                  <a:lnTo>
                    <a:pt x="1500176" y="3555135"/>
                  </a:lnTo>
                  <a:lnTo>
                    <a:pt x="1546226" y="3563928"/>
                  </a:lnTo>
                  <a:lnTo>
                    <a:pt x="1592667" y="3571596"/>
                  </a:lnTo>
                  <a:lnTo>
                    <a:pt x="1639482" y="3578124"/>
                  </a:lnTo>
                  <a:lnTo>
                    <a:pt x="1686658" y="3583499"/>
                  </a:lnTo>
                  <a:lnTo>
                    <a:pt x="1734180" y="3587705"/>
                  </a:lnTo>
                  <a:lnTo>
                    <a:pt x="1782032" y="3590727"/>
                  </a:lnTo>
                  <a:lnTo>
                    <a:pt x="1830200" y="3592551"/>
                  </a:lnTo>
                  <a:lnTo>
                    <a:pt x="1878670" y="3593163"/>
                  </a:lnTo>
                  <a:lnTo>
                    <a:pt x="1878670" y="0"/>
                  </a:lnTo>
                  <a:close/>
                </a:path>
              </a:pathLst>
            </a:custGeom>
            <a:solidFill>
              <a:srgbClr val="B123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2D7B088C-C171-E973-A2B8-F21A8855B25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3739" y="844003"/>
              <a:ext cx="2144649" cy="1266736"/>
            </a:xfrm>
            <a:prstGeom prst="rect">
              <a:avLst/>
            </a:prstGeom>
          </p:spPr>
        </p:pic>
      </p:grpSp>
      <p:pic>
        <p:nvPicPr>
          <p:cNvPr id="11" name="object 11">
            <a:extLst>
              <a:ext uri="{FF2B5EF4-FFF2-40B4-BE49-F238E27FC236}">
                <a16:creationId xmlns:a16="http://schemas.microsoft.com/office/drawing/2014/main" id="{65D2B64B-ADCA-B93D-45B6-5EE8926FE98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664504"/>
            <a:ext cx="12191999" cy="903706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B19114E4-CD1A-A772-3D75-570205479C8A}"/>
              </a:ext>
            </a:extLst>
          </p:cNvPr>
          <p:cNvSpPr txBox="1"/>
          <p:nvPr/>
        </p:nvSpPr>
        <p:spPr>
          <a:xfrm>
            <a:off x="1066800" y="2514600"/>
            <a:ext cx="9615674" cy="1533112"/>
          </a:xfrm>
          <a:prstGeom prst="rect">
            <a:avLst/>
          </a:prstGeom>
        </p:spPr>
        <p:txBody>
          <a:bodyPr vert="horz" wrap="square" lIns="0" tIns="95885" rIns="0" bIns="0" rtlCol="0" anchor="t">
            <a:spAutoFit/>
          </a:bodyPr>
          <a:lstStyle/>
          <a:p>
            <a:pPr marL="12700" marR="5080" indent="758825" algn="ctr">
              <a:lnSpc>
                <a:spcPts val="5180"/>
              </a:lnSpc>
              <a:spcBef>
                <a:spcPts val="755"/>
              </a:spcBef>
            </a:pPr>
            <a:r>
              <a:rPr lang="en-US" sz="4800" b="1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lang="en-US" sz="480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800" b="1">
                <a:solidFill>
                  <a:srgbClr val="FFFFFF"/>
                </a:solidFill>
                <a:latin typeface="Arial"/>
                <a:cs typeface="Arial"/>
              </a:rPr>
              <a:t>Agents &amp;</a:t>
            </a:r>
            <a:endParaRPr lang="en-US" sz="4800" b="1" spc="-13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 indent="758825" algn="ctr">
              <a:lnSpc>
                <a:spcPts val="5180"/>
              </a:lnSpc>
              <a:spcBef>
                <a:spcPts val="755"/>
              </a:spcBef>
            </a:pPr>
            <a:r>
              <a:rPr lang="en-US" sz="4800" b="1" spc="-130">
                <a:solidFill>
                  <a:srgbClr val="FFFFFF"/>
                </a:solidFill>
                <a:latin typeface="Arial"/>
                <a:cs typeface="Arial"/>
              </a:rPr>
              <a:t>Workflow Automation</a:t>
            </a:r>
            <a:endParaRPr lang="en-US" sz="4800" b="1" spc="-1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8B7C7457-F941-7816-EEB0-B5A726537674}"/>
              </a:ext>
            </a:extLst>
          </p:cNvPr>
          <p:cNvSpPr txBox="1"/>
          <p:nvPr/>
        </p:nvSpPr>
        <p:spPr>
          <a:xfrm>
            <a:off x="-203200" y="5274580"/>
            <a:ext cx="3731180" cy="28982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374650" algn="ctr">
              <a:lnSpc>
                <a:spcPct val="100000"/>
              </a:lnSpc>
              <a:spcBef>
                <a:spcPts val="100"/>
              </a:spcBef>
            </a:pPr>
            <a:r>
              <a:rPr lang="en-US" b="1" spc="-20">
                <a:solidFill>
                  <a:schemeClr val="bg1"/>
                </a:solidFill>
                <a:latin typeface="Calibri"/>
                <a:cs typeface="Calibri"/>
              </a:rPr>
              <a:t>Presented by : Omar Abdallah</a:t>
            </a:r>
            <a:endParaRPr sz="18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84827DCE-8C8C-4453-9D6A-37DF660C5E19}"/>
              </a:ext>
            </a:extLst>
          </p:cNvPr>
          <p:cNvSpPr txBox="1"/>
          <p:nvPr/>
        </p:nvSpPr>
        <p:spPr>
          <a:xfrm>
            <a:off x="5948296" y="5229802"/>
            <a:ext cx="6125547" cy="28982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374650" algn="ctr">
              <a:lnSpc>
                <a:spcPct val="100000"/>
              </a:lnSpc>
              <a:spcBef>
                <a:spcPts val="100"/>
              </a:spcBef>
            </a:pPr>
            <a:r>
              <a:rPr lang="en-US" b="1" spc="-20" dirty="0">
                <a:solidFill>
                  <a:schemeClr val="bg1"/>
                </a:solidFill>
                <a:latin typeface="Calibri"/>
                <a:cs typeface="Calibri"/>
              </a:rPr>
              <a:t>www.linkedin.com/in/omar-abdallah-abdelrahman/</a:t>
            </a:r>
            <a:endParaRPr sz="18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28141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C4813A-4961-235A-5A03-AD9E8AE4C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BF13FCA-586A-51A2-8E1B-BC88C6726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Working with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Gen-AI APIs</a:t>
            </a:r>
          </a:p>
        </p:txBody>
      </p:sp>
    </p:spTree>
    <p:extLst>
      <p:ext uri="{BB962C8B-B14F-4D97-AF65-F5344CB8AC3E}">
        <p14:creationId xmlns:p14="http://schemas.microsoft.com/office/powerpoint/2010/main" val="283010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84E52-5D64-0F8C-16D9-0E81720C0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C3F8A2-5B8C-C08B-3A14-62E013663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/>
            <a:r>
              <a:rPr lang="en-US" sz="2800" b="1"/>
              <a:t>Working with Gen AI APIs</a:t>
            </a:r>
            <a:r>
              <a:rPr lang="en-US" sz="2800"/>
              <a:t> (Vendors)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9D183C3D-B4D9-7B62-A575-9226685EEE83}"/>
              </a:ext>
            </a:extLst>
          </p:cNvPr>
          <p:cNvSpPr txBox="1">
            <a:spLocks/>
          </p:cNvSpPr>
          <p:nvPr/>
        </p:nvSpPr>
        <p:spPr>
          <a:xfrm>
            <a:off x="657330" y="1564368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OpenAI Models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DeepSeek AO Models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Google AI Models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Anthropic AI Models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Qwen AI Models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MS Azure OpenAI Service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Hugging Face Platform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MS Azure AI Models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GitHub Models</a:t>
            </a:r>
            <a:endParaRPr lang="en-US" sz="2600" dirty="0"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A robot hand holding a glowing light bulb&#10;&#10;AI-generated content may be incorrect.">
            <a:extLst>
              <a:ext uri="{FF2B5EF4-FFF2-40B4-BE49-F238E27FC236}">
                <a16:creationId xmlns:a16="http://schemas.microsoft.com/office/drawing/2014/main" id="{7C4339AC-FD9D-1D71-237B-B59BC070C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9" r="8952" b="1"/>
          <a:stretch>
            <a:fillRect/>
          </a:stretch>
        </p:blipFill>
        <p:spPr>
          <a:xfrm>
            <a:off x="5991330" y="1564368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1983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82" y="2950590"/>
            <a:ext cx="56229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dirty="0">
                <a:solidFill>
                  <a:srgbClr val="333333"/>
                </a:solidFill>
                <a:latin typeface="Segoe UI"/>
                <a:cs typeface="Segoe UI"/>
              </a:rPr>
              <a:t>Fine</a:t>
            </a:r>
            <a:r>
              <a:rPr sz="4800" b="0" spc="-1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4800" b="0" spc="-25" dirty="0">
                <a:solidFill>
                  <a:srgbClr val="333333"/>
                </a:solidFill>
                <a:latin typeface="Segoe UI"/>
                <a:cs typeface="Segoe UI"/>
              </a:rPr>
              <a:t>Tuning</a:t>
            </a:r>
            <a:r>
              <a:rPr sz="4800" b="0" spc="-1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4800" b="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4800" b="0" spc="-1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4800" b="0" spc="-25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endParaRPr sz="4800">
              <a:latin typeface="Segoe UI"/>
              <a:cs typeface="Segoe U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0130" y="6355710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50" dirty="0">
                <a:solidFill>
                  <a:srgbClr val="7E7E7E"/>
                </a:solidFill>
                <a:latin typeface="Calibri"/>
                <a:cs typeface="Calibri"/>
              </a:rPr>
              <a:t>1</a:t>
            </a: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71033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Foundation</a:t>
            </a:r>
            <a:r>
              <a:rPr sz="2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2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2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2400" spc="-10" dirty="0">
                <a:solidFill>
                  <a:srgbClr val="333333"/>
                </a:solidFill>
                <a:latin typeface="Segoe UI"/>
                <a:cs typeface="Segoe UI"/>
              </a:rPr>
              <a:t>Tuning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8956" y="983589"/>
            <a:ext cx="10320020" cy="45472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4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4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Foundation</a:t>
            </a:r>
            <a:r>
              <a:rPr sz="1400" b="1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Segoe UI"/>
                <a:cs typeface="Segoe UI"/>
              </a:rPr>
              <a:t>Models?</a:t>
            </a:r>
            <a:endParaRPr sz="1400" dirty="0">
              <a:latin typeface="Segoe UI"/>
              <a:cs typeface="Segoe UI"/>
            </a:endParaRPr>
          </a:p>
          <a:p>
            <a:pPr marL="12700" marR="146685">
              <a:lnSpc>
                <a:spcPct val="150000"/>
              </a:lnSpc>
              <a:spcBef>
                <a:spcPts val="5"/>
              </a:spcBef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Foundation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large-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scale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pre-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trained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vast,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diverse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datasets.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These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designed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highly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generalizable,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providing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base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wide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range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downstream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tasks.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foundation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include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GPT-4,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BERT,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and 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CLIP.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These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versatile,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capable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handling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various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types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text,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images,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audio.</a:t>
            </a:r>
            <a:endParaRPr sz="1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sz="14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333333"/>
                </a:solidFill>
                <a:latin typeface="Segoe UI"/>
                <a:cs typeface="Segoe UI"/>
              </a:rPr>
              <a:t>Fine-Tuning</a:t>
            </a:r>
            <a:endParaRPr sz="1400" dirty="0">
              <a:latin typeface="Segoe UI"/>
              <a:cs typeface="Segoe UI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tuning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refers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process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customizing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pre-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trained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foundation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training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additional, domain-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approach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allows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organizations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adapt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foundation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needs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without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need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extensive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retraining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scratch.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example,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general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language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GPT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fine-tuned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better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handle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finance-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related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text,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resulting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FinBERT.</a:t>
            </a:r>
            <a:endParaRPr sz="1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400" dirty="0">
              <a:latin typeface="Segoe UI"/>
              <a:cs typeface="Segoe UI"/>
            </a:endParaRPr>
          </a:p>
          <a:p>
            <a:pPr marL="12700">
              <a:lnSpc>
                <a:spcPts val="1595"/>
              </a:lnSpc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Benefits</a:t>
            </a:r>
            <a:r>
              <a:rPr sz="14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Segoe UI"/>
                <a:cs typeface="Segoe UI"/>
              </a:rPr>
              <a:t>Fine-Tuning</a:t>
            </a:r>
            <a:endParaRPr sz="1400" dirty="0">
              <a:latin typeface="Segoe UI"/>
              <a:cs typeface="Segoe UI"/>
            </a:endParaRPr>
          </a:p>
          <a:p>
            <a:pPr marL="299085" marR="116839" indent="-287020">
              <a:lnSpc>
                <a:spcPts val="1510"/>
              </a:lnSpc>
              <a:spcBef>
                <a:spcPts val="110"/>
              </a:spcBef>
              <a:buFont typeface="Arial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333333"/>
                </a:solidFill>
                <a:latin typeface="Segoe UI"/>
                <a:cs typeface="Segoe UI"/>
              </a:rPr>
              <a:t>Customization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tuning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enhances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model’s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performance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applications,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making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niche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use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cases.</a:t>
            </a:r>
            <a:endParaRPr sz="1400" dirty="0">
              <a:latin typeface="Segoe UI"/>
              <a:cs typeface="Segoe UI"/>
            </a:endParaRPr>
          </a:p>
          <a:p>
            <a:pPr marL="299085" indent="-286385">
              <a:lnSpc>
                <a:spcPts val="1410"/>
              </a:lnSpc>
              <a:buFont typeface="Arial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Efficiency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requires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less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computational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power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compared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training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scratch.</a:t>
            </a:r>
            <a:endParaRPr sz="1400" dirty="0">
              <a:latin typeface="Segoe UI"/>
              <a:cs typeface="Segoe UI"/>
            </a:endParaRPr>
          </a:p>
          <a:p>
            <a:pPr marL="299085" indent="-286385">
              <a:lnSpc>
                <a:spcPts val="1595"/>
              </a:lnSpc>
              <a:buFont typeface="Arial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Scalability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tuned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deployed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across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various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domains,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healthcare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finance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beyond.</a:t>
            </a:r>
            <a:endParaRPr sz="1400" dirty="0">
              <a:latin typeface="Segoe UI"/>
              <a:cs typeface="Segoe UI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6A7FB6B0-E3FA-4DD3-550B-04CBC5E8AB7D}"/>
              </a:ext>
            </a:extLst>
          </p:cNvPr>
          <p:cNvSpPr txBox="1"/>
          <p:nvPr/>
        </p:nvSpPr>
        <p:spPr>
          <a:xfrm>
            <a:off x="1040130" y="6355710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50" dirty="0">
                <a:solidFill>
                  <a:srgbClr val="7E7E7E"/>
                </a:solidFill>
                <a:latin typeface="Calibri"/>
                <a:cs typeface="Calibri"/>
              </a:rPr>
              <a:t>2</a:t>
            </a: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37139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333333"/>
                </a:solidFill>
                <a:latin typeface="Segoe UI"/>
                <a:cs typeface="Segoe UI"/>
              </a:rPr>
              <a:t>Fine-Tuning</a:t>
            </a:r>
            <a:r>
              <a:rPr sz="2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–</a:t>
            </a:r>
            <a:r>
              <a:rPr sz="24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Getting</a:t>
            </a:r>
            <a:r>
              <a:rPr sz="2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Segoe UI"/>
                <a:cs typeface="Segoe UI"/>
              </a:rPr>
              <a:t>started</a:t>
            </a:r>
            <a:endParaRPr sz="24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165" y="1251737"/>
            <a:ext cx="9542250" cy="46734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98956" y="6041542"/>
            <a:ext cx="6746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https://platform.openai.com/docs/api-reference/fine-tuning/create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C0AE1D3E-0890-5B1B-AC26-12CB01E55490}"/>
              </a:ext>
            </a:extLst>
          </p:cNvPr>
          <p:cNvSpPr txBox="1"/>
          <p:nvPr/>
        </p:nvSpPr>
        <p:spPr>
          <a:xfrm>
            <a:off x="1040130" y="6355710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50" dirty="0">
                <a:solidFill>
                  <a:srgbClr val="7E7E7E"/>
                </a:solidFill>
                <a:latin typeface="Calibri"/>
                <a:cs typeface="Calibri"/>
              </a:rPr>
              <a:t>3</a:t>
            </a: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58895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333333"/>
                </a:solidFill>
                <a:latin typeface="Segoe UI"/>
                <a:cs typeface="Segoe UI"/>
              </a:rPr>
              <a:t>Retrieval-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Augmented</a:t>
            </a:r>
            <a:r>
              <a:rPr sz="2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2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Segoe UI"/>
                <a:cs typeface="Segoe UI"/>
              </a:rPr>
              <a:t>(RAG)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8956" y="983589"/>
            <a:ext cx="10316210" cy="482790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4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20" dirty="0">
                <a:solidFill>
                  <a:srgbClr val="333333"/>
                </a:solidFill>
                <a:latin typeface="Segoe UI"/>
                <a:cs typeface="Segoe UI"/>
              </a:rPr>
              <a:t>RAG?</a:t>
            </a:r>
            <a:endParaRPr sz="1400" dirty="0">
              <a:latin typeface="Segoe UI"/>
              <a:cs typeface="Segoe UI"/>
            </a:endParaRPr>
          </a:p>
          <a:p>
            <a:pPr marL="12700" marR="172085">
              <a:lnSpc>
                <a:spcPct val="150000"/>
              </a:lnSpc>
              <a:spcBef>
                <a:spcPts val="5"/>
              </a:spcBef>
            </a:pP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Retrieval-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Augmented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(RAG)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enhances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language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model's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capabilities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allowing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access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external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sources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in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real-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time.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works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retrieving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databases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other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sources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combining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user's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query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to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generate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contextually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accurate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up-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to-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date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particularly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useful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dealing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constantly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evolving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fields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healthcare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finance,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accessing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latest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crucial.</a:t>
            </a:r>
            <a:endParaRPr sz="1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endParaRPr sz="14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14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VS.</a:t>
            </a:r>
            <a:r>
              <a:rPr sz="14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Fine</a:t>
            </a:r>
            <a:r>
              <a:rPr sz="1400" b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Segoe UI"/>
                <a:cs typeface="Segoe UI"/>
              </a:rPr>
              <a:t>tuning</a:t>
            </a:r>
            <a:endParaRPr sz="14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differs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tuning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primarily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each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method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handles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information:</a:t>
            </a:r>
            <a:endParaRPr sz="1400" dirty="0">
              <a:latin typeface="Segoe UI"/>
              <a:cs typeface="Segoe UI"/>
            </a:endParaRPr>
          </a:p>
          <a:p>
            <a:pPr marL="183515" marR="130810" indent="-171450">
              <a:lnSpc>
                <a:spcPct val="150000"/>
              </a:lnSpc>
              <a:buFont typeface="Arial"/>
              <a:buChar char="•"/>
              <a:tabLst>
                <a:tab pos="184785" algn="l"/>
              </a:tabLst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14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dynamically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retrieves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external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databases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APIs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during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inference,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enabling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access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incorporate 	real-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time,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ensuring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generated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responses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up-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to-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date.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doesn't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alter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model's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internal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knowledge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but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enhances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its 	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answers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current,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400" dirty="0">
              <a:latin typeface="Segoe UI"/>
              <a:cs typeface="Segoe UI"/>
            </a:endParaRPr>
          </a:p>
          <a:p>
            <a:pPr marL="183515" marR="5080" indent="-171450">
              <a:lnSpc>
                <a:spcPct val="150000"/>
              </a:lnSpc>
              <a:buFont typeface="Arial"/>
              <a:buChar char="•"/>
              <a:tabLst>
                <a:tab pos="184785" algn="l"/>
              </a:tabLst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contrast,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tuning</a:t>
            </a:r>
            <a:r>
              <a:rPr sz="1400" b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involves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retraining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domain-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dataset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embed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specialized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knowledge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directly 	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itself.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means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tuned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consistent,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specialized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outputs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but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lack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ability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adapt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40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or 	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updated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without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retraining</a:t>
            </a:r>
            <a:r>
              <a:rPr sz="1400" spc="-10" dirty="0">
                <a:latin typeface="Calibri"/>
                <a:cs typeface="Calibri"/>
              </a:rPr>
              <a:t>.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permanently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embeds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domain-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knowledge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within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model,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making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more 	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adept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at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particular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but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unable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incorporate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unless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retrained</a:t>
            </a:r>
            <a:endParaRPr sz="1400" dirty="0">
              <a:latin typeface="Segoe UI"/>
              <a:cs typeface="Segoe UI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92FC9F4E-A293-F7AA-F4D6-90C87E408163}"/>
              </a:ext>
            </a:extLst>
          </p:cNvPr>
          <p:cNvSpPr txBox="1"/>
          <p:nvPr/>
        </p:nvSpPr>
        <p:spPr>
          <a:xfrm>
            <a:off x="1040130" y="6355710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50" dirty="0">
                <a:solidFill>
                  <a:srgbClr val="7E7E7E"/>
                </a:solidFill>
                <a:latin typeface="Calibri"/>
                <a:cs typeface="Calibri"/>
              </a:rPr>
              <a:t>4</a:t>
            </a: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15965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166" y="1010411"/>
            <a:ext cx="10523220" cy="5184775"/>
            <a:chOff x="824166" y="1010411"/>
            <a:chExt cx="10523220" cy="5184775"/>
          </a:xfrm>
        </p:grpSpPr>
        <p:sp>
          <p:nvSpPr>
            <p:cNvPr id="3" name="object 3"/>
            <p:cNvSpPr/>
            <p:nvPr/>
          </p:nvSpPr>
          <p:spPr>
            <a:xfrm>
              <a:off x="827341" y="101358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19">
                  <a:moveTo>
                    <a:pt x="0" y="0"/>
                  </a:moveTo>
                  <a:lnTo>
                    <a:pt x="10516806" y="7112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47508" y="1041488"/>
              <a:ext cx="8295802" cy="515349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333333"/>
                </a:solidFill>
                <a:latin typeface="Segoe UI"/>
                <a:cs typeface="Segoe UI"/>
              </a:rPr>
              <a:t>Retrieval-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Augmented</a:t>
            </a:r>
            <a:r>
              <a:rPr sz="2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2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(RAG)</a:t>
            </a:r>
            <a:r>
              <a:rPr sz="2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–</a:t>
            </a:r>
            <a:r>
              <a:rPr sz="2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Segoe UI"/>
                <a:cs typeface="Segoe UI"/>
              </a:rPr>
              <a:t>Cont.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7D86B2F-885D-9332-6F42-44B9B9003330}"/>
              </a:ext>
            </a:extLst>
          </p:cNvPr>
          <p:cNvSpPr txBox="1"/>
          <p:nvPr/>
        </p:nvSpPr>
        <p:spPr>
          <a:xfrm>
            <a:off x="1040130" y="6355710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50" dirty="0">
                <a:solidFill>
                  <a:srgbClr val="7E7E7E"/>
                </a:solidFill>
                <a:latin typeface="Calibri"/>
                <a:cs typeface="Calibri"/>
              </a:rPr>
              <a:t>5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51233" y="6675958"/>
            <a:ext cx="40576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44"/>
              </a:lnSpc>
            </a:pPr>
            <a:r>
              <a:rPr sz="1000" spc="-10" dirty="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4166" y="-1"/>
            <a:ext cx="11298555" cy="6858000"/>
            <a:chOff x="824166" y="-1"/>
            <a:chExt cx="11298555" cy="6858000"/>
          </a:xfrm>
        </p:grpSpPr>
        <p:sp>
          <p:nvSpPr>
            <p:cNvPr id="4" name="object 4"/>
            <p:cNvSpPr/>
            <p:nvPr/>
          </p:nvSpPr>
          <p:spPr>
            <a:xfrm>
              <a:off x="827341" y="101358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19">
                  <a:moveTo>
                    <a:pt x="0" y="0"/>
                  </a:moveTo>
                  <a:lnTo>
                    <a:pt x="10516806" y="7112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2884" y="-1"/>
              <a:ext cx="6819392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2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2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pipeline</a:t>
            </a:r>
            <a:r>
              <a:rPr sz="2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Segoe UI"/>
                <a:cs typeface="Segoe UI"/>
              </a:rPr>
              <a:t>flow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1628" y="1034033"/>
            <a:ext cx="3933825" cy="523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3555">
              <a:lnSpc>
                <a:spcPct val="15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333333"/>
                </a:solidFill>
                <a:latin typeface="Segoe UI"/>
                <a:cs typeface="Segoe UI"/>
              </a:rPr>
              <a:t>High-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level</a:t>
            </a:r>
            <a:r>
              <a:rPr sz="12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flow</a:t>
            </a:r>
            <a:r>
              <a:rPr sz="12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2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200" b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2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pipeline</a:t>
            </a:r>
            <a:r>
              <a:rPr sz="120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2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333333"/>
                </a:solidFill>
                <a:latin typeface="Segoe UI"/>
                <a:cs typeface="Segoe UI"/>
              </a:rPr>
              <a:t>supplies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grounding</a:t>
            </a:r>
            <a:r>
              <a:rPr sz="1200" b="1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200" b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2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2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12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333333"/>
                </a:solidFill>
                <a:latin typeface="Segoe UI"/>
                <a:cs typeface="Segoe UI"/>
              </a:rPr>
              <a:t>application:</a:t>
            </a:r>
            <a:endParaRPr sz="1200" dirty="0">
              <a:latin typeface="Segoe UI"/>
              <a:cs typeface="Segoe UI"/>
            </a:endParaRPr>
          </a:p>
          <a:p>
            <a:pPr marL="239395" marR="306070" indent="-226695">
              <a:lnSpc>
                <a:spcPts val="2160"/>
              </a:lnSpc>
              <a:spcBef>
                <a:spcPts val="190"/>
              </a:spcBef>
              <a:buAutoNum type="arabicPeriod"/>
              <a:tabLst>
                <a:tab pos="241300" algn="l"/>
              </a:tabLst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Documents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either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pushed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pulled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data 	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pipeline.</a:t>
            </a:r>
            <a:endParaRPr sz="1200" dirty="0">
              <a:latin typeface="Segoe UI"/>
              <a:cs typeface="Segoe UI"/>
            </a:endParaRPr>
          </a:p>
          <a:p>
            <a:pPr marL="239395" marR="577850" indent="-226695">
              <a:lnSpc>
                <a:spcPts val="2160"/>
              </a:lnSpc>
              <a:spcBef>
                <a:spcPts val="5"/>
              </a:spcBef>
              <a:buAutoNum type="arabicPeriod"/>
              <a:tabLst>
                <a:tab pos="241300" algn="l"/>
              </a:tabLst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pipeline</a:t>
            </a:r>
            <a:r>
              <a:rPr sz="12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processes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each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document 	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individually</a:t>
            </a:r>
            <a:r>
              <a:rPr sz="12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completing</a:t>
            </a:r>
            <a:r>
              <a:rPr sz="12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following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steps:</a:t>
            </a:r>
            <a:endParaRPr sz="1200" dirty="0">
              <a:latin typeface="Segoe UI"/>
              <a:cs typeface="Segoe UI"/>
            </a:endParaRPr>
          </a:p>
          <a:p>
            <a:pPr marL="756285" marR="26670" lvl="1" indent="-287020">
              <a:lnSpc>
                <a:spcPts val="2160"/>
              </a:lnSpc>
              <a:buAutoNum type="alphaLcPeriod"/>
              <a:tabLst>
                <a:tab pos="756285" algn="l"/>
              </a:tabLst>
            </a:pP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Chunk</a:t>
            </a:r>
            <a:r>
              <a:rPr sz="1200" b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document:</a:t>
            </a:r>
            <a:r>
              <a:rPr sz="12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Breaks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down</a:t>
            </a:r>
            <a:r>
              <a:rPr sz="12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document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2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semantically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2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parts</a:t>
            </a:r>
            <a:r>
              <a:rPr sz="12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ideally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have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single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idea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concept.</a:t>
            </a:r>
            <a:endParaRPr sz="1200" dirty="0">
              <a:latin typeface="Segoe UI"/>
              <a:cs typeface="Segoe UI"/>
            </a:endParaRPr>
          </a:p>
          <a:p>
            <a:pPr marL="756285" marR="111125" lvl="1" indent="-287020">
              <a:lnSpc>
                <a:spcPts val="2160"/>
              </a:lnSpc>
              <a:buAutoNum type="alphaLcPeriod"/>
              <a:tabLst>
                <a:tab pos="756285" algn="l"/>
              </a:tabLst>
            </a:pP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Enrich</a:t>
            </a:r>
            <a:r>
              <a:rPr sz="1200" b="1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chunks:</a:t>
            </a:r>
            <a:r>
              <a:rPr sz="12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Adds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metadata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fields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the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pipeline</a:t>
            </a:r>
            <a:r>
              <a:rPr sz="12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creates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based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2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content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the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chunks.</a:t>
            </a:r>
            <a:r>
              <a:rPr sz="12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pipeline</a:t>
            </a:r>
            <a:r>
              <a:rPr sz="12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categorizes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the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metadata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2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discrete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fields,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2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title,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summary,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keywords.</a:t>
            </a:r>
            <a:endParaRPr sz="12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756285" algn="l"/>
              </a:tabLst>
            </a:pP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Embed</a:t>
            </a:r>
            <a:r>
              <a:rPr sz="12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chunks:</a:t>
            </a:r>
            <a:r>
              <a:rPr sz="1200" b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Uses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embedding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to</a:t>
            </a:r>
            <a:endParaRPr sz="1200" dirty="0">
              <a:latin typeface="Segoe UI"/>
              <a:cs typeface="Segoe UI"/>
            </a:endParaRPr>
          </a:p>
          <a:p>
            <a:pPr marL="756285" marR="219075">
              <a:lnSpc>
                <a:spcPct val="150000"/>
              </a:lnSpc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vectorize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chunk</a:t>
            </a:r>
            <a:r>
              <a:rPr sz="12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any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other</a:t>
            </a:r>
            <a:r>
              <a:rPr sz="12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metadata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fields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2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used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vector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searches.</a:t>
            </a:r>
            <a:endParaRPr sz="1200" dirty="0">
              <a:latin typeface="Segoe UI"/>
              <a:cs typeface="Segoe UI"/>
            </a:endParaRPr>
          </a:p>
          <a:p>
            <a:pPr marL="756285" marR="5080" lvl="1" indent="-287020">
              <a:lnSpc>
                <a:spcPct val="150000"/>
              </a:lnSpc>
              <a:buAutoNum type="alphaLcPeriod" startAt="4"/>
              <a:tabLst>
                <a:tab pos="756285" algn="l"/>
              </a:tabLst>
            </a:pP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Persist</a:t>
            </a:r>
            <a:r>
              <a:rPr sz="1200" b="1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chunks:</a:t>
            </a:r>
            <a:r>
              <a:rPr sz="1200" b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Stores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chunks</a:t>
            </a:r>
            <a:r>
              <a:rPr sz="12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search index.</a:t>
            </a:r>
            <a:endParaRPr sz="1200" dirty="0">
              <a:latin typeface="Segoe UI"/>
              <a:cs typeface="Segoe UI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A546C9CF-08FB-5D55-B9F0-E06500E6FE46}"/>
              </a:ext>
            </a:extLst>
          </p:cNvPr>
          <p:cNvSpPr txBox="1"/>
          <p:nvPr/>
        </p:nvSpPr>
        <p:spPr>
          <a:xfrm>
            <a:off x="1040130" y="6355710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50" dirty="0">
                <a:solidFill>
                  <a:srgbClr val="7E7E7E"/>
                </a:solidFill>
                <a:latin typeface="Calibri"/>
                <a:cs typeface="Calibri"/>
              </a:rPr>
              <a:t>6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97464" y="984782"/>
            <a:ext cx="10397072" cy="5536720"/>
            <a:chOff x="824166" y="994384"/>
            <a:chExt cx="10547985" cy="5617210"/>
          </a:xfrm>
        </p:grpSpPr>
        <p:sp>
          <p:nvSpPr>
            <p:cNvPr id="3" name="object 3"/>
            <p:cNvSpPr/>
            <p:nvPr/>
          </p:nvSpPr>
          <p:spPr>
            <a:xfrm>
              <a:off x="827341" y="101358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19">
                  <a:moveTo>
                    <a:pt x="0" y="0"/>
                  </a:moveTo>
                  <a:lnTo>
                    <a:pt x="10516806" y="7112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138" y="994384"/>
              <a:ext cx="10240772" cy="543953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2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–</a:t>
            </a:r>
            <a:r>
              <a:rPr sz="2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Creating</a:t>
            </a:r>
            <a:r>
              <a:rPr sz="2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Segoe UI"/>
                <a:cs typeface="Segoe UI"/>
              </a:rPr>
              <a:t>Embeddings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0107" y="6521502"/>
            <a:ext cx="2791460" cy="329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u="sng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API</a:t>
            </a:r>
            <a:r>
              <a:rPr sz="1800" u="sng" spc="-60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Reference</a:t>
            </a:r>
            <a:r>
              <a:rPr sz="1800" u="sng" spc="-60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-</a:t>
            </a:r>
            <a:r>
              <a:rPr sz="1800" u="sng" spc="-50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OpenAI</a:t>
            </a:r>
            <a:r>
              <a:rPr sz="1800" u="sng" spc="-50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 spc="-25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API</a:t>
            </a:r>
            <a:endParaRPr sz="1800" dirty="0">
              <a:latin typeface="Segoe UI"/>
              <a:cs typeface="Segoe U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489E13AF-A08F-CD5F-FE34-A0763512A93D}"/>
              </a:ext>
            </a:extLst>
          </p:cNvPr>
          <p:cNvSpPr txBox="1"/>
          <p:nvPr/>
        </p:nvSpPr>
        <p:spPr>
          <a:xfrm>
            <a:off x="1040130" y="6355710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50" dirty="0">
                <a:solidFill>
                  <a:srgbClr val="7E7E7E"/>
                </a:solidFill>
                <a:latin typeface="Calibri"/>
                <a:cs typeface="Calibri"/>
              </a:rPr>
              <a:t>9</a:t>
            </a: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82439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634640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20">
                <a:moveTo>
                  <a:pt x="0" y="0"/>
                </a:moveTo>
                <a:lnTo>
                  <a:pt x="10516806" y="7124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2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Segoe UI"/>
                <a:cs typeface="Segoe UI"/>
              </a:rPr>
              <a:t>re-represented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200" y="6346939"/>
            <a:ext cx="519430" cy="19749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endParaRPr sz="1050" dirty="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853" y="1228725"/>
            <a:ext cx="10318242" cy="47641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A4C9005C-2519-2106-2269-D646211CCCC5}"/>
              </a:ext>
            </a:extLst>
          </p:cNvPr>
          <p:cNvSpPr txBox="1"/>
          <p:nvPr/>
        </p:nvSpPr>
        <p:spPr>
          <a:xfrm>
            <a:off x="990600" y="6355710"/>
            <a:ext cx="1790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50" dirty="0">
                <a:solidFill>
                  <a:srgbClr val="7E7E7E"/>
                </a:solidFill>
                <a:latin typeface="Calibri"/>
                <a:cs typeface="Calibri"/>
              </a:rPr>
              <a:t>11</a:t>
            </a: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51020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7423" y="1574038"/>
            <a:ext cx="3499485" cy="3333750"/>
          </a:xfrm>
          <a:custGeom>
            <a:avLst/>
            <a:gdLst/>
            <a:ahLst/>
            <a:cxnLst/>
            <a:rect l="l" t="t" r="r" b="b"/>
            <a:pathLst>
              <a:path w="3499485" h="3333750">
                <a:moveTo>
                  <a:pt x="2972816" y="0"/>
                </a:moveTo>
                <a:lnTo>
                  <a:pt x="0" y="0"/>
                </a:lnTo>
                <a:lnTo>
                  <a:pt x="0" y="3333750"/>
                </a:lnTo>
                <a:lnTo>
                  <a:pt x="2972816" y="3333750"/>
                </a:lnTo>
                <a:lnTo>
                  <a:pt x="3499104" y="1666875"/>
                </a:lnTo>
                <a:lnTo>
                  <a:pt x="297281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6370" y="3007867"/>
            <a:ext cx="2216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chemeClr val="bg1"/>
                </a:solidFill>
                <a:latin typeface="Calibri Light"/>
                <a:cs typeface="Calibri Light"/>
              </a:rPr>
              <a:t>RAG</a:t>
            </a:r>
            <a:r>
              <a:rPr sz="2400" spc="-114" dirty="0">
                <a:solidFill>
                  <a:schemeClr val="bg1"/>
                </a:solidFill>
                <a:latin typeface="Calibri Light"/>
                <a:cs typeface="Calibri Light"/>
              </a:rPr>
              <a:t> </a:t>
            </a:r>
            <a:r>
              <a:rPr sz="2400" spc="-25" dirty="0">
                <a:solidFill>
                  <a:schemeClr val="bg1"/>
                </a:solidFill>
                <a:latin typeface="Calibri Light"/>
                <a:cs typeface="Calibri Light"/>
              </a:rPr>
              <a:t>Architectures</a:t>
            </a:r>
            <a:endParaRPr sz="2400" dirty="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6501" y="182371"/>
            <a:ext cx="5247639" cy="6539103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3EB783B7-5B99-F394-0E29-1A4CB8E6F3F0}"/>
              </a:ext>
            </a:extLst>
          </p:cNvPr>
          <p:cNvSpPr txBox="1"/>
          <p:nvPr/>
        </p:nvSpPr>
        <p:spPr>
          <a:xfrm>
            <a:off x="838200" y="6346939"/>
            <a:ext cx="519430" cy="19749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endParaRPr sz="1050" dirty="0">
              <a:latin typeface="Segoe UI"/>
              <a:cs typeface="Segoe UI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7A007FED-5890-6907-E434-A3B7BD9BFFE0}"/>
              </a:ext>
            </a:extLst>
          </p:cNvPr>
          <p:cNvSpPr txBox="1"/>
          <p:nvPr/>
        </p:nvSpPr>
        <p:spPr>
          <a:xfrm>
            <a:off x="990600" y="6355710"/>
            <a:ext cx="1790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50" dirty="0">
                <a:solidFill>
                  <a:srgbClr val="7E7E7E"/>
                </a:solidFill>
                <a:latin typeface="Calibri"/>
                <a:cs typeface="Calibri"/>
              </a:rPr>
              <a:t>14</a:t>
            </a: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20126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84867-B9DE-0533-D199-AD3880149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9E9446F-FC1A-5210-B9E7-A2156CD0453D}"/>
              </a:ext>
            </a:extLst>
          </p:cNvPr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E17CD77-B827-6274-30E2-29C15F540B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7587" y="412750"/>
            <a:ext cx="10656824" cy="571745"/>
          </a:xfrm>
          <a:prstGeom prst="rect">
            <a:avLst/>
          </a:prstGeom>
        </p:spPr>
        <p:txBody>
          <a:bodyPr vert="horz" wrap="square" lIns="0" tIns="200456" rIns="0" bIns="0" rtlCol="0" anchor="t">
            <a:spAutoFit/>
          </a:bodyPr>
          <a:lstStyle/>
          <a:p>
            <a:pPr marL="143510" algn="ctr"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2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400"/>
              <a:t>Cycle VS Ordinary Cycle</a:t>
            </a:r>
            <a:endParaRPr lang="en-US" sz="2400" dirty="0">
              <a:latin typeface="Segoe UI"/>
              <a:cs typeface="Segoe U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BE31CE9-2192-FDDF-542F-F192101EC8E6}"/>
              </a:ext>
            </a:extLst>
          </p:cNvPr>
          <p:cNvSpPr txBox="1"/>
          <p:nvPr/>
        </p:nvSpPr>
        <p:spPr>
          <a:xfrm>
            <a:off x="1800712" y="1476098"/>
            <a:ext cx="1920444" cy="44044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Knowledge File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↓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Chunking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↓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Embeddings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↓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Vector Store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↓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Question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↓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Similarity Search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↓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Prompt (Combo)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↓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LLM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↓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Response</a:t>
            </a:r>
            <a:endParaRPr sz="1600" dirty="0">
              <a:latin typeface="Segoe UI"/>
              <a:cs typeface="Segoe UI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23A20E3C-90E5-A348-C0CD-DD188D6C7A5D}"/>
              </a:ext>
            </a:extLst>
          </p:cNvPr>
          <p:cNvSpPr txBox="1"/>
          <p:nvPr/>
        </p:nvSpPr>
        <p:spPr>
          <a:xfrm>
            <a:off x="6953283" y="2782383"/>
            <a:ext cx="1920444" cy="1295868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endParaRPr lang="en-US"/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↓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LLM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↓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>
                <a:solidFill>
                  <a:srgbClr val="333333"/>
                </a:solidFill>
                <a:latin typeface="Segoe UI"/>
                <a:cs typeface="Segoe UI"/>
              </a:rPr>
              <a:t>Response</a:t>
            </a:r>
            <a:endParaRPr sz="16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5463902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9B6D-A784-E81F-E3E1-FBB887351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E45EE4E-070B-E1EE-E89B-7990CA669A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4982" y="2950590"/>
            <a:ext cx="5622925" cy="7569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4800" b="0"/>
              <a:t>AI Agents</a:t>
            </a:r>
            <a:endParaRPr lang="en-US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65F1CA5-4A3A-2FD7-5125-A5F217EB88E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2E9FAA5-DC10-C4DF-21C3-60A5E509ABBE}"/>
              </a:ext>
            </a:extLst>
          </p:cNvPr>
          <p:cNvSpPr txBox="1"/>
          <p:nvPr/>
        </p:nvSpPr>
        <p:spPr>
          <a:xfrm>
            <a:off x="1040130" y="6355710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50" dirty="0">
                <a:solidFill>
                  <a:srgbClr val="7E7E7E"/>
                </a:solidFill>
                <a:latin typeface="Calibri"/>
                <a:cs typeface="Calibri"/>
              </a:rPr>
              <a:t>1</a:t>
            </a: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35010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 anchor="ctr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Segoe UI"/>
                <a:cs typeface="Segoe UI"/>
              </a:rPr>
              <a:t>Agentic Framework and Multi-Agents</a:t>
            </a:r>
            <a:endParaRPr sz="2400" dirty="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DA8421-45D9-F3B4-0BF1-D0C0908EB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34" y="1294885"/>
            <a:ext cx="11190331" cy="5062064"/>
          </a:xfrm>
          <a:prstGeom prst="rect">
            <a:avLst/>
          </a:prstGeom>
        </p:spPr>
      </p:pic>
      <p:sp>
        <p:nvSpPr>
          <p:cNvPr id="10" name="object 5">
            <a:extLst>
              <a:ext uri="{FF2B5EF4-FFF2-40B4-BE49-F238E27FC236}">
                <a16:creationId xmlns:a16="http://schemas.microsoft.com/office/drawing/2014/main" id="{5C7A70CE-18E5-5868-5570-3BAFEA495AB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14400" y="6370198"/>
            <a:ext cx="304800" cy="187231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 algn="ctr">
              <a:lnSpc>
                <a:spcPct val="100000"/>
              </a:lnSpc>
              <a:spcBef>
                <a:spcPts val="200"/>
              </a:spcBef>
            </a:pPr>
            <a:r>
              <a:rPr lang="en-US" spc="-25" dirty="0"/>
              <a:t>1</a:t>
            </a:r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2887930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EF263-9749-9F58-7EE8-FC8DF1E5D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E591890-2F5D-9A53-4D7E-6D8202222B94}"/>
              </a:ext>
            </a:extLst>
          </p:cNvPr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DEA9027-3629-CCC0-35F5-3831902C8E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 anchor="ctr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Segoe UI"/>
                <a:cs typeface="Segoe UI"/>
              </a:rPr>
              <a:t>AI Workflows vs AI Agents</a:t>
            </a:r>
            <a:endParaRPr sz="2400" dirty="0">
              <a:latin typeface="Segoe UI"/>
              <a:cs typeface="Segoe U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2C3BE1A-27C1-CBB0-6756-0159296D741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0FFD07-C147-10BD-1DFD-284D6C45D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069" y="1999622"/>
            <a:ext cx="9477861" cy="3844792"/>
          </a:xfrm>
          <a:prstGeom prst="rect">
            <a:avLst/>
          </a:prstGeom>
        </p:spPr>
      </p:pic>
      <p:sp>
        <p:nvSpPr>
          <p:cNvPr id="8" name="object 5">
            <a:extLst>
              <a:ext uri="{FF2B5EF4-FFF2-40B4-BE49-F238E27FC236}">
                <a16:creationId xmlns:a16="http://schemas.microsoft.com/office/drawing/2014/main" id="{EF7A433A-433D-A23C-0F37-8CFF61BB9EE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14400" y="6370198"/>
            <a:ext cx="304800" cy="187231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 algn="ctr">
              <a:lnSpc>
                <a:spcPct val="100000"/>
              </a:lnSpc>
              <a:spcBef>
                <a:spcPts val="200"/>
              </a:spcBef>
            </a:pPr>
            <a:r>
              <a:rPr lang="en-US" spc="-25" dirty="0"/>
              <a:t>2</a:t>
            </a:r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8455713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8C78B-01BC-55A5-C080-9F0EE0AE8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F532283-BCCE-AA62-4F7C-1440EFBE93FB}"/>
              </a:ext>
            </a:extLst>
          </p:cNvPr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63EF642-894A-522C-3520-91786337C4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2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features</a:t>
            </a:r>
            <a:r>
              <a:rPr sz="2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2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2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2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Segoe UI"/>
                <a:cs typeface="Segoe UI"/>
              </a:rPr>
              <a:t>agent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5FAA968-96C4-7C3C-DD1C-70964F6BF957}"/>
              </a:ext>
            </a:extLst>
          </p:cNvPr>
          <p:cNvSpPr txBox="1"/>
          <p:nvPr/>
        </p:nvSpPr>
        <p:spPr>
          <a:xfrm>
            <a:off x="1533525" y="6336794"/>
            <a:ext cx="5499100" cy="329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u="sng" spc="-10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https://cloud.google.com/discover/what-</a:t>
            </a:r>
            <a:r>
              <a:rPr sz="1800" u="sng" spc="-20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are-</a:t>
            </a:r>
            <a:r>
              <a:rPr sz="1800" u="sng" spc="-10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ai-agents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522DF25-472A-F73F-37B0-5DB05993AA6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7A37E37-2E6F-30B0-1626-B85FE0ADE270}"/>
              </a:ext>
            </a:extLst>
          </p:cNvPr>
          <p:cNvSpPr txBox="1"/>
          <p:nvPr/>
        </p:nvSpPr>
        <p:spPr>
          <a:xfrm>
            <a:off x="898956" y="1001649"/>
            <a:ext cx="10349230" cy="502920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-7620">
              <a:lnSpc>
                <a:spcPts val="1510"/>
              </a:lnSpc>
              <a:spcBef>
                <a:spcPts val="295"/>
              </a:spcBef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b="1" dirty="0">
                <a:solidFill>
                  <a:srgbClr val="5F6268"/>
                </a:solidFill>
                <a:latin typeface="Segoe UI"/>
                <a:cs typeface="Segoe UI"/>
              </a:rPr>
              <a:t>	Reasoning:</a:t>
            </a:r>
            <a:r>
              <a:rPr sz="1400" b="1" spc="-6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This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core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cognitive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process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involves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using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logic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and</a:t>
            </a:r>
            <a:r>
              <a:rPr sz="1400" spc="-5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available</a:t>
            </a:r>
            <a:r>
              <a:rPr sz="1400" spc="-5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information</a:t>
            </a:r>
            <a:r>
              <a:rPr sz="1400" spc="-8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to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draw</a:t>
            </a:r>
            <a:r>
              <a:rPr sz="1400" spc="-6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conclusions,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make</a:t>
            </a:r>
            <a:r>
              <a:rPr sz="1400" spc="-5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inferences,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and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solve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problems.</a:t>
            </a:r>
            <a:r>
              <a:rPr sz="1400" spc="-5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AI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agents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with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strong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reasoning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capabilities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can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analyze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data,</a:t>
            </a:r>
            <a:r>
              <a:rPr sz="1400" spc="-6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identify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patterns,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and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make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informed</a:t>
            </a:r>
            <a:r>
              <a:rPr sz="1400" spc="-5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decisions</a:t>
            </a:r>
            <a:r>
              <a:rPr sz="1400" spc="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based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on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evidence</a:t>
            </a:r>
            <a:r>
              <a:rPr sz="1400" spc="-1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and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context.</a:t>
            </a:r>
            <a:endParaRPr sz="1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buClr>
                <a:srgbClr val="5F6268"/>
              </a:buClr>
              <a:buFont typeface="Arial"/>
              <a:buChar char="•"/>
            </a:pPr>
            <a:endParaRPr sz="1400" dirty="0">
              <a:latin typeface="Segoe UI"/>
              <a:cs typeface="Segoe UI"/>
            </a:endParaRPr>
          </a:p>
          <a:p>
            <a:pPr marL="12700" marR="299085" indent="-7620">
              <a:lnSpc>
                <a:spcPts val="151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b="1" dirty="0">
                <a:solidFill>
                  <a:srgbClr val="5F6268"/>
                </a:solidFill>
                <a:latin typeface="Segoe UI"/>
                <a:cs typeface="Segoe UI"/>
              </a:rPr>
              <a:t>	Acting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:</a:t>
            </a:r>
            <a:r>
              <a:rPr sz="1400" spc="-1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ability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to</a:t>
            </a:r>
            <a:r>
              <a:rPr sz="1400" spc="-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take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action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or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perform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tasks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based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on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decisions,</a:t>
            </a:r>
            <a:r>
              <a:rPr sz="1400" spc="-1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plans,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or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external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input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is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crucial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for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AI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agents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to</a:t>
            </a:r>
            <a:r>
              <a:rPr sz="1400" spc="-1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interact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with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their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environment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and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achieve</a:t>
            </a:r>
            <a:r>
              <a:rPr sz="1400" spc="-1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goals.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This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can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include</a:t>
            </a:r>
            <a:r>
              <a:rPr sz="1400" spc="-1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physical</a:t>
            </a:r>
            <a:r>
              <a:rPr sz="1400" spc="-5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actions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in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case</a:t>
            </a:r>
            <a:r>
              <a:rPr sz="1400" spc="-1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of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embodied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AI,</a:t>
            </a:r>
            <a:r>
              <a:rPr sz="1400" spc="-1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or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digital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actions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like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sending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messages,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updating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data,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or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triggering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other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processes.</a:t>
            </a:r>
            <a:endParaRPr sz="1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20"/>
              </a:spcBef>
              <a:buClr>
                <a:srgbClr val="5F6268"/>
              </a:buClr>
              <a:buFont typeface="Arial"/>
              <a:buChar char="•"/>
            </a:pPr>
            <a:endParaRPr sz="1400" dirty="0">
              <a:latin typeface="Segoe UI"/>
              <a:cs typeface="Segoe UI"/>
            </a:endParaRPr>
          </a:p>
          <a:p>
            <a:pPr marL="12700" marR="183515" indent="-7620">
              <a:lnSpc>
                <a:spcPct val="901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b="1" dirty="0">
                <a:solidFill>
                  <a:srgbClr val="5F6268"/>
                </a:solidFill>
                <a:latin typeface="Segoe UI"/>
                <a:cs typeface="Segoe UI"/>
              </a:rPr>
              <a:t>	Observing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: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Gathering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information</a:t>
            </a:r>
            <a:r>
              <a:rPr sz="1400" spc="-6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about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environment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or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situation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through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perception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or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sensing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is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essential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for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AI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agents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to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understand</a:t>
            </a:r>
            <a:r>
              <a:rPr sz="1400" spc="-6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their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context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and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make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informed</a:t>
            </a:r>
            <a:r>
              <a:rPr sz="1400" spc="-5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decisions.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This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can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involve</a:t>
            </a:r>
            <a:r>
              <a:rPr sz="1400" spc="-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various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forms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of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perception,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such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as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computer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vision,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natural</a:t>
            </a:r>
            <a:r>
              <a:rPr sz="1400" spc="-5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language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processing,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or</a:t>
            </a:r>
            <a:r>
              <a:rPr sz="1400" spc="-1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sensor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data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analysis.</a:t>
            </a:r>
            <a:endParaRPr sz="1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Clr>
                <a:srgbClr val="5F6268"/>
              </a:buClr>
              <a:buFont typeface="Arial"/>
              <a:buChar char="•"/>
            </a:pPr>
            <a:endParaRPr sz="1400" dirty="0">
              <a:latin typeface="Segoe UI"/>
              <a:cs typeface="Segoe UI"/>
            </a:endParaRPr>
          </a:p>
          <a:p>
            <a:pPr marL="12700" marR="182880" indent="-7620">
              <a:lnSpc>
                <a:spcPts val="151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b="1" dirty="0">
                <a:solidFill>
                  <a:srgbClr val="5F6268"/>
                </a:solidFill>
                <a:latin typeface="Segoe UI"/>
                <a:cs typeface="Segoe UI"/>
              </a:rPr>
              <a:t>	Planning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: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Developing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strategic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plan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to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achieve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goals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is</a:t>
            </a:r>
            <a:r>
              <a:rPr sz="1400" spc="-1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key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aspect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of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intelligent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behavior.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AI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agents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with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planning</a:t>
            </a:r>
            <a:r>
              <a:rPr sz="1400" spc="-5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capabilities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can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identify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necessary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steps,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evaluate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potential</a:t>
            </a:r>
            <a:r>
              <a:rPr sz="1400" spc="-5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actions,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and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choose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the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best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course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of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action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based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on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available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information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and</a:t>
            </a:r>
            <a:r>
              <a:rPr sz="1400" spc="-5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desired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outcomes.</a:t>
            </a:r>
            <a:r>
              <a:rPr sz="1400" spc="-5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This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often</a:t>
            </a:r>
            <a:r>
              <a:rPr sz="1400" spc="-5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involves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anticipating</a:t>
            </a:r>
            <a:r>
              <a:rPr sz="1400" spc="-6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future</a:t>
            </a:r>
            <a:r>
              <a:rPr sz="1400" spc="-5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states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and</a:t>
            </a:r>
            <a:r>
              <a:rPr sz="1400" spc="-5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considering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potential</a:t>
            </a:r>
            <a:r>
              <a:rPr sz="1400" spc="-5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obstacles.</a:t>
            </a:r>
            <a:endParaRPr sz="1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buClr>
                <a:srgbClr val="5F6268"/>
              </a:buClr>
              <a:buFont typeface="Arial"/>
              <a:buChar char="•"/>
            </a:pPr>
            <a:endParaRPr sz="1400" dirty="0">
              <a:latin typeface="Segoe UI"/>
              <a:cs typeface="Segoe UI"/>
            </a:endParaRPr>
          </a:p>
          <a:p>
            <a:pPr marL="12700" marR="440055" indent="-7620">
              <a:lnSpc>
                <a:spcPts val="151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b="1" dirty="0">
                <a:solidFill>
                  <a:srgbClr val="5F6268"/>
                </a:solidFill>
                <a:latin typeface="Segoe UI"/>
                <a:cs typeface="Segoe UI"/>
              </a:rPr>
              <a:t>	Collaborating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:</a:t>
            </a:r>
            <a:r>
              <a:rPr sz="1400" spc="-6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Working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effectively</a:t>
            </a:r>
            <a:r>
              <a:rPr sz="1400" spc="-1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with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others,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whether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humans</a:t>
            </a:r>
            <a:r>
              <a:rPr sz="1400" spc="-6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or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other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AI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agents,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to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achieve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common</a:t>
            </a:r>
            <a:r>
              <a:rPr sz="1400" spc="-5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goal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is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increasingly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important</a:t>
            </a:r>
            <a:r>
              <a:rPr sz="1400" spc="-6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in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complex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and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dynamic</a:t>
            </a:r>
            <a:r>
              <a:rPr sz="1400" spc="-6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environments.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Collaboration</a:t>
            </a:r>
            <a:r>
              <a:rPr sz="1400" spc="-6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requires</a:t>
            </a:r>
            <a:r>
              <a:rPr sz="1400" spc="-1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communication,</a:t>
            </a:r>
            <a:r>
              <a:rPr sz="1400" spc="-5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coordination,</a:t>
            </a:r>
            <a:r>
              <a:rPr sz="1400" spc="-5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and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ability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to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understand</a:t>
            </a:r>
            <a:r>
              <a:rPr sz="1400" spc="-7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and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respect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the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perspectives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of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others.</a:t>
            </a:r>
            <a:endParaRPr sz="1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buClr>
                <a:srgbClr val="5F6268"/>
              </a:buClr>
              <a:buFont typeface="Arial"/>
              <a:buChar char="•"/>
            </a:pPr>
            <a:endParaRPr sz="1400" dirty="0">
              <a:latin typeface="Segoe UI"/>
              <a:cs typeface="Segoe UI"/>
            </a:endParaRPr>
          </a:p>
          <a:p>
            <a:pPr marL="12700" marR="94615" indent="-7620">
              <a:lnSpc>
                <a:spcPts val="151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b="1" spc="-10" dirty="0">
                <a:solidFill>
                  <a:srgbClr val="5F6268"/>
                </a:solidFill>
                <a:latin typeface="Segoe UI"/>
                <a:cs typeface="Segoe UI"/>
              </a:rPr>
              <a:t>	Self-</a:t>
            </a:r>
            <a:r>
              <a:rPr sz="1400" b="1" dirty="0">
                <a:solidFill>
                  <a:srgbClr val="5F6268"/>
                </a:solidFill>
                <a:latin typeface="Segoe UI"/>
                <a:cs typeface="Segoe UI"/>
              </a:rPr>
              <a:t>refining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: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The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capacity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for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self-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improvement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and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adaptation</a:t>
            </a:r>
            <a:r>
              <a:rPr sz="1400" spc="-5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is</a:t>
            </a:r>
            <a:r>
              <a:rPr sz="1400" spc="-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hallmark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of</a:t>
            </a:r>
            <a:r>
              <a:rPr sz="1400" spc="-1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advanced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AI</a:t>
            </a:r>
            <a:r>
              <a:rPr sz="1400" spc="-1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systems.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AI</a:t>
            </a:r>
            <a:r>
              <a:rPr sz="1400" spc="-1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agents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with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self-refining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capabilities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can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learn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from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experience,</a:t>
            </a:r>
            <a:r>
              <a:rPr sz="1400" spc="-1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adjust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their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behavior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based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on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feedback,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and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continuously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enhance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their</a:t>
            </a:r>
            <a:r>
              <a:rPr sz="1400" spc="-2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performance</a:t>
            </a:r>
            <a:r>
              <a:rPr sz="1400" spc="-5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and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capabilities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over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time.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This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can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involve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machine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learning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techniques,</a:t>
            </a:r>
            <a:r>
              <a:rPr sz="1400" spc="-3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optimization</a:t>
            </a:r>
            <a:r>
              <a:rPr sz="1400" spc="-6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algorithms,</a:t>
            </a:r>
            <a:r>
              <a:rPr sz="1400" spc="-6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or</a:t>
            </a:r>
            <a:r>
              <a:rPr sz="1400" spc="-2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other</a:t>
            </a:r>
            <a:r>
              <a:rPr sz="1400" spc="-40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forms</a:t>
            </a:r>
            <a:r>
              <a:rPr sz="1400" spc="-4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of</a:t>
            </a:r>
            <a:r>
              <a:rPr sz="1400" spc="-35" dirty="0">
                <a:solidFill>
                  <a:srgbClr val="5F6268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F6268"/>
                </a:solidFill>
                <a:latin typeface="Segoe UI"/>
                <a:cs typeface="Segoe UI"/>
              </a:rPr>
              <a:t>self-</a:t>
            </a:r>
            <a:r>
              <a:rPr sz="1400" spc="-10" dirty="0">
                <a:solidFill>
                  <a:srgbClr val="5F6268"/>
                </a:solidFill>
                <a:latin typeface="Segoe UI"/>
                <a:cs typeface="Segoe UI"/>
              </a:rPr>
              <a:t>modification.</a:t>
            </a:r>
            <a:endParaRPr sz="1400" dirty="0">
              <a:latin typeface="Segoe UI"/>
              <a:cs typeface="Segoe UI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14A2B3F4-20EE-2B53-D3F4-D38E3051D51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14400" y="6370198"/>
            <a:ext cx="304800" cy="187231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 algn="ctr">
              <a:lnSpc>
                <a:spcPct val="100000"/>
              </a:lnSpc>
              <a:spcBef>
                <a:spcPts val="200"/>
              </a:spcBef>
            </a:pPr>
            <a:r>
              <a:rPr lang="en-US" spc="-25" dirty="0"/>
              <a:t>3</a:t>
            </a:r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9939842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6511" y="3085552"/>
            <a:ext cx="6097506" cy="310324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8956" y="562736"/>
            <a:ext cx="4656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Core</a:t>
            </a:r>
            <a:r>
              <a:rPr sz="2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components</a:t>
            </a:r>
            <a:r>
              <a:rPr sz="2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2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2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2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Segoe UI"/>
                <a:cs typeface="Segoe UI"/>
              </a:rPr>
              <a:t>agent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8321" y="6356949"/>
            <a:ext cx="172085" cy="187231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lang="en-US" sz="1050" spc="-25" dirty="0">
                <a:solidFill>
                  <a:srgbClr val="FFFFFF"/>
                </a:solidFill>
                <a:latin typeface="Segoe UI"/>
                <a:cs typeface="Segoe UI"/>
              </a:rPr>
              <a:t>12</a:t>
            </a:r>
            <a:endParaRPr sz="1050" dirty="0">
              <a:latin typeface="Segoe UI"/>
              <a:cs typeface="Segoe U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39814" y="1450877"/>
            <a:ext cx="6096451" cy="1372171"/>
          </a:xfrm>
          <a:prstGeom prst="rect">
            <a:avLst/>
          </a:prstGeom>
        </p:spPr>
        <p:txBody>
          <a:bodyPr vert="horz" wrap="square" lIns="0" tIns="78740" rIns="0" bIns="0" rtlCol="0" anchor="t">
            <a:spAutoFit/>
          </a:bodyPr>
          <a:lstStyle/>
          <a:p>
            <a:pPr marL="756285" indent="-287020">
              <a:lnSpc>
                <a:spcPct val="100000"/>
              </a:lnSpc>
              <a:spcBef>
                <a:spcPts val="530"/>
              </a:spcBef>
              <a:buFont typeface="Arial"/>
              <a:buChar char="•"/>
            </a:pPr>
            <a:r>
              <a:rPr sz="1600" dirty="0">
                <a:solidFill>
                  <a:schemeClr val="tx1"/>
                </a:solidFill>
                <a:latin typeface="Segoe UI"/>
                <a:cs typeface="Segoe UI"/>
              </a:rPr>
              <a:t>LLM</a:t>
            </a:r>
            <a:r>
              <a:rPr sz="1600" spc="-5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chemeClr val="tx1"/>
                </a:solidFill>
                <a:latin typeface="Segoe UI"/>
                <a:cs typeface="Segoe UI"/>
              </a:rPr>
              <a:t>(with</a:t>
            </a:r>
            <a:r>
              <a:rPr sz="1600" spc="-25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chemeClr val="tx1"/>
                </a:solidFill>
                <a:latin typeface="Segoe UI"/>
                <a:cs typeface="Segoe UI"/>
              </a:rPr>
              <a:t>a</a:t>
            </a:r>
            <a:r>
              <a:rPr sz="1600" spc="-5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chemeClr val="tx1"/>
                </a:solidFill>
                <a:latin typeface="Segoe UI"/>
                <a:cs typeface="Segoe UI"/>
              </a:rPr>
              <a:t>role</a:t>
            </a:r>
            <a:r>
              <a:rPr sz="1600" spc="-5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chemeClr val="tx1"/>
                </a:solidFill>
                <a:latin typeface="Segoe UI"/>
                <a:cs typeface="Segoe UI"/>
              </a:rPr>
              <a:t>and</a:t>
            </a:r>
            <a:r>
              <a:rPr sz="1600" spc="-20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chemeClr val="tx1"/>
                </a:solidFill>
                <a:latin typeface="Segoe UI"/>
                <a:cs typeface="Segoe UI"/>
              </a:rPr>
              <a:t>a</a:t>
            </a:r>
            <a:r>
              <a:rPr sz="1600" spc="-20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Segoe UI"/>
                <a:cs typeface="Segoe UI"/>
              </a:rPr>
              <a:t>task)</a:t>
            </a:r>
            <a:endParaRPr lang="en-US" sz="1600">
              <a:solidFill>
                <a:schemeClr val="tx1"/>
              </a:solidFill>
              <a:latin typeface="Segoe UI"/>
              <a:cs typeface="Segoe UI"/>
            </a:endParaRPr>
          </a:p>
          <a:p>
            <a:pPr marL="756285" indent="-287020">
              <a:lnSpc>
                <a:spcPct val="100000"/>
              </a:lnSpc>
              <a:spcBef>
                <a:spcPts val="845"/>
              </a:spcBef>
              <a:buFont typeface="Arial"/>
              <a:buChar char="•"/>
              <a:tabLst>
                <a:tab pos="756285" algn="l"/>
              </a:tabLst>
            </a:pPr>
            <a:r>
              <a:rPr sz="1600" dirty="0">
                <a:solidFill>
                  <a:schemeClr val="tx1"/>
                </a:solidFill>
                <a:latin typeface="Segoe UI"/>
                <a:cs typeface="Segoe UI"/>
              </a:rPr>
              <a:t>Memory</a:t>
            </a:r>
            <a:r>
              <a:rPr sz="1600" spc="15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chemeClr val="tx1"/>
                </a:solidFill>
                <a:latin typeface="Segoe UI"/>
                <a:cs typeface="Segoe UI"/>
              </a:rPr>
              <a:t>(short-term</a:t>
            </a:r>
            <a:r>
              <a:rPr sz="1600" spc="20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chemeClr val="tx1"/>
                </a:solidFill>
                <a:latin typeface="Segoe UI"/>
                <a:cs typeface="Segoe UI"/>
              </a:rPr>
              <a:t>and</a:t>
            </a:r>
            <a:r>
              <a:rPr sz="1600" spc="25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Segoe UI"/>
                <a:cs typeface="Segoe UI"/>
              </a:rPr>
              <a:t>long-</a:t>
            </a:r>
            <a:r>
              <a:rPr sz="1600" spc="-20" dirty="0">
                <a:solidFill>
                  <a:schemeClr val="tx1"/>
                </a:solidFill>
                <a:latin typeface="Segoe UI"/>
                <a:cs typeface="Segoe UI"/>
              </a:rPr>
              <a:t>term)</a:t>
            </a:r>
            <a:endParaRPr sz="1600" dirty="0">
              <a:solidFill>
                <a:schemeClr val="tx1"/>
              </a:solidFill>
              <a:latin typeface="Segoe UI"/>
              <a:cs typeface="Segoe UI"/>
            </a:endParaRPr>
          </a:p>
          <a:p>
            <a:pPr marL="756285" indent="-28702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756285" algn="l"/>
              </a:tabLst>
            </a:pPr>
            <a:r>
              <a:rPr sz="1600" dirty="0">
                <a:solidFill>
                  <a:schemeClr val="tx1"/>
                </a:solidFill>
                <a:latin typeface="Segoe UI"/>
                <a:cs typeface="Segoe UI"/>
              </a:rPr>
              <a:t>Planning</a:t>
            </a:r>
            <a:r>
              <a:rPr sz="1600" spc="-45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chemeClr val="tx1"/>
                </a:solidFill>
                <a:latin typeface="Segoe UI"/>
                <a:cs typeface="Segoe UI"/>
              </a:rPr>
              <a:t>(e.g.,</a:t>
            </a:r>
            <a:r>
              <a:rPr sz="1600" spc="-10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chemeClr val="tx1"/>
                </a:solidFill>
                <a:latin typeface="Segoe UI"/>
                <a:cs typeface="Segoe UI"/>
              </a:rPr>
              <a:t>reflection,</a:t>
            </a:r>
            <a:r>
              <a:rPr sz="1600" spc="-25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Segoe UI"/>
                <a:cs typeface="Segoe UI"/>
              </a:rPr>
              <a:t>self-</a:t>
            </a:r>
            <a:r>
              <a:rPr sz="1600" dirty="0">
                <a:solidFill>
                  <a:schemeClr val="tx1"/>
                </a:solidFill>
                <a:latin typeface="Segoe UI"/>
                <a:cs typeface="Segoe UI"/>
              </a:rPr>
              <a:t>critics,</a:t>
            </a:r>
            <a:r>
              <a:rPr sz="1600" spc="-10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chemeClr val="tx1"/>
                </a:solidFill>
                <a:latin typeface="Segoe UI"/>
                <a:cs typeface="Segoe UI"/>
              </a:rPr>
              <a:t>query</a:t>
            </a:r>
            <a:r>
              <a:rPr sz="1600" spc="-25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chemeClr val="tx1"/>
                </a:solidFill>
                <a:latin typeface="Segoe UI"/>
                <a:cs typeface="Segoe UI"/>
              </a:rPr>
              <a:t>routing,</a:t>
            </a:r>
            <a:r>
              <a:rPr sz="1600" spc="-30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Segoe UI"/>
                <a:cs typeface="Segoe UI"/>
              </a:rPr>
              <a:t>etc.)</a:t>
            </a:r>
            <a:endParaRPr sz="1600" dirty="0">
              <a:solidFill>
                <a:schemeClr val="tx1"/>
              </a:solidFill>
              <a:latin typeface="Segoe UI"/>
              <a:cs typeface="Segoe UI"/>
            </a:endParaRPr>
          </a:p>
          <a:p>
            <a:pPr marL="756285" indent="-28702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756285" algn="l"/>
              </a:tabLst>
            </a:pPr>
            <a:r>
              <a:rPr sz="1600" spc="-25" dirty="0">
                <a:solidFill>
                  <a:schemeClr val="tx1"/>
                </a:solidFill>
                <a:latin typeface="Segoe UI"/>
                <a:cs typeface="Segoe UI"/>
              </a:rPr>
              <a:t>Tools</a:t>
            </a:r>
            <a:r>
              <a:rPr sz="1600" spc="-40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chemeClr val="tx1"/>
                </a:solidFill>
                <a:latin typeface="Segoe UI"/>
                <a:cs typeface="Segoe UI"/>
              </a:rPr>
              <a:t>(e.g.,</a:t>
            </a:r>
            <a:r>
              <a:rPr sz="1600" spc="-35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Segoe UI"/>
                <a:cs typeface="Segoe UI"/>
              </a:rPr>
              <a:t>calculator,</a:t>
            </a:r>
            <a:r>
              <a:rPr sz="1600" spc="-55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chemeClr val="tx1"/>
                </a:solidFill>
                <a:latin typeface="Segoe UI"/>
                <a:cs typeface="Segoe UI"/>
              </a:rPr>
              <a:t>web</a:t>
            </a:r>
            <a:r>
              <a:rPr sz="1600" spc="-40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chemeClr val="tx1"/>
                </a:solidFill>
                <a:latin typeface="Segoe UI"/>
                <a:cs typeface="Segoe UI"/>
              </a:rPr>
              <a:t>search,</a:t>
            </a:r>
            <a:r>
              <a:rPr sz="1600" spc="-45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sz="1600" spc="-20" dirty="0">
                <a:solidFill>
                  <a:schemeClr val="tx1"/>
                </a:solidFill>
                <a:latin typeface="Segoe UI"/>
                <a:cs typeface="Segoe UI"/>
              </a:rPr>
              <a:t>etc.)</a:t>
            </a:r>
            <a:endParaRPr sz="16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455723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E6400FD-C9EF-F488-0BDA-4793BC7E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AC65BFEF-C5D3-420B-8E2C-7E4B5A756B1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9CD26FF1-B1A0-0097-F59B-32DB6EDE3316}"/>
              </a:ext>
            </a:extLst>
          </p:cNvPr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3C1EA47-3C52-39AF-51D8-888FA560F3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3559AC9-1D3C-32F5-ADD4-BBF7D037E775}"/>
                </a:ext>
              </a:extLst>
            </p:cNvPr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7C1F7F6-F9B9-1408-D55F-D3D66FCF5EE5}"/>
                </a:ext>
              </a:extLst>
            </p:cNvPr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85A092A5-6FAB-A826-A3CF-205FE65E0EEA}"/>
                </a:ext>
              </a:extLst>
            </p:cNvPr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5EEE422-25BD-B3C8-8328-41AB5AF2CE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9419" y="2768930"/>
            <a:ext cx="8130086" cy="102848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6600" spc="65">
                <a:solidFill>
                  <a:srgbClr val="000000"/>
                </a:solidFill>
              </a:rPr>
              <a:t>N8N</a:t>
            </a:r>
            <a:endParaRPr lang="en-US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AD672D0-4F56-9310-C252-34E44846B4AF}"/>
              </a:ext>
            </a:extLst>
          </p:cNvPr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A5666CE-04F2-334D-E433-F09640F3AEEF}"/>
              </a:ext>
            </a:extLst>
          </p:cNvPr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59</a:t>
            </a:r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107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A233CD-B8CA-ABDB-556A-88CC928F2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CF104000-AA6D-E0DC-9F4D-759D96C4F87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D8B9E804-100A-2C7F-2C59-F1F2FA906A9E}"/>
              </a:ext>
            </a:extLst>
          </p:cNvPr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859242A-9933-2A8E-71FE-5813BBEBE04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54C78C5-0848-3830-7A87-21CB715EE38A}"/>
                </a:ext>
              </a:extLst>
            </p:cNvPr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5901817-2DA8-E2F4-5F63-81AEC67AB33D}"/>
                </a:ext>
              </a:extLst>
            </p:cNvPr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D382B53-9897-5069-22DA-C62B4DC345A0}"/>
                </a:ext>
              </a:extLst>
            </p:cNvPr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8ED353A8-6E1D-D9F9-7545-FF0DF81F67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1305" y="2768930"/>
            <a:ext cx="5009515" cy="103187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6600" spc="65">
                <a:solidFill>
                  <a:srgbClr val="000000"/>
                </a:solidFill>
              </a:rPr>
              <a:t>Thank you</a:t>
            </a:r>
            <a:endParaRPr lang="en-US" sz="660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6436B36-D766-887C-0ADB-19EDF9225F85}"/>
              </a:ext>
            </a:extLst>
          </p:cNvPr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A66F21B-CDF7-7E23-D09A-9FC68407BA78}"/>
              </a:ext>
            </a:extLst>
          </p:cNvPr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59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AutoShape 2" descr="https://euc-powerpoint.officeapps.live.com/pods/GetClipboardImage.ashx?Id=5f3da51b-cd7e-4509-9893-1e739b665b67&amp;DC=GEU5&amp;pkey=f20a4421-1b24-4c5c-8ff6-6309513d6ad7&amp;wdwaccluster=GEU5">
            <a:extLst>
              <a:ext uri="{FF2B5EF4-FFF2-40B4-BE49-F238E27FC236}">
                <a16:creationId xmlns:a16="http://schemas.microsoft.com/office/drawing/2014/main" id="{1FCA77CF-02B7-4111-B9B9-52BD4B0569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9892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67771" y="572163"/>
            <a:ext cx="4656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Segoe UI"/>
                <a:cs typeface="Segoe UI"/>
              </a:rPr>
              <a:t>Lab</a:t>
            </a:r>
            <a:endParaRPr sz="2400" dirty="0">
              <a:latin typeface="Segoe UI"/>
              <a:cs typeface="Segoe U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A308E9-9B22-40A8-B20C-7E542C819820}"/>
              </a:ext>
            </a:extLst>
          </p:cNvPr>
          <p:cNvSpPr/>
          <p:nvPr/>
        </p:nvSpPr>
        <p:spPr>
          <a:xfrm>
            <a:off x="1227382" y="1178351"/>
            <a:ext cx="9737231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 fontAlgn="base"/>
            <a:r>
              <a:rPr lang="en-US" sz="18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b="1" i="0" u="none" strike="noStrike" dirty="0">
                <a:solidFill>
                  <a:srgbClr val="002060"/>
                </a:solidFill>
                <a:effectLst/>
                <a:latin typeface="Aptos"/>
              </a:rPr>
              <a:t>Task 1: Fine-Tuning vs. RAG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Aptos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ptos"/>
              </a:rPr>
              <a:t>Prepare a report comparing 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ptos"/>
              </a:rPr>
              <a:t>Fine-Tuning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ptos"/>
              </a:rPr>
              <a:t> and 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ptos"/>
              </a:rPr>
              <a:t>Retrieval-Augmented Generation (RAG)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ptos"/>
              </a:rPr>
              <a:t>. Your report should include: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ptos"/>
              </a:rPr>
              <a:t>A comparison of their concepts, advantages, limitations, and use cases. 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ptos"/>
              </a:rPr>
              <a:t>A brief explanation of real-world scenarios where each approach is the most suitable choice. 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/>
            <a:r>
              <a:rPr lang="en-US" sz="18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b="1" i="0" u="none" strike="noStrike" dirty="0">
                <a:solidFill>
                  <a:srgbClr val="002060"/>
                </a:solidFill>
                <a:effectLst/>
                <a:latin typeface="Aptos"/>
              </a:rPr>
              <a:t>Task 2: Workflows vs. AI Agents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Aptos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ptos"/>
              </a:rPr>
              <a:t>Prepare a report explaining the key features and differences between 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ptos"/>
              </a:rPr>
              <a:t>AI Workflows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ptos"/>
              </a:rPr>
              <a:t> and 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ptos"/>
              </a:rPr>
              <a:t>AI Agents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ptos"/>
              </a:rPr>
              <a:t>. Include: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ptos"/>
              </a:rPr>
              <a:t>Core characteristics of each approach. 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ptos"/>
              </a:rPr>
              <a:t>Their strengths, limitations, and common use cases. 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ptos"/>
              </a:rPr>
              <a:t>Examples of real-world applications. 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/>
            <a:r>
              <a:rPr lang="en-US" sz="18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b="1" i="0" u="none" strike="noStrike" dirty="0">
                <a:solidFill>
                  <a:srgbClr val="002060"/>
                </a:solidFill>
                <a:effectLst/>
                <a:latin typeface="Aptos"/>
              </a:rPr>
              <a:t>Task 3: RAG Research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Aptos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ptos"/>
              </a:rPr>
              <a:t>Research the RAG pipeline and identify: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ptos"/>
              </a:rPr>
              <a:t>The most widely used 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ptos"/>
              </a:rPr>
              <a:t>chunking techniques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ptos"/>
              </a:rPr>
              <a:t> for document processing.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ptos"/>
              </a:rPr>
              <a:t>The most popular 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ptos"/>
              </a:rPr>
              <a:t>vector databases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ptos"/>
              </a:rPr>
              <a:t> used to store embeddings. 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ptos"/>
              </a:rPr>
              <a:t>A brief overview of when and why each technique or database is commonly used.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latin typeface="Aptos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2060"/>
                </a:solidFill>
                <a:effectLst/>
                <a:latin typeface="Aptos"/>
              </a:rPr>
              <a:t>Task 4: N8N Automation</a:t>
            </a:r>
            <a:r>
              <a:rPr lang="en-US" sz="1600" b="1" i="0" u="none" strike="noStrike" dirty="0">
                <a:solidFill>
                  <a:srgbClr val="002060"/>
                </a:solidFill>
                <a:effectLst/>
                <a:latin typeface="Aptos"/>
              </a:rPr>
              <a:t> </a:t>
            </a:r>
            <a:r>
              <a:rPr lang="en-US" sz="1600" b="1" i="0" u="none" strike="noStrike" dirty="0">
                <a:solidFill>
                  <a:schemeClr val="accent2"/>
                </a:solidFill>
                <a:effectLst/>
                <a:latin typeface="Aptos"/>
              </a:rPr>
              <a:t>(Bonus)</a:t>
            </a:r>
            <a:r>
              <a:rPr lang="en-US" sz="1600" b="0" i="0" u="none" strike="noStrike" dirty="0">
                <a:solidFill>
                  <a:srgbClr val="002060"/>
                </a:solidFill>
                <a:effectLst/>
                <a:latin typeface="Aptos"/>
              </a:rPr>
              <a:t>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sz="1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/>
            <a:r>
              <a:rPr lang="en-US" sz="18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ctr" rtl="0" fontAlgn="base"/>
            <a: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351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426f9f-2a6a-403d-9984-0f17e3e6377d">
      <Terms xmlns="http://schemas.microsoft.com/office/infopath/2007/PartnerControls"/>
    </lcf76f155ced4ddcb4097134ff3c332f>
    <TaxCatchAll xmlns="7473d3bc-240f-4a29-9442-65c9b41a6a6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9843BE9C8A54687BECE1C962241DE" ma:contentTypeVersion="11" ma:contentTypeDescription="Create a new document." ma:contentTypeScope="" ma:versionID="624390a019479bcee848bc84dac808ed">
  <xsd:schema xmlns:xsd="http://www.w3.org/2001/XMLSchema" xmlns:xs="http://www.w3.org/2001/XMLSchema" xmlns:p="http://schemas.microsoft.com/office/2006/metadata/properties" xmlns:ns2="a9426f9f-2a6a-403d-9984-0f17e3e6377d" xmlns:ns3="7473d3bc-240f-4a29-9442-65c9b41a6a64" targetNamespace="http://schemas.microsoft.com/office/2006/metadata/properties" ma:root="true" ma:fieldsID="bbe9d165624445de3fb92326b08f1fc3" ns2:_="" ns3:_="">
    <xsd:import namespace="a9426f9f-2a6a-403d-9984-0f17e3e6377d"/>
    <xsd:import namespace="7473d3bc-240f-4a29-9442-65c9b41a6a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26f9f-2a6a-403d-9984-0f17e3e637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73d3bc-240f-4a29-9442-65c9b41a6a6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ddb9691-a8a3-4129-b65c-f7065bee60f6}" ma:internalName="TaxCatchAll" ma:showField="CatchAllData" ma:web="7473d3bc-240f-4a29-9442-65c9b41a6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13E28A-EE62-4883-8F13-39D5E8D01FE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9942AE-00F2-46AD-843D-51BEAF2FA418}">
  <ds:schemaRefs>
    <ds:schemaRef ds:uri="4aa6b211-24cb-420a-a400-0fc6e804ce30"/>
    <ds:schemaRef ds:uri="7473d3bc-240f-4a29-9442-65c9b41a6a64"/>
    <ds:schemaRef ds:uri="a9426f9f-2a6a-403d-9984-0f17e3e6377d"/>
    <ds:schemaRef ds:uri="cd178955-e352-40f1-a8e0-81fca703ef1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1E5CAE6-FFF9-4AA7-BAC7-A39921DB30A6}">
  <ds:schemaRefs>
    <ds:schemaRef ds:uri="7473d3bc-240f-4a29-9442-65c9b41a6a64"/>
    <ds:schemaRef ds:uri="a9426f9f-2a6a-403d-9984-0f17e3e637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</TotalTime>
  <Words>4393</Words>
  <Application>Microsoft Office PowerPoint</Application>
  <PresentationFormat>Widescreen</PresentationFormat>
  <Paragraphs>390</Paragraphs>
  <Slides>58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7" baseType="lpstr">
      <vt:lpstr>Aptos</vt:lpstr>
      <vt:lpstr>Arial</vt:lpstr>
      <vt:lpstr>Calibri</vt:lpstr>
      <vt:lpstr>Calibri Light</vt:lpstr>
      <vt:lpstr>Open Sans Light</vt:lpstr>
      <vt:lpstr>Segoe UI</vt:lpstr>
      <vt:lpstr>Trebuchet MS</vt:lpstr>
      <vt:lpstr>Wingdings</vt:lpstr>
      <vt:lpstr>Office Theme</vt:lpstr>
      <vt:lpstr>PowerPoint Presentation</vt:lpstr>
      <vt:lpstr>Why do we need to know about Gen AI?</vt:lpstr>
      <vt:lpstr>History of AI</vt:lpstr>
      <vt:lpstr>What’s Generative AI?</vt:lpstr>
      <vt:lpstr>Who should learn about Gen AI?</vt:lpstr>
      <vt:lpstr>Will AI Replace Jobs / employees?</vt:lpstr>
      <vt:lpstr>Gen-AI based startups and real products</vt:lpstr>
      <vt:lpstr>How to use the AI tools responsibly?</vt:lpstr>
      <vt:lpstr>Introducing Generative AI</vt:lpstr>
      <vt:lpstr>What’s Generative AI?</vt:lpstr>
      <vt:lpstr>PowerPoint Presentation</vt:lpstr>
      <vt:lpstr>AI terms</vt:lpstr>
      <vt:lpstr>AI terms (Cont.)</vt:lpstr>
      <vt:lpstr>AI terms (Cont.)</vt:lpstr>
      <vt:lpstr>Models and Tools</vt:lpstr>
      <vt:lpstr>OpenAI Models</vt:lpstr>
      <vt:lpstr>Sora: Text-to-video model</vt:lpstr>
      <vt:lpstr>GPT-o1: OpenAI's New Reasoning Model</vt:lpstr>
      <vt:lpstr>Top AI models and Chat-based AI tools</vt:lpstr>
      <vt:lpstr>Prompt Engineering</vt:lpstr>
      <vt:lpstr>Introducing prompt engineering</vt:lpstr>
      <vt:lpstr>Elements of a Prompt</vt:lpstr>
      <vt:lpstr>Prompt Engineering techniques and approaches [Zero-shot prompting]</vt:lpstr>
      <vt:lpstr>Prompt Engineering techniques and approaches [Few-shot prompting]</vt:lpstr>
      <vt:lpstr>Prompt Engineering techniques and approaches [CoT]</vt:lpstr>
      <vt:lpstr>Prompt Engineering techniques and approaches [RTF]</vt:lpstr>
      <vt:lpstr>Prompt Engineering techniques and approaches [RISEN]</vt:lpstr>
      <vt:lpstr>Emotion Prompting</vt:lpstr>
      <vt:lpstr>Enhancing Model Interaction with Emotional and Motivational Language</vt:lpstr>
      <vt:lpstr>Prompt Engineering cheatsheets</vt:lpstr>
      <vt:lpstr>General prompting Tips</vt:lpstr>
      <vt:lpstr>Data privacy and limitations</vt:lpstr>
      <vt:lpstr>Data security and privacy guidelines for using AI tools</vt:lpstr>
      <vt:lpstr>Vibe Coding Tools</vt:lpstr>
      <vt:lpstr>Thank you</vt:lpstr>
      <vt:lpstr>Lab</vt:lpstr>
      <vt:lpstr>Courses</vt:lpstr>
      <vt:lpstr>PowerPoint Presentation</vt:lpstr>
      <vt:lpstr>Working with Gen-AI APIs</vt:lpstr>
      <vt:lpstr>Working with Gen AI APIs (Vendors)</vt:lpstr>
      <vt:lpstr>Fine Tuning and RAG</vt:lpstr>
      <vt:lpstr>Foundation Models and Fine-Tuning</vt:lpstr>
      <vt:lpstr>Fine-Tuning – Getting started</vt:lpstr>
      <vt:lpstr>Retrieval-Augmented Generation (RAG)</vt:lpstr>
      <vt:lpstr>Retrieval-Augmented Generation (RAG) – Cont.</vt:lpstr>
      <vt:lpstr>RAG data pipeline flow</vt:lpstr>
      <vt:lpstr>RAG – Creating Embeddings</vt:lpstr>
      <vt:lpstr>RAG re-represented</vt:lpstr>
      <vt:lpstr>RAG Architectures</vt:lpstr>
      <vt:lpstr>RAG Cycle VS Ordinary Cycle</vt:lpstr>
      <vt:lpstr>AI Agents</vt:lpstr>
      <vt:lpstr>Agentic Framework and Multi-Agents</vt:lpstr>
      <vt:lpstr>AI Workflows vs AI Agents</vt:lpstr>
      <vt:lpstr>Key features of an AI agent</vt:lpstr>
      <vt:lpstr>Core components of an AI agent</vt:lpstr>
      <vt:lpstr>N8N</vt:lpstr>
      <vt:lpstr>Thank you</vt:lpstr>
      <vt:lpstr>Lab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Technology Institute</dc:title>
  <dc:creator>BEU-Ramiz</dc:creator>
  <cp:lastModifiedBy>Omar Mohamed Abd Allah Abdel Rahman</cp:lastModifiedBy>
  <cp:revision>114</cp:revision>
  <dcterms:created xsi:type="dcterms:W3CDTF">2025-06-19T21:21:44Z</dcterms:created>
  <dcterms:modified xsi:type="dcterms:W3CDTF">2026-08-11T11:10:40Z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2025-06-19T00:00:00Z</vt:filetime>
  </property>
  <property fmtid="{D5CDD505-2E9C-101B-9397-08002B2CF9AE}" pid="5" name="Producer">
    <vt:lpwstr>Microsoft® PowerPoint® for Microsoft 365</vt:lpwstr>
  </property>
  <property fmtid="{D5CDD505-2E9C-101B-9397-08002B2CF9AE}" pid="6" name="ContentTypeId">
    <vt:lpwstr>0x010100E569843BE9C8A54687BECE1C962241DE</vt:lpwstr>
  </property>
  <property fmtid="{D5CDD505-2E9C-101B-9397-08002B2CF9AE}" pid="7" name="MediaServiceImageTags">
    <vt:lpwstr/>
  </property>
</Properties>
</file>